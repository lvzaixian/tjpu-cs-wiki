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3"/>
  </p:notesMasterIdLst>
  <p:sldIdLst>
    <p:sldId id="311" r:id="rId2"/>
    <p:sldId id="312" r:id="rId3"/>
    <p:sldId id="417" r:id="rId4"/>
    <p:sldId id="315" r:id="rId5"/>
    <p:sldId id="418" r:id="rId6"/>
    <p:sldId id="296" r:id="rId7"/>
    <p:sldId id="297" r:id="rId8"/>
    <p:sldId id="362" r:id="rId9"/>
    <p:sldId id="363" r:id="rId10"/>
    <p:sldId id="419" r:id="rId11"/>
    <p:sldId id="364" r:id="rId12"/>
    <p:sldId id="420" r:id="rId13"/>
    <p:sldId id="365" r:id="rId14"/>
    <p:sldId id="369" r:id="rId15"/>
    <p:sldId id="370" r:id="rId16"/>
    <p:sldId id="371" r:id="rId17"/>
    <p:sldId id="422" r:id="rId18"/>
    <p:sldId id="372" r:id="rId19"/>
    <p:sldId id="373" r:id="rId20"/>
    <p:sldId id="374" r:id="rId21"/>
    <p:sldId id="439" r:id="rId22"/>
    <p:sldId id="375" r:id="rId23"/>
    <p:sldId id="434" r:id="rId24"/>
    <p:sldId id="433" r:id="rId25"/>
    <p:sldId id="431" r:id="rId26"/>
    <p:sldId id="432" r:id="rId27"/>
    <p:sldId id="440" r:id="rId28"/>
    <p:sldId id="441" r:id="rId29"/>
    <p:sldId id="367" r:id="rId30"/>
    <p:sldId id="376" r:id="rId31"/>
    <p:sldId id="423" r:id="rId32"/>
    <p:sldId id="424" r:id="rId33"/>
    <p:sldId id="425" r:id="rId34"/>
    <p:sldId id="426" r:id="rId35"/>
    <p:sldId id="427" r:id="rId36"/>
    <p:sldId id="377" r:id="rId37"/>
    <p:sldId id="378" r:id="rId38"/>
    <p:sldId id="379" r:id="rId39"/>
    <p:sldId id="428" r:id="rId40"/>
    <p:sldId id="380" r:id="rId41"/>
    <p:sldId id="430" r:id="rId42"/>
    <p:sldId id="381" r:id="rId43"/>
    <p:sldId id="382" r:id="rId44"/>
    <p:sldId id="383" r:id="rId45"/>
    <p:sldId id="384" r:id="rId46"/>
    <p:sldId id="385" r:id="rId47"/>
    <p:sldId id="429" r:id="rId48"/>
    <p:sldId id="435" r:id="rId49"/>
    <p:sldId id="443" r:id="rId50"/>
    <p:sldId id="386" r:id="rId51"/>
    <p:sldId id="387" r:id="rId52"/>
    <p:sldId id="388" r:id="rId53"/>
    <p:sldId id="389" r:id="rId54"/>
    <p:sldId id="390" r:id="rId55"/>
    <p:sldId id="391" r:id="rId56"/>
    <p:sldId id="392" r:id="rId57"/>
    <p:sldId id="368" r:id="rId58"/>
    <p:sldId id="438" r:id="rId59"/>
    <p:sldId id="394" r:id="rId60"/>
    <p:sldId id="305" r:id="rId61"/>
    <p:sldId id="395" r:id="rId62"/>
    <p:sldId id="396" r:id="rId63"/>
    <p:sldId id="397" r:id="rId64"/>
    <p:sldId id="398" r:id="rId65"/>
    <p:sldId id="300" r:id="rId66"/>
    <p:sldId id="399" r:id="rId67"/>
    <p:sldId id="301" r:id="rId68"/>
    <p:sldId id="303" r:id="rId69"/>
    <p:sldId id="400" r:id="rId70"/>
    <p:sldId id="335" r:id="rId71"/>
    <p:sldId id="317" r:id="rId72"/>
    <p:sldId id="402" r:id="rId73"/>
    <p:sldId id="320" r:id="rId74"/>
    <p:sldId id="436" r:id="rId75"/>
    <p:sldId id="437" r:id="rId76"/>
    <p:sldId id="442" r:id="rId77"/>
    <p:sldId id="351" r:id="rId78"/>
    <p:sldId id="405" r:id="rId79"/>
    <p:sldId id="353" r:id="rId80"/>
    <p:sldId id="404" r:id="rId81"/>
    <p:sldId id="261" r:id="rId82"/>
  </p:sldIdLst>
  <p:sldSz cx="12192000" cy="6858000"/>
  <p:notesSz cx="6858000" cy="9144000"/>
  <p:custDataLst>
    <p:tags r:id="rId8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00FF"/>
    <a:srgbClr val="00005C"/>
    <a:srgbClr val="06D24C"/>
    <a:srgbClr val="035920"/>
    <a:srgbClr val="F6F5F3"/>
    <a:srgbClr val="04862F"/>
    <a:srgbClr val="07DB4E"/>
    <a:srgbClr val="08396E"/>
    <a:srgbClr val="0519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182" autoAdjust="0"/>
  </p:normalViewPr>
  <p:slideViewPr>
    <p:cSldViewPr snapToGrid="0" showGuides="1">
      <p:cViewPr varScale="1">
        <p:scale>
          <a:sx n="114" d="100"/>
          <a:sy n="114" d="100"/>
        </p:scale>
        <p:origin x="-420" y="-108"/>
      </p:cViewPr>
      <p:guideLst>
        <p:guide orient="horz" pos="2160"/>
        <p:guide pos="3818"/>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2026/1/14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userDrawn="1">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1219199" y="239311"/>
            <a:ext cx="134111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t>‹#›</a:t>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t>2026/1/14</a:t>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t>2026/1/14</a:t>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5.xml"/><Relationship Id="rId1" Type="http://schemas.openxmlformats.org/officeDocument/2006/relationships/tags" Target="../tags/tag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tags" Target="../tags/tag18.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5" Type="http://schemas.openxmlformats.org/officeDocument/2006/relationships/slideLayout" Target="../slideLayouts/slideLayout3.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tags" Target="../tags/tag20.xml"/></Relationships>
</file>

<file path=ppt/slides/_rels/slide42.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tags" Target="../tags/tag33.xml"/><Relationship Id="rId3" Type="http://schemas.openxmlformats.org/officeDocument/2006/relationships/tags" Target="../tags/tag23.xml"/><Relationship Id="rId7" Type="http://schemas.openxmlformats.org/officeDocument/2006/relationships/tags" Target="../tags/tag27.xml"/><Relationship Id="rId12" Type="http://schemas.openxmlformats.org/officeDocument/2006/relationships/tags" Target="../tags/tag32.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5" Type="http://schemas.openxmlformats.org/officeDocument/2006/relationships/tags" Target="../tags/tag25.xml"/><Relationship Id="rId15" Type="http://schemas.openxmlformats.org/officeDocument/2006/relationships/slideLayout" Target="../slideLayouts/slideLayout3.xml"/><Relationship Id="rId10" Type="http://schemas.openxmlformats.org/officeDocument/2006/relationships/tags" Target="../tags/tag30.xml"/><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tags" Target="../tags/tag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slideLayout" Target="../slideLayouts/slideLayout3.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3.xml"/><Relationship Id="rId1" Type="http://schemas.openxmlformats.org/officeDocument/2006/relationships/tags" Target="../tags/tag4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3.xml"/><Relationship Id="rId1" Type="http://schemas.openxmlformats.org/officeDocument/2006/relationships/tags" Target="../tags/tag50.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xml"/><Relationship Id="rId1" Type="http://schemas.openxmlformats.org/officeDocument/2006/relationships/tags" Target="../tags/tag51.xml"/><Relationship Id="rId5" Type="http://schemas.openxmlformats.org/officeDocument/2006/relationships/image" Target="../media/image11.jpeg"/><Relationship Id="rId4" Type="http://schemas.openxmlformats.org/officeDocument/2006/relationships/image" Target="../media/image10.jpeg"/></Relationships>
</file>

<file path=ppt/slides/_rels/slide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5.xml"/><Relationship Id="rId1" Type="http://schemas.openxmlformats.org/officeDocument/2006/relationships/tags" Target="../tags/tag52.xml"/><Relationship Id="rId4" Type="http://schemas.openxmlformats.org/officeDocument/2006/relationships/image" Target="../media/image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6.xml"/><Relationship Id="rId1" Type="http://schemas.openxmlformats.org/officeDocument/2006/relationships/tags" Target="../tags/tag5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hidden="1"/>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t>第</a:t>
            </a:r>
            <a:r>
              <a:rPr lang="en-US" altLang="zh-CN" sz="4800" dirty="0"/>
              <a:t>2</a:t>
            </a:r>
            <a:r>
              <a:rPr lang="zh-CN" altLang="en-US" sz="4800" dirty="0"/>
              <a:t>章</a:t>
            </a:r>
            <a:br>
              <a:rPr lang="zh-CN" altLang="en-US" sz="4800" dirty="0"/>
            </a:br>
            <a:r>
              <a:rPr lang="zh-CN" altLang="en-US" sz="4800" dirty="0"/>
              <a:t>进程的描述与控制</a:t>
            </a:r>
            <a:endParaRPr lang="zh-CN" altLang="en-US" sz="2000" b="0" dirty="0"/>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1" name="矩形 10"/>
          <p:cNvSpPr/>
          <p:nvPr/>
        </p:nvSpPr>
        <p:spPr>
          <a:xfrm>
            <a:off x="1243012" y="589418"/>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9684121" y="5993053"/>
            <a:ext cx="2074491" cy="431799"/>
          </a:xfrm>
          <a:prstGeom prst="rect">
            <a:avLst/>
          </a:prstGeom>
        </p:spPr>
      </p:pic>
      <p:pic>
        <p:nvPicPr>
          <p:cNvPr id="14" name="图片 13"/>
          <p:cNvPicPr>
            <a:picLocks noChangeAspect="1"/>
          </p:cNvPicPr>
          <p:nvPr/>
        </p:nvPicPr>
        <p:blipFill>
          <a:blip r:embed="rId5"/>
          <a:stretch>
            <a:fillRect/>
          </a:stretch>
        </p:blipFill>
        <p:spPr>
          <a:xfrm>
            <a:off x="7055100" y="844791"/>
            <a:ext cx="3007096" cy="42615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13965" cy="52197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2</a:t>
            </a:r>
            <a:r>
              <a:rPr lang="zh-CN" altLang="en-US" sz="2800" b="1" dirty="0">
                <a:solidFill>
                  <a:schemeClr val="bg1"/>
                </a:solidFill>
              </a:rPr>
              <a:t>章知识导图</a:t>
            </a: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11" name="表格 10"/>
          <p:cNvGraphicFramePr/>
          <p:nvPr>
            <p:custDataLst>
              <p:tags r:id="rId1"/>
            </p:custDataLst>
          </p:nvPr>
        </p:nvGraphicFramePr>
        <p:xfrm>
          <a:off x="508000" y="1658960"/>
          <a:ext cx="3973848" cy="4754718"/>
        </p:xfrm>
        <a:graphic>
          <a:graphicData uri="http://schemas.openxmlformats.org/drawingml/2006/table">
            <a:tbl>
              <a:tblPr firstRow="1" bandRow="1">
                <a:tableStyleId>{72833802-FEF1-4C79-8D5D-14CF1EAF98D9}</a:tableStyleId>
              </a:tblPr>
              <a:tblGrid>
                <a:gridCol w="1162676">
                  <a:extLst>
                    <a:ext uri="{9D8B030D-6E8A-4147-A177-3AD203B41FA5}">
                      <a16:colId xmlns:a16="http://schemas.microsoft.com/office/drawing/2014/main" val="20000"/>
                    </a:ext>
                  </a:extLst>
                </a:gridCol>
                <a:gridCol w="2811172">
                  <a:extLst>
                    <a:ext uri="{9D8B030D-6E8A-4147-A177-3AD203B41FA5}">
                      <a16:colId xmlns:a16="http://schemas.microsoft.com/office/drawing/2014/main" val="20001"/>
                    </a:ext>
                  </a:extLst>
                </a:gridCol>
              </a:tblGrid>
              <a:tr h="479689">
                <a:tc>
                  <a:txBody>
                    <a:bodyPr/>
                    <a:lstStyle/>
                    <a:p>
                      <a:pPr indent="0" algn="ctr">
                        <a:lnSpc>
                          <a:spcPct val="100000"/>
                        </a:lnSpc>
                        <a:buNone/>
                      </a:pPr>
                      <a:r>
                        <a:rPr lang="en-US" sz="1600" b="0" kern="1200" dirty="0">
                          <a:solidFill>
                            <a:schemeClr val="tx1"/>
                          </a:solidFill>
                          <a:latin typeface="+mn-ea"/>
                          <a:ea typeface="+mn-ea"/>
                          <a:cs typeface="+mn-cs"/>
                        </a:rPr>
                        <a:t>第1章</a:t>
                      </a:r>
                      <a:endParaRPr lang="en-US" altLang="en-US" sz="1600" b="0" kern="1200" dirty="0">
                        <a:solidFill>
                          <a:schemeClr val="tx1"/>
                        </a:solidFill>
                        <a:latin typeface="+mn-ea"/>
                        <a:ea typeface="+mn-ea"/>
                        <a:cs typeface="+mn-cs"/>
                      </a:endParaRPr>
                    </a:p>
                  </a:txBody>
                  <a:tcPr marL="51435" marR="51435" marT="0" marB="0" anchor="ctr">
                    <a:solidFill>
                      <a:schemeClr val="bg1"/>
                    </a:solidFill>
                  </a:tcPr>
                </a:tc>
                <a:tc>
                  <a:txBody>
                    <a:bodyPr/>
                    <a:lstStyle/>
                    <a:p>
                      <a:pPr indent="0" algn="l">
                        <a:lnSpc>
                          <a:spcPct val="100000"/>
                        </a:lnSpc>
                        <a:buNone/>
                      </a:pPr>
                      <a:r>
                        <a:rPr lang="en-US" sz="1600" b="0" kern="1200" dirty="0" err="1">
                          <a:solidFill>
                            <a:schemeClr val="tx1"/>
                          </a:solidFill>
                          <a:latin typeface="+mn-ea"/>
                          <a:ea typeface="+mn-ea"/>
                          <a:cs typeface="+mn-cs"/>
                        </a:rPr>
                        <a:t>操作系统引论</a:t>
                      </a:r>
                      <a:endParaRPr lang="en-US" altLang="en-US" sz="1600" b="0" kern="1200" dirty="0">
                        <a:solidFill>
                          <a:schemeClr val="tx1"/>
                        </a:solidFill>
                        <a:latin typeface="+mn-ea"/>
                        <a:ea typeface="+mn-ea"/>
                        <a:cs typeface="+mn-cs"/>
                      </a:endParaRPr>
                    </a:p>
                  </a:txBody>
                  <a:tcPr marL="51435" marR="51435" marT="0" marB="0" anchor="ctr">
                    <a:solidFill>
                      <a:schemeClr val="bg1"/>
                    </a:solidFill>
                  </a:tcPr>
                </a:tc>
                <a:extLst>
                  <a:ext uri="{0D108BD9-81ED-4DB2-BD59-A6C34878D82A}">
                    <a16:rowId xmlns:a16="http://schemas.microsoft.com/office/drawing/2014/main" val="10000"/>
                  </a:ext>
                </a:extLst>
              </a:tr>
              <a:tr h="379534">
                <a:tc>
                  <a:txBody>
                    <a:bodyPr/>
                    <a:lstStyle/>
                    <a:p>
                      <a:pPr indent="0" algn="ctr">
                        <a:lnSpc>
                          <a:spcPct val="100000"/>
                        </a:lnSpc>
                        <a:buNone/>
                      </a:pPr>
                      <a:r>
                        <a:rPr lang="en-US" sz="1600" b="1" kern="1200" dirty="0">
                          <a:solidFill>
                            <a:schemeClr val="bg1"/>
                          </a:solidFill>
                          <a:latin typeface="+mn-ea"/>
                          <a:ea typeface="+mn-ea"/>
                          <a:cs typeface="+mn-cs"/>
                        </a:rPr>
                        <a:t>第2章</a:t>
                      </a:r>
                      <a:endParaRPr lang="en-US" altLang="en-US" sz="1600" b="1" kern="1200" dirty="0">
                        <a:solidFill>
                          <a:schemeClr val="bg1"/>
                        </a:solidFill>
                        <a:latin typeface="+mn-ea"/>
                        <a:ea typeface="+mn-ea"/>
                        <a:cs typeface="+mn-cs"/>
                      </a:endParaRPr>
                    </a:p>
                  </a:txBody>
                  <a:tcPr marL="51435" marR="51435" marT="0" marB="0" anchor="ctr">
                    <a:solidFill>
                      <a:schemeClr val="accent2"/>
                    </a:solidFill>
                  </a:tcPr>
                </a:tc>
                <a:tc>
                  <a:txBody>
                    <a:bodyPr/>
                    <a:lstStyle/>
                    <a:p>
                      <a:pPr indent="0" algn="l">
                        <a:lnSpc>
                          <a:spcPct val="100000"/>
                        </a:lnSpc>
                        <a:buNone/>
                      </a:pPr>
                      <a:r>
                        <a:rPr lang="en-US" sz="1600" b="1" kern="1200" dirty="0" err="1">
                          <a:solidFill>
                            <a:schemeClr val="bg1"/>
                          </a:solidFill>
                          <a:latin typeface="+mn-ea"/>
                          <a:ea typeface="+mn-ea"/>
                          <a:cs typeface="+mn-cs"/>
                        </a:rPr>
                        <a:t>进程的描述与控制</a:t>
                      </a:r>
                      <a:endParaRPr lang="en-US" altLang="en-US" sz="1600" b="1" kern="1200" dirty="0">
                        <a:solidFill>
                          <a:schemeClr val="bg1"/>
                        </a:solidFill>
                        <a:latin typeface="+mn-ea"/>
                        <a:ea typeface="+mn-ea"/>
                        <a:cs typeface="+mn-cs"/>
                      </a:endParaRPr>
                    </a:p>
                  </a:txBody>
                  <a:tcPr marL="51435" marR="51435" marT="0" marB="0" anchor="ctr">
                    <a:solidFill>
                      <a:schemeClr val="accent2"/>
                    </a:solidFill>
                  </a:tcPr>
                </a:tc>
                <a:extLst>
                  <a:ext uri="{0D108BD9-81ED-4DB2-BD59-A6C34878D82A}">
                    <a16:rowId xmlns:a16="http://schemas.microsoft.com/office/drawing/2014/main" val="10001"/>
                  </a:ext>
                </a:extLst>
              </a:tr>
              <a:tr h="379534">
                <a:tc>
                  <a:txBody>
                    <a:bodyPr/>
                    <a:lstStyle/>
                    <a:p>
                      <a:pPr indent="0" algn="ctr">
                        <a:lnSpc>
                          <a:spcPct val="100000"/>
                        </a:lnSpc>
                        <a:buNone/>
                      </a:pPr>
                      <a:r>
                        <a:rPr lang="en-US" sz="1600">
                          <a:latin typeface="+mn-ea"/>
                          <a:ea typeface="+mn-ea"/>
                        </a:rPr>
                        <a:t>第3章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处理机调度与死锁</a:t>
                      </a:r>
                      <a:endParaRPr lang="en-US" altLang="en-US" sz="1600" b="0" dirty="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2"/>
                  </a:ext>
                </a:extLst>
              </a:tr>
              <a:tr h="379534">
                <a:tc>
                  <a:txBody>
                    <a:bodyPr/>
                    <a:lstStyle/>
                    <a:p>
                      <a:pPr indent="0" algn="ctr">
                        <a:lnSpc>
                          <a:spcPct val="100000"/>
                        </a:lnSpc>
                        <a:buNone/>
                      </a:pPr>
                      <a:r>
                        <a:rPr lang="en-US" sz="1600">
                          <a:latin typeface="+mn-ea"/>
                          <a:ea typeface="+mn-ea"/>
                        </a:rPr>
                        <a:t>第4章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进程同步</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3"/>
                  </a:ext>
                </a:extLst>
              </a:tr>
              <a:tr h="379534">
                <a:tc>
                  <a:txBody>
                    <a:bodyPr/>
                    <a:lstStyle/>
                    <a:p>
                      <a:pPr indent="0" algn="ctr">
                        <a:lnSpc>
                          <a:spcPct val="100000"/>
                        </a:lnSpc>
                        <a:buNone/>
                      </a:pPr>
                      <a:r>
                        <a:rPr lang="en-US" sz="1600">
                          <a:latin typeface="+mn-ea"/>
                          <a:ea typeface="+mn-ea"/>
                        </a:rPr>
                        <a:t>第5章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存储器管理</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4"/>
                  </a:ext>
                </a:extLst>
              </a:tr>
              <a:tr h="379534">
                <a:tc>
                  <a:txBody>
                    <a:bodyPr/>
                    <a:lstStyle/>
                    <a:p>
                      <a:pPr indent="0" algn="ctr">
                        <a:lnSpc>
                          <a:spcPct val="100000"/>
                        </a:lnSpc>
                        <a:buNone/>
                      </a:pPr>
                      <a:r>
                        <a:rPr lang="en-US" sz="1600">
                          <a:latin typeface="+mn-ea"/>
                          <a:ea typeface="+mn-ea"/>
                        </a:rPr>
                        <a:t>第6章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虚拟存储器</a:t>
                      </a:r>
                      <a:endParaRPr lang="en-US" altLang="en-US" sz="1600" b="0" dirty="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5"/>
                  </a:ext>
                </a:extLst>
              </a:tr>
              <a:tr h="379534">
                <a:tc>
                  <a:txBody>
                    <a:bodyPr/>
                    <a:lstStyle/>
                    <a:p>
                      <a:pPr indent="0" algn="ctr">
                        <a:lnSpc>
                          <a:spcPct val="100000"/>
                        </a:lnSpc>
                        <a:buNone/>
                      </a:pPr>
                      <a:r>
                        <a:rPr lang="en-US" sz="1600">
                          <a:latin typeface="+mn-ea"/>
                          <a:ea typeface="+mn-ea"/>
                        </a:rPr>
                        <a:t>第7章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输入/输出系统</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6"/>
                  </a:ext>
                </a:extLst>
              </a:tr>
              <a:tr h="379534">
                <a:tc>
                  <a:txBody>
                    <a:bodyPr/>
                    <a:lstStyle/>
                    <a:p>
                      <a:pPr indent="0" algn="ctr">
                        <a:lnSpc>
                          <a:spcPct val="100000"/>
                        </a:lnSpc>
                        <a:buNone/>
                      </a:pPr>
                      <a:r>
                        <a:rPr lang="en-US" sz="1600">
                          <a:latin typeface="+mn-ea"/>
                          <a:ea typeface="+mn-ea"/>
                        </a:rPr>
                        <a:t>第8章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文件管理</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7"/>
                  </a:ext>
                </a:extLst>
              </a:tr>
              <a:tr h="379534">
                <a:tc>
                  <a:txBody>
                    <a:bodyPr/>
                    <a:lstStyle/>
                    <a:p>
                      <a:pPr indent="0" algn="ctr">
                        <a:lnSpc>
                          <a:spcPct val="100000"/>
                        </a:lnSpc>
                        <a:buNone/>
                      </a:pPr>
                      <a:r>
                        <a:rPr lang="en-US" sz="1600">
                          <a:latin typeface="+mn-ea"/>
                          <a:ea typeface="+mn-ea"/>
                        </a:rPr>
                        <a:t>第9章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磁盘存储器管理</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8"/>
                  </a:ext>
                </a:extLst>
              </a:tr>
              <a:tr h="379534">
                <a:tc>
                  <a:txBody>
                    <a:bodyPr/>
                    <a:lstStyle/>
                    <a:p>
                      <a:pPr indent="0" algn="ctr">
                        <a:lnSpc>
                          <a:spcPct val="100000"/>
                        </a:lnSpc>
                        <a:buNone/>
                      </a:pPr>
                      <a:r>
                        <a:rPr lang="en-US" sz="1600">
                          <a:latin typeface="+mn-ea"/>
                          <a:ea typeface="+mn-ea"/>
                        </a:rPr>
                        <a:t>第10章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多处理机操作系统</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9"/>
                  </a:ext>
                </a:extLst>
              </a:tr>
              <a:tr h="379534">
                <a:tc>
                  <a:txBody>
                    <a:bodyPr/>
                    <a:lstStyle/>
                    <a:p>
                      <a:pPr indent="0" algn="ctr">
                        <a:lnSpc>
                          <a:spcPct val="100000"/>
                        </a:lnSpc>
                        <a:buNone/>
                      </a:pPr>
                      <a:r>
                        <a:rPr lang="en-US" sz="1600">
                          <a:latin typeface="+mn-ea"/>
                          <a:ea typeface="+mn-ea"/>
                        </a:rPr>
                        <a:t>第11章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虚拟化和云计算</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10"/>
                  </a:ext>
                </a:extLst>
              </a:tr>
              <a:tr h="479689">
                <a:tc>
                  <a:txBody>
                    <a:bodyPr/>
                    <a:lstStyle/>
                    <a:p>
                      <a:pPr indent="0" algn="ctr">
                        <a:lnSpc>
                          <a:spcPct val="100000"/>
                        </a:lnSpc>
                        <a:buNone/>
                      </a:pPr>
                      <a:r>
                        <a:rPr lang="en-US" sz="1600">
                          <a:latin typeface="+mn-ea"/>
                          <a:ea typeface="+mn-ea"/>
                        </a:rPr>
                        <a:t>第12章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保护和安全</a:t>
                      </a:r>
                      <a:endParaRPr lang="en-US" altLang="en-US" sz="1600" b="0" dirty="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11"/>
                  </a:ext>
                </a:extLst>
              </a:tr>
            </a:tbl>
          </a:graphicData>
        </a:graphic>
      </p:graphicFrame>
      <p:pic>
        <p:nvPicPr>
          <p:cNvPr id="2" name="图片 1" descr="第2章 知识导图"/>
          <p:cNvPicPr>
            <a:picLocks noChangeAspect="1"/>
          </p:cNvPicPr>
          <p:nvPr/>
        </p:nvPicPr>
        <p:blipFill>
          <a:blip r:embed="rId4"/>
          <a:stretch>
            <a:fillRect/>
          </a:stretch>
        </p:blipFill>
        <p:spPr>
          <a:xfrm>
            <a:off x="4740910" y="1512570"/>
            <a:ext cx="7071995" cy="50488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2章 知识导图"/>
          <p:cNvPicPr>
            <a:picLocks noChangeAspect="1"/>
          </p:cNvPicPr>
          <p:nvPr/>
        </p:nvPicPr>
        <p:blipFill>
          <a:blip r:embed="rId2"/>
          <a:stretch>
            <a:fillRect/>
          </a:stretch>
        </p:blipFill>
        <p:spPr>
          <a:xfrm>
            <a:off x="658495" y="0"/>
            <a:ext cx="10755630" cy="66598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solidFill>
                  <a:srgbClr val="0000FF"/>
                </a:solidFill>
                <a:latin typeface="+mj-ea"/>
                <a:ea typeface="+mj-ea"/>
              </a:rPr>
              <a:t>2.1 </a:t>
            </a:r>
            <a:r>
              <a:rPr lang="zh-CN" altLang="en-US" sz="2400" dirty="0">
                <a:solidFill>
                  <a:srgbClr val="0000FF"/>
                </a:solidFill>
                <a:latin typeface="+mj-ea"/>
                <a:ea typeface="+mj-ea"/>
              </a:rPr>
              <a:t>前趋图和程序执行</a:t>
            </a: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42415" y="1246505"/>
            <a:ext cx="4426585" cy="962660"/>
          </a:xfrm>
          <a:prstGeom prst="rect">
            <a:avLst/>
          </a:prstGeom>
          <a:noFill/>
        </p:spPr>
        <p:txBody>
          <a:bodyPr wrap="square" rtlCol="0">
            <a:noAutofit/>
          </a:bodyPr>
          <a:lstStyle/>
          <a:p>
            <a:r>
              <a:rPr lang="zh-CN" altLang="en-US" sz="2400"/>
              <a:t>问题</a:t>
            </a:r>
            <a:r>
              <a:rPr lang="en-US" altLang="zh-CN" sz="2400"/>
              <a:t>1</a:t>
            </a:r>
            <a:r>
              <a:rPr lang="zh-CN" altLang="en-US" sz="2400"/>
              <a:t>：什么是前驱图？</a:t>
            </a:r>
          </a:p>
        </p:txBody>
      </p:sp>
      <p:sp>
        <p:nvSpPr>
          <p:cNvPr id="4" name="文本框 3"/>
          <p:cNvSpPr txBox="1"/>
          <p:nvPr/>
        </p:nvSpPr>
        <p:spPr>
          <a:xfrm>
            <a:off x="1542415" y="3099435"/>
            <a:ext cx="9148445" cy="659765"/>
          </a:xfrm>
          <a:prstGeom prst="rect">
            <a:avLst/>
          </a:prstGeom>
          <a:noFill/>
        </p:spPr>
        <p:txBody>
          <a:bodyPr wrap="square" rtlCol="0">
            <a:noAutofit/>
          </a:bodyPr>
          <a:lstStyle/>
          <a:p>
            <a:r>
              <a:rPr lang="zh-CN" altLang="en-US" sz="2400"/>
              <a:t>问题</a:t>
            </a:r>
            <a:r>
              <a:rPr lang="en-US" altLang="zh-CN" sz="2400"/>
              <a:t>2</a:t>
            </a:r>
            <a:r>
              <a:rPr lang="zh-CN" altLang="en-US" sz="2400"/>
              <a:t>：程序并发执行的特征：间断性、失去封闭性、不可再现性。各指的什么意思？</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a:solidFill>
                  <a:schemeClr val="bg1"/>
                </a:solidFill>
              </a:rPr>
              <a:t>操作系统的目标</a:t>
            </a:r>
            <a:endParaRPr lang="zh-CN" altLang="en-US" sz="2800" b="1" dirty="0">
              <a:solidFill>
                <a:schemeClr val="bg1"/>
              </a:solidFill>
            </a:endParaRPr>
          </a:p>
        </p:txBody>
      </p:sp>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34411" y="1407071"/>
            <a:ext cx="527050" cy="527050"/>
          </a:xfrm>
          <a:prstGeom prst="rect">
            <a:avLst/>
          </a:prstGeom>
          <a:ln>
            <a:noFill/>
          </a:ln>
          <a:effectLst>
            <a:softEdge rad="0"/>
          </a:effectLst>
        </p:spPr>
      </p:pic>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34411" y="3575283"/>
            <a:ext cx="527050" cy="527050"/>
          </a:xfrm>
          <a:prstGeom prst="rect">
            <a:avLst/>
          </a:prstGeom>
          <a:ln>
            <a:noFill/>
          </a:ln>
          <a:effectLst>
            <a:softEdge rad="0"/>
          </a:effectLst>
        </p:spPr>
      </p:pic>
      <p:sp>
        <p:nvSpPr>
          <p:cNvPr id="10" name="文本框 9"/>
          <p:cNvSpPr txBox="1"/>
          <p:nvPr/>
        </p:nvSpPr>
        <p:spPr>
          <a:xfrm>
            <a:off x="1357520" y="1310204"/>
            <a:ext cx="10284981" cy="5062924"/>
          </a:xfrm>
          <a:prstGeom prst="rect">
            <a:avLst/>
          </a:prstGeom>
          <a:noFill/>
        </p:spPr>
        <p:txBody>
          <a:bodyPr wrap="square" rtlCol="0">
            <a:spAutoFit/>
          </a:bodyPr>
          <a:lstStyle/>
          <a:p>
            <a:pPr>
              <a:lnSpc>
                <a:spcPct val="150000"/>
              </a:lnSpc>
            </a:pPr>
            <a:r>
              <a:rPr lang="zh-CN" altLang="en-US" sz="2400" dirty="0"/>
              <a:t>程序</a:t>
            </a:r>
            <a:r>
              <a:rPr lang="zh-CN" altLang="en-US" sz="2400" dirty="0">
                <a:solidFill>
                  <a:srgbClr val="FF0000"/>
                </a:solidFill>
              </a:rPr>
              <a:t>顺序</a:t>
            </a:r>
            <a:r>
              <a:rPr lang="zh-CN" altLang="en-US" sz="2400" dirty="0"/>
              <a:t>执行</a:t>
            </a:r>
            <a:endParaRPr lang="en-US" altLang="zh-CN" sz="2400" dirty="0"/>
          </a:p>
          <a:p>
            <a:pPr marL="342900" indent="-342900" algn="just">
              <a:lnSpc>
                <a:spcPct val="150000"/>
              </a:lnSpc>
              <a:spcAft>
                <a:spcPts val="600"/>
              </a:spcAft>
              <a:buClr>
                <a:srgbClr val="FF0000"/>
              </a:buClr>
              <a:buFont typeface="Wingdings" panose="05000000000000000000" pitchFamily="2" charset="2"/>
              <a:buChar char="Ø"/>
            </a:pPr>
            <a:r>
              <a:rPr lang="zh-CN" altLang="en-US" sz="2200" dirty="0">
                <a:latin typeface="+mn-ea"/>
              </a:rPr>
              <a:t>一个较大的程序通常都由</a:t>
            </a:r>
            <a:r>
              <a:rPr lang="zh-CN" altLang="en-US" sz="2200" dirty="0">
                <a:solidFill>
                  <a:schemeClr val="tx1"/>
                </a:solidFill>
                <a:latin typeface="+mn-ea"/>
              </a:rPr>
              <a:t>若干个程序段</a:t>
            </a:r>
            <a:r>
              <a:rPr lang="zh-CN" altLang="en-US" sz="2200" dirty="0">
                <a:latin typeface="+mn-ea"/>
              </a:rPr>
              <a:t>组成</a:t>
            </a:r>
          </a:p>
          <a:p>
            <a:pPr marL="342900" indent="-342900" algn="just">
              <a:lnSpc>
                <a:spcPct val="150000"/>
              </a:lnSpc>
              <a:spcAft>
                <a:spcPts val="600"/>
              </a:spcAft>
              <a:buClr>
                <a:srgbClr val="FF0000"/>
              </a:buClr>
              <a:buFont typeface="Wingdings" panose="05000000000000000000" pitchFamily="2" charset="2"/>
              <a:buChar char="Ø"/>
            </a:pPr>
            <a:r>
              <a:rPr lang="zh-CN" altLang="en-US" sz="2200" dirty="0">
                <a:latin typeface="+mn-ea"/>
              </a:rPr>
              <a:t>程序在执行时，必须按照某种先后</a:t>
            </a:r>
            <a:r>
              <a:rPr lang="zh-CN" altLang="en-US" sz="2200" dirty="0">
                <a:solidFill>
                  <a:schemeClr val="tx1"/>
                </a:solidFill>
                <a:latin typeface="+mn-ea"/>
              </a:rPr>
              <a:t>次序</a:t>
            </a:r>
            <a:r>
              <a:rPr lang="zh-CN" altLang="en-US" sz="2200" dirty="0">
                <a:latin typeface="+mn-ea"/>
              </a:rPr>
              <a:t>逐个执行，仅当前一操作执行完后，才能执行后继操作。</a:t>
            </a:r>
          </a:p>
          <a:p>
            <a:pPr algn="just">
              <a:lnSpc>
                <a:spcPct val="150000"/>
              </a:lnSpc>
              <a:spcAft>
                <a:spcPts val="600"/>
              </a:spcAft>
            </a:pPr>
            <a:r>
              <a:rPr lang="zh-CN" altLang="en-US" sz="2400" dirty="0">
                <a:solidFill>
                  <a:srgbClr val="FF0000"/>
                </a:solidFill>
                <a:latin typeface="+mn-ea"/>
              </a:rPr>
              <a:t>前趋图</a:t>
            </a:r>
          </a:p>
          <a:p>
            <a:pPr marL="342900" indent="-342900">
              <a:lnSpc>
                <a:spcPct val="150000"/>
              </a:lnSpc>
              <a:spcAft>
                <a:spcPts val="600"/>
              </a:spcAft>
              <a:buClr>
                <a:srgbClr val="FF0000"/>
              </a:buClr>
              <a:buFont typeface="Wingdings" panose="05000000000000000000" pitchFamily="2" charset="2"/>
              <a:buChar char="Ø"/>
            </a:pPr>
            <a:r>
              <a:rPr lang="zh-CN" altLang="en-US" sz="2200" dirty="0">
                <a:solidFill>
                  <a:srgbClr val="FF0000"/>
                </a:solidFill>
                <a:latin typeface="+mn-ea"/>
              </a:rPr>
              <a:t>有向无循环</a:t>
            </a:r>
            <a:r>
              <a:rPr lang="zh-CN" altLang="en-US" sz="2200" dirty="0">
                <a:latin typeface="+mn-ea"/>
              </a:rPr>
              <a:t>图，用于描述</a:t>
            </a:r>
            <a:br>
              <a:rPr lang="en-US" altLang="zh-CN" sz="2200" dirty="0">
                <a:latin typeface="+mn-ea"/>
              </a:rPr>
            </a:br>
            <a:r>
              <a:rPr lang="zh-CN" altLang="en-US" sz="2200" dirty="0">
                <a:latin typeface="+mn-ea"/>
              </a:rPr>
              <a:t>进程之间执行的</a:t>
            </a:r>
            <a:r>
              <a:rPr lang="zh-CN" altLang="en-US" sz="2200" dirty="0">
                <a:solidFill>
                  <a:srgbClr val="FF0000"/>
                </a:solidFill>
                <a:latin typeface="+mn-ea"/>
              </a:rPr>
              <a:t>先后顺序</a:t>
            </a:r>
            <a:endParaRPr lang="zh-CN" altLang="en-US" sz="2200" dirty="0">
              <a:latin typeface="+mn-ea"/>
            </a:endParaRPr>
          </a:p>
          <a:p>
            <a:pPr marL="342900" indent="-342900">
              <a:lnSpc>
                <a:spcPct val="150000"/>
              </a:lnSpc>
              <a:spcAft>
                <a:spcPts val="600"/>
              </a:spcAft>
              <a:buClr>
                <a:srgbClr val="FF0000"/>
              </a:buClr>
              <a:buFont typeface="Wingdings" panose="05000000000000000000" pitchFamily="2" charset="2"/>
              <a:buChar char="Ø"/>
            </a:pPr>
            <a:r>
              <a:rPr lang="zh-CN" altLang="en-US" sz="2200" dirty="0">
                <a:latin typeface="+mn-ea"/>
              </a:rPr>
              <a:t>结点表示</a:t>
            </a:r>
            <a:r>
              <a:rPr lang="zh-CN" altLang="en-US" sz="2200" dirty="0">
                <a:solidFill>
                  <a:srgbClr val="FF0000"/>
                </a:solidFill>
                <a:latin typeface="+mn-ea"/>
              </a:rPr>
              <a:t>进程或程序段</a:t>
            </a:r>
            <a:r>
              <a:rPr lang="zh-CN" altLang="en-US" sz="2200" dirty="0">
                <a:latin typeface="+mn-ea"/>
              </a:rPr>
              <a:t>，</a:t>
            </a:r>
            <a:br>
              <a:rPr lang="en-US" altLang="zh-CN" sz="2200" dirty="0">
                <a:latin typeface="+mn-ea"/>
              </a:rPr>
            </a:br>
            <a:r>
              <a:rPr lang="zh-CN" altLang="en-US" sz="2200" dirty="0">
                <a:latin typeface="+mn-ea"/>
              </a:rPr>
              <a:t>有向边表示前趋关系</a:t>
            </a:r>
          </a:p>
        </p:txBody>
      </p:sp>
      <p:grpSp>
        <p:nvGrpSpPr>
          <p:cNvPr id="11" name="组合 17"/>
          <p:cNvGrpSpPr/>
          <p:nvPr/>
        </p:nvGrpSpPr>
        <p:grpSpPr bwMode="auto">
          <a:xfrm>
            <a:off x="5805488" y="4405815"/>
            <a:ext cx="5715000" cy="1331959"/>
            <a:chOff x="2176450" y="4119578"/>
            <a:chExt cx="5715000" cy="1777335"/>
          </a:xfrm>
        </p:grpSpPr>
        <p:grpSp>
          <p:nvGrpSpPr>
            <p:cNvPr id="14" name="Group 21"/>
            <p:cNvGrpSpPr/>
            <p:nvPr/>
          </p:nvGrpSpPr>
          <p:grpSpPr bwMode="auto">
            <a:xfrm>
              <a:off x="2176450" y="4119578"/>
              <a:ext cx="5715000" cy="533400"/>
              <a:chOff x="720" y="2640"/>
              <a:chExt cx="3600" cy="336"/>
            </a:xfrm>
          </p:grpSpPr>
          <p:sp>
            <p:nvSpPr>
              <p:cNvPr id="19" name="Oval 6"/>
              <p:cNvSpPr>
                <a:spLocks noChangeArrowheads="1"/>
              </p:cNvSpPr>
              <p:nvPr/>
            </p:nvSpPr>
            <p:spPr bwMode="auto">
              <a:xfrm>
                <a:off x="720"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I</a:t>
                </a:r>
                <a:r>
                  <a:rPr lang="en-US" altLang="zh-CN" sz="1800" baseline="-25000">
                    <a:latin typeface="Arial" panose="020B0604020202020204" pitchFamily="34" charset="0"/>
                  </a:rPr>
                  <a:t>1</a:t>
                </a:r>
              </a:p>
            </p:txBody>
          </p:sp>
          <p:sp>
            <p:nvSpPr>
              <p:cNvPr id="21" name="Oval 7"/>
              <p:cNvSpPr>
                <a:spLocks noChangeArrowheads="1"/>
              </p:cNvSpPr>
              <p:nvPr/>
            </p:nvSpPr>
            <p:spPr bwMode="auto">
              <a:xfrm>
                <a:off x="1392"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C</a:t>
                </a:r>
                <a:r>
                  <a:rPr lang="en-US" altLang="zh-CN" sz="1800" baseline="-25000">
                    <a:latin typeface="Arial" panose="020B0604020202020204" pitchFamily="34" charset="0"/>
                  </a:rPr>
                  <a:t>1</a:t>
                </a:r>
              </a:p>
            </p:txBody>
          </p:sp>
          <p:sp>
            <p:nvSpPr>
              <p:cNvPr id="22" name="Oval 8"/>
              <p:cNvSpPr>
                <a:spLocks noChangeArrowheads="1"/>
              </p:cNvSpPr>
              <p:nvPr/>
            </p:nvSpPr>
            <p:spPr bwMode="auto">
              <a:xfrm>
                <a:off x="2016"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P</a:t>
                </a:r>
                <a:r>
                  <a:rPr lang="en-US" altLang="zh-CN" sz="1800" baseline="-25000">
                    <a:latin typeface="Arial" panose="020B0604020202020204" pitchFamily="34" charset="0"/>
                  </a:rPr>
                  <a:t>1</a:t>
                </a:r>
              </a:p>
            </p:txBody>
          </p:sp>
          <p:sp>
            <p:nvSpPr>
              <p:cNvPr id="23" name="Oval 10"/>
              <p:cNvSpPr>
                <a:spLocks noChangeArrowheads="1"/>
              </p:cNvSpPr>
              <p:nvPr/>
            </p:nvSpPr>
            <p:spPr bwMode="auto">
              <a:xfrm>
                <a:off x="2640"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I</a:t>
                </a:r>
                <a:r>
                  <a:rPr lang="en-US" altLang="zh-CN" sz="1800" baseline="-25000">
                    <a:latin typeface="Arial" panose="020B0604020202020204" pitchFamily="34" charset="0"/>
                  </a:rPr>
                  <a:t>2</a:t>
                </a:r>
              </a:p>
            </p:txBody>
          </p:sp>
          <p:sp>
            <p:nvSpPr>
              <p:cNvPr id="24" name="Oval 11"/>
              <p:cNvSpPr>
                <a:spLocks noChangeArrowheads="1"/>
              </p:cNvSpPr>
              <p:nvPr/>
            </p:nvSpPr>
            <p:spPr bwMode="auto">
              <a:xfrm>
                <a:off x="3312"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C</a:t>
                </a:r>
                <a:r>
                  <a:rPr lang="en-US" altLang="zh-CN" sz="1800" baseline="-25000">
                    <a:latin typeface="Arial" panose="020B0604020202020204" pitchFamily="34" charset="0"/>
                  </a:rPr>
                  <a:t>2</a:t>
                </a:r>
              </a:p>
            </p:txBody>
          </p:sp>
          <p:sp>
            <p:nvSpPr>
              <p:cNvPr id="25" name="Oval 12"/>
              <p:cNvSpPr>
                <a:spLocks noChangeArrowheads="1"/>
              </p:cNvSpPr>
              <p:nvPr/>
            </p:nvSpPr>
            <p:spPr bwMode="auto">
              <a:xfrm>
                <a:off x="3984"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P</a:t>
                </a:r>
                <a:r>
                  <a:rPr lang="en-US" altLang="zh-CN" sz="1800" baseline="-25000">
                    <a:latin typeface="Arial" panose="020B0604020202020204" pitchFamily="34" charset="0"/>
                  </a:rPr>
                  <a:t>2</a:t>
                </a:r>
              </a:p>
            </p:txBody>
          </p:sp>
          <p:cxnSp>
            <p:nvCxnSpPr>
              <p:cNvPr id="26" name="AutoShape 13"/>
              <p:cNvCxnSpPr>
                <a:cxnSpLocks noChangeShapeType="1"/>
                <a:stCxn id="19" idx="6"/>
                <a:endCxn id="21" idx="2"/>
              </p:cNvCxnSpPr>
              <p:nvPr/>
            </p:nvCxnSpPr>
            <p:spPr bwMode="auto">
              <a:xfrm>
                <a:off x="1065" y="2808"/>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7" name="AutoShape 14"/>
              <p:cNvCxnSpPr>
                <a:cxnSpLocks noChangeShapeType="1"/>
                <a:stCxn id="21" idx="6"/>
                <a:endCxn id="22" idx="2"/>
              </p:cNvCxnSpPr>
              <p:nvPr/>
            </p:nvCxnSpPr>
            <p:spPr bwMode="auto">
              <a:xfrm>
                <a:off x="1737" y="280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8" name="AutoShape 16"/>
              <p:cNvCxnSpPr>
                <a:cxnSpLocks noChangeShapeType="1"/>
                <a:stCxn id="23" idx="6"/>
                <a:endCxn id="24" idx="2"/>
              </p:cNvCxnSpPr>
              <p:nvPr/>
            </p:nvCxnSpPr>
            <p:spPr bwMode="auto">
              <a:xfrm>
                <a:off x="2985" y="2808"/>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9" name="AutoShape 17"/>
              <p:cNvCxnSpPr>
                <a:cxnSpLocks noChangeShapeType="1"/>
                <a:stCxn id="22" idx="6"/>
                <a:endCxn id="23" idx="2"/>
              </p:cNvCxnSpPr>
              <p:nvPr/>
            </p:nvCxnSpPr>
            <p:spPr bwMode="auto">
              <a:xfrm>
                <a:off x="2361" y="280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30" name="AutoShape 20"/>
              <p:cNvCxnSpPr>
                <a:cxnSpLocks noChangeShapeType="1"/>
                <a:stCxn id="24" idx="6"/>
                <a:endCxn id="25" idx="2"/>
              </p:cNvCxnSpPr>
              <p:nvPr/>
            </p:nvCxnSpPr>
            <p:spPr bwMode="auto">
              <a:xfrm>
                <a:off x="3657" y="2808"/>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grpSp>
        <p:sp>
          <p:nvSpPr>
            <p:cNvPr id="17" name="Text Box 22"/>
            <p:cNvSpPr txBox="1">
              <a:spLocks noChangeArrowheads="1"/>
            </p:cNvSpPr>
            <p:nvPr/>
          </p:nvSpPr>
          <p:spPr bwMode="auto">
            <a:xfrm>
              <a:off x="2859889" y="4863250"/>
              <a:ext cx="4419600" cy="493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800" dirty="0">
                  <a:latin typeface="+mn-ea"/>
                  <a:ea typeface="+mn-ea"/>
                </a:rPr>
                <a:t>程序顺序执行时的前趋图</a:t>
              </a:r>
            </a:p>
          </p:txBody>
        </p:sp>
        <p:sp>
          <p:nvSpPr>
            <p:cNvPr id="18" name="Text Box 24"/>
            <p:cNvSpPr txBox="1">
              <a:spLocks noChangeArrowheads="1"/>
            </p:cNvSpPr>
            <p:nvPr/>
          </p:nvSpPr>
          <p:spPr bwMode="auto">
            <a:xfrm>
              <a:off x="3605210" y="5405462"/>
              <a:ext cx="2928958" cy="491451"/>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1800" dirty="0">
                  <a:latin typeface="+mn-ea"/>
                  <a:ea typeface="+mn-ea"/>
                </a:rPr>
                <a:t>前趋关系：</a:t>
              </a:r>
              <a:r>
                <a:rPr lang="en-US" altLang="zh-CN" sz="1800" dirty="0" err="1">
                  <a:latin typeface="+mn-ea"/>
                  <a:ea typeface="+mn-ea"/>
                </a:rPr>
                <a:t>I</a:t>
              </a:r>
              <a:r>
                <a:rPr lang="en-US" altLang="zh-CN" sz="1800" baseline="-25000" dirty="0" err="1">
                  <a:latin typeface="+mn-ea"/>
                  <a:ea typeface="+mn-ea"/>
                </a:rPr>
                <a:t>i</a:t>
              </a:r>
              <a:r>
                <a:rPr lang="en-US" altLang="zh-CN" sz="1800" dirty="0" err="1">
                  <a:latin typeface="+mn-ea"/>
                  <a:ea typeface="+mn-ea"/>
                  <a:sym typeface="Wingdings" panose="05000000000000000000" pitchFamily="2" charset="2"/>
                </a:rPr>
                <a:t>C</a:t>
              </a:r>
              <a:r>
                <a:rPr lang="en-US" altLang="zh-CN" sz="1800" baseline="-25000" dirty="0" err="1">
                  <a:latin typeface="+mn-ea"/>
                  <a:ea typeface="+mn-ea"/>
                  <a:sym typeface="Wingdings" panose="05000000000000000000" pitchFamily="2" charset="2"/>
                </a:rPr>
                <a:t>i</a:t>
              </a:r>
              <a:r>
                <a:rPr lang="en-US" altLang="zh-CN" sz="1800" dirty="0" err="1">
                  <a:latin typeface="+mn-ea"/>
                  <a:ea typeface="+mn-ea"/>
                  <a:sym typeface="Wingdings" panose="05000000000000000000" pitchFamily="2" charset="2"/>
                </a:rPr>
                <a:t>P</a:t>
              </a:r>
              <a:r>
                <a:rPr lang="en-US" altLang="zh-CN" sz="1800" baseline="-25000" dirty="0" err="1">
                  <a:latin typeface="+mn-ea"/>
                  <a:ea typeface="+mn-ea"/>
                  <a:sym typeface="Wingdings" panose="05000000000000000000" pitchFamily="2" charset="2"/>
                </a:rPr>
                <a:t>i</a:t>
              </a:r>
              <a:endParaRPr lang="en-US" altLang="zh-CN" sz="1800" baseline="-25000" dirty="0">
                <a:latin typeface="+mn-ea"/>
                <a:ea typeface="+mn-ea"/>
                <a:sym typeface="Wingdings" panose="05000000000000000000" pitchFamily="2" charset="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操作系统的作用</a:t>
            </a:r>
          </a:p>
        </p:txBody>
      </p:sp>
      <p:sp>
        <p:nvSpPr>
          <p:cNvPr id="14" name="文本占位符 13"/>
          <p:cNvSpPr txBox="1"/>
          <p:nvPr/>
        </p:nvSpPr>
        <p:spPr>
          <a:xfrm>
            <a:off x="669925" y="5306656"/>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Signature</a:t>
            </a:r>
            <a:endParaRPr lang="en-US" altLang="zh-CN" dirty="0"/>
          </a:p>
        </p:txBody>
      </p:sp>
      <p:sp>
        <p:nvSpPr>
          <p:cNvPr id="15" name="文本框 14"/>
          <p:cNvSpPr txBox="1"/>
          <p:nvPr/>
        </p:nvSpPr>
        <p:spPr>
          <a:xfrm>
            <a:off x="1357521" y="1310204"/>
            <a:ext cx="3312436" cy="2231486"/>
          </a:xfrm>
          <a:prstGeom prst="rect">
            <a:avLst/>
          </a:prstGeom>
          <a:noFill/>
        </p:spPr>
        <p:txBody>
          <a:bodyPr wrap="square" rtlCol="0">
            <a:spAutoFit/>
          </a:bodyPr>
          <a:lstStyle/>
          <a:p>
            <a:pPr>
              <a:lnSpc>
                <a:spcPct val="150000"/>
              </a:lnSpc>
            </a:pPr>
            <a:r>
              <a:rPr lang="zh-CN" altLang="en-US" sz="2400" dirty="0"/>
              <a:t>程序并发执行</a:t>
            </a:r>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rPr>
              <a:t>采用多道程序技术，将多个程序同时装入内存，使之并发运行。</a:t>
            </a:r>
          </a:p>
        </p:txBody>
      </p:sp>
      <p:grpSp>
        <p:nvGrpSpPr>
          <p:cNvPr id="17" name="Group 49"/>
          <p:cNvGrpSpPr/>
          <p:nvPr/>
        </p:nvGrpSpPr>
        <p:grpSpPr bwMode="auto">
          <a:xfrm>
            <a:off x="5176570" y="1423879"/>
            <a:ext cx="6234112" cy="1885950"/>
            <a:chOff x="336" y="1632"/>
            <a:chExt cx="3927" cy="1584"/>
          </a:xfrm>
        </p:grpSpPr>
        <p:sp>
          <p:nvSpPr>
            <p:cNvPr id="18" name="Oval 6"/>
            <p:cNvSpPr>
              <a:spLocks noChangeArrowheads="1"/>
            </p:cNvSpPr>
            <p:nvPr/>
          </p:nvSpPr>
          <p:spPr bwMode="auto">
            <a:xfrm>
              <a:off x="1728" y="288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dirty="0">
                  <a:solidFill>
                    <a:srgbClr val="FF0066"/>
                  </a:solidFill>
                  <a:latin typeface="Arial" panose="020B0604020202020204" pitchFamily="34" charset="0"/>
                </a:rPr>
                <a:t>P</a:t>
              </a:r>
              <a:r>
                <a:rPr lang="en-US" altLang="zh-CN" sz="1800" baseline="-25000" dirty="0">
                  <a:solidFill>
                    <a:srgbClr val="FF0066"/>
                  </a:solidFill>
                  <a:latin typeface="Arial" panose="020B0604020202020204" pitchFamily="34" charset="0"/>
                </a:rPr>
                <a:t>1</a:t>
              </a:r>
            </a:p>
          </p:txBody>
        </p:sp>
        <p:sp>
          <p:nvSpPr>
            <p:cNvPr id="19" name="Oval 7"/>
            <p:cNvSpPr>
              <a:spLocks noChangeArrowheads="1"/>
            </p:cNvSpPr>
            <p:nvPr/>
          </p:nvSpPr>
          <p:spPr bwMode="auto">
            <a:xfrm>
              <a:off x="2352" y="288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P</a:t>
              </a:r>
              <a:r>
                <a:rPr lang="en-US" altLang="zh-CN" sz="1800" baseline="-25000">
                  <a:latin typeface="Arial" panose="020B0604020202020204" pitchFamily="34" charset="0"/>
                </a:rPr>
                <a:t>2</a:t>
              </a:r>
            </a:p>
          </p:txBody>
        </p:sp>
        <p:sp>
          <p:nvSpPr>
            <p:cNvPr id="21" name="Oval 8"/>
            <p:cNvSpPr>
              <a:spLocks noChangeArrowheads="1"/>
            </p:cNvSpPr>
            <p:nvPr/>
          </p:nvSpPr>
          <p:spPr bwMode="auto">
            <a:xfrm>
              <a:off x="2976" y="288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P</a:t>
              </a:r>
              <a:r>
                <a:rPr lang="en-US" altLang="zh-CN" sz="1800" baseline="-25000">
                  <a:latin typeface="Arial" panose="020B0604020202020204" pitchFamily="34" charset="0"/>
                </a:rPr>
                <a:t>3</a:t>
              </a:r>
            </a:p>
          </p:txBody>
        </p:sp>
        <p:sp>
          <p:nvSpPr>
            <p:cNvPr id="22" name="Oval 9"/>
            <p:cNvSpPr>
              <a:spLocks noChangeArrowheads="1"/>
            </p:cNvSpPr>
            <p:nvPr/>
          </p:nvSpPr>
          <p:spPr bwMode="auto">
            <a:xfrm>
              <a:off x="3600" y="288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P</a:t>
              </a:r>
              <a:r>
                <a:rPr lang="en-US" altLang="zh-CN" sz="1800" baseline="-25000">
                  <a:latin typeface="Arial" panose="020B0604020202020204" pitchFamily="34" charset="0"/>
                </a:rPr>
                <a:t>4</a:t>
              </a:r>
            </a:p>
          </p:txBody>
        </p:sp>
        <p:cxnSp>
          <p:nvCxnSpPr>
            <p:cNvPr id="23" name="AutoShape 12"/>
            <p:cNvCxnSpPr>
              <a:cxnSpLocks noChangeShapeType="1"/>
              <a:stCxn id="18" idx="6"/>
              <a:endCxn id="19" idx="2"/>
            </p:cNvCxnSpPr>
            <p:nvPr/>
          </p:nvCxnSpPr>
          <p:spPr bwMode="auto">
            <a:xfrm>
              <a:off x="2073" y="304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4" name="AutoShape 13"/>
            <p:cNvCxnSpPr>
              <a:cxnSpLocks noChangeShapeType="1"/>
              <a:stCxn id="19" idx="6"/>
              <a:endCxn id="21" idx="2"/>
            </p:cNvCxnSpPr>
            <p:nvPr/>
          </p:nvCxnSpPr>
          <p:spPr bwMode="auto">
            <a:xfrm>
              <a:off x="2697" y="304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5" name="AutoShape 14"/>
            <p:cNvCxnSpPr>
              <a:cxnSpLocks noChangeShapeType="1"/>
              <a:stCxn id="22" idx="6"/>
            </p:cNvCxnSpPr>
            <p:nvPr/>
          </p:nvCxnSpPr>
          <p:spPr bwMode="auto">
            <a:xfrm>
              <a:off x="3945" y="3048"/>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6" name="AutoShape 15"/>
            <p:cNvCxnSpPr>
              <a:cxnSpLocks noChangeShapeType="1"/>
              <a:stCxn id="21" idx="6"/>
              <a:endCxn id="22" idx="2"/>
            </p:cNvCxnSpPr>
            <p:nvPr/>
          </p:nvCxnSpPr>
          <p:spPr bwMode="auto">
            <a:xfrm>
              <a:off x="3321" y="304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sp>
          <p:nvSpPr>
            <p:cNvPr id="27" name="Oval 19"/>
            <p:cNvSpPr>
              <a:spLocks noChangeArrowheads="1"/>
            </p:cNvSpPr>
            <p:nvPr/>
          </p:nvSpPr>
          <p:spPr bwMode="auto">
            <a:xfrm>
              <a:off x="336" y="1632"/>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I</a:t>
              </a:r>
              <a:r>
                <a:rPr lang="en-US" altLang="zh-CN" sz="1800" baseline="-25000">
                  <a:latin typeface="Arial" panose="020B0604020202020204" pitchFamily="34" charset="0"/>
                </a:rPr>
                <a:t>1</a:t>
              </a:r>
            </a:p>
          </p:txBody>
        </p:sp>
        <p:sp>
          <p:nvSpPr>
            <p:cNvPr id="28" name="Oval 20"/>
            <p:cNvSpPr>
              <a:spLocks noChangeArrowheads="1"/>
            </p:cNvSpPr>
            <p:nvPr/>
          </p:nvSpPr>
          <p:spPr bwMode="auto">
            <a:xfrm>
              <a:off x="1056" y="1632"/>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I</a:t>
              </a:r>
              <a:r>
                <a:rPr lang="en-US" altLang="zh-CN" sz="1800" baseline="-25000">
                  <a:latin typeface="Arial" panose="020B0604020202020204" pitchFamily="34" charset="0"/>
                </a:rPr>
                <a:t>2</a:t>
              </a:r>
            </a:p>
          </p:txBody>
        </p:sp>
        <p:sp>
          <p:nvSpPr>
            <p:cNvPr id="29" name="Oval 21"/>
            <p:cNvSpPr>
              <a:spLocks noChangeArrowheads="1"/>
            </p:cNvSpPr>
            <p:nvPr/>
          </p:nvSpPr>
          <p:spPr bwMode="auto">
            <a:xfrm>
              <a:off x="1728" y="1632"/>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solidFill>
                    <a:srgbClr val="FF0066"/>
                  </a:solidFill>
                  <a:latin typeface="Arial" panose="020B0604020202020204" pitchFamily="34" charset="0"/>
                </a:rPr>
                <a:t>I</a:t>
              </a:r>
              <a:r>
                <a:rPr lang="en-US" altLang="zh-CN" sz="1800" baseline="-25000">
                  <a:solidFill>
                    <a:srgbClr val="FF0066"/>
                  </a:solidFill>
                  <a:latin typeface="Arial" panose="020B0604020202020204" pitchFamily="34" charset="0"/>
                </a:rPr>
                <a:t>3</a:t>
              </a:r>
            </a:p>
          </p:txBody>
        </p:sp>
        <p:sp>
          <p:nvSpPr>
            <p:cNvPr id="30" name="Oval 22"/>
            <p:cNvSpPr>
              <a:spLocks noChangeArrowheads="1"/>
            </p:cNvSpPr>
            <p:nvPr/>
          </p:nvSpPr>
          <p:spPr bwMode="auto">
            <a:xfrm>
              <a:off x="2352" y="1632"/>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I</a:t>
              </a:r>
              <a:r>
                <a:rPr lang="en-US" altLang="zh-CN" sz="1800" baseline="-25000">
                  <a:latin typeface="Arial" panose="020B0604020202020204" pitchFamily="34" charset="0"/>
                </a:rPr>
                <a:t>4</a:t>
              </a:r>
            </a:p>
          </p:txBody>
        </p:sp>
        <p:cxnSp>
          <p:nvCxnSpPr>
            <p:cNvPr id="31" name="AutoShape 25"/>
            <p:cNvCxnSpPr>
              <a:cxnSpLocks noChangeShapeType="1"/>
              <a:stCxn id="27" idx="6"/>
              <a:endCxn id="28" idx="2"/>
            </p:cNvCxnSpPr>
            <p:nvPr/>
          </p:nvCxnSpPr>
          <p:spPr bwMode="auto">
            <a:xfrm>
              <a:off x="681" y="1800"/>
              <a:ext cx="366"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32" name="AutoShape 26"/>
            <p:cNvCxnSpPr>
              <a:cxnSpLocks noChangeShapeType="1"/>
              <a:stCxn id="28" idx="6"/>
              <a:endCxn id="29" idx="2"/>
            </p:cNvCxnSpPr>
            <p:nvPr/>
          </p:nvCxnSpPr>
          <p:spPr bwMode="auto">
            <a:xfrm>
              <a:off x="1401" y="1800"/>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33" name="AutoShape 27"/>
            <p:cNvCxnSpPr>
              <a:cxnSpLocks noChangeShapeType="1"/>
              <a:stCxn id="30" idx="6"/>
            </p:cNvCxnSpPr>
            <p:nvPr/>
          </p:nvCxnSpPr>
          <p:spPr bwMode="auto">
            <a:xfrm>
              <a:off x="2697" y="1800"/>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34" name="AutoShape 28"/>
            <p:cNvCxnSpPr>
              <a:cxnSpLocks noChangeShapeType="1"/>
              <a:stCxn id="29" idx="6"/>
              <a:endCxn id="30" idx="2"/>
            </p:cNvCxnSpPr>
            <p:nvPr/>
          </p:nvCxnSpPr>
          <p:spPr bwMode="auto">
            <a:xfrm>
              <a:off x="2073" y="1800"/>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sp>
          <p:nvSpPr>
            <p:cNvPr id="35" name="Oval 30"/>
            <p:cNvSpPr>
              <a:spLocks noChangeArrowheads="1"/>
            </p:cNvSpPr>
            <p:nvPr/>
          </p:nvSpPr>
          <p:spPr bwMode="auto">
            <a:xfrm>
              <a:off x="1056" y="2256"/>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C</a:t>
              </a:r>
              <a:r>
                <a:rPr lang="en-US" altLang="zh-CN" sz="1800" baseline="-25000">
                  <a:latin typeface="Arial" panose="020B0604020202020204" pitchFamily="34" charset="0"/>
                </a:rPr>
                <a:t>1</a:t>
              </a:r>
            </a:p>
          </p:txBody>
        </p:sp>
        <p:sp>
          <p:nvSpPr>
            <p:cNvPr id="36" name="Oval 31"/>
            <p:cNvSpPr>
              <a:spLocks noChangeArrowheads="1"/>
            </p:cNvSpPr>
            <p:nvPr/>
          </p:nvSpPr>
          <p:spPr bwMode="auto">
            <a:xfrm>
              <a:off x="1728" y="2256"/>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solidFill>
                    <a:srgbClr val="FF0066"/>
                  </a:solidFill>
                  <a:latin typeface="Arial" panose="020B0604020202020204" pitchFamily="34" charset="0"/>
                </a:rPr>
                <a:t>C</a:t>
              </a:r>
              <a:r>
                <a:rPr lang="en-US" altLang="zh-CN" sz="1800" baseline="-25000">
                  <a:solidFill>
                    <a:srgbClr val="FF0066"/>
                  </a:solidFill>
                  <a:latin typeface="Arial" panose="020B0604020202020204" pitchFamily="34" charset="0"/>
                </a:rPr>
                <a:t>2</a:t>
              </a:r>
            </a:p>
          </p:txBody>
        </p:sp>
        <p:sp>
          <p:nvSpPr>
            <p:cNvPr id="37" name="Oval 32"/>
            <p:cNvSpPr>
              <a:spLocks noChangeArrowheads="1"/>
            </p:cNvSpPr>
            <p:nvPr/>
          </p:nvSpPr>
          <p:spPr bwMode="auto">
            <a:xfrm>
              <a:off x="2352" y="2256"/>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C</a:t>
              </a:r>
              <a:r>
                <a:rPr lang="en-US" altLang="zh-CN" sz="1800" baseline="-25000">
                  <a:latin typeface="Arial" panose="020B0604020202020204" pitchFamily="34" charset="0"/>
                </a:rPr>
                <a:t>3</a:t>
              </a:r>
            </a:p>
          </p:txBody>
        </p:sp>
        <p:sp>
          <p:nvSpPr>
            <p:cNvPr id="38" name="Oval 33"/>
            <p:cNvSpPr>
              <a:spLocks noChangeArrowheads="1"/>
            </p:cNvSpPr>
            <p:nvPr/>
          </p:nvSpPr>
          <p:spPr bwMode="auto">
            <a:xfrm>
              <a:off x="2976" y="2256"/>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C</a:t>
              </a:r>
              <a:r>
                <a:rPr lang="en-US" altLang="zh-CN" sz="1800" baseline="-25000">
                  <a:latin typeface="Arial" panose="020B0604020202020204" pitchFamily="34" charset="0"/>
                </a:rPr>
                <a:t>4</a:t>
              </a:r>
            </a:p>
          </p:txBody>
        </p:sp>
        <p:cxnSp>
          <p:nvCxnSpPr>
            <p:cNvPr id="39" name="AutoShape 36"/>
            <p:cNvCxnSpPr>
              <a:cxnSpLocks noChangeShapeType="1"/>
              <a:stCxn id="35" idx="6"/>
              <a:endCxn id="36" idx="2"/>
            </p:cNvCxnSpPr>
            <p:nvPr/>
          </p:nvCxnSpPr>
          <p:spPr bwMode="auto">
            <a:xfrm>
              <a:off x="1401" y="2424"/>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1" name="AutoShape 37"/>
            <p:cNvCxnSpPr>
              <a:cxnSpLocks noChangeShapeType="1"/>
              <a:stCxn id="36" idx="6"/>
              <a:endCxn id="37" idx="2"/>
            </p:cNvCxnSpPr>
            <p:nvPr/>
          </p:nvCxnSpPr>
          <p:spPr bwMode="auto">
            <a:xfrm>
              <a:off x="2073" y="2424"/>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2" name="AutoShape 38"/>
            <p:cNvCxnSpPr>
              <a:cxnSpLocks noChangeShapeType="1"/>
              <a:stCxn id="38" idx="6"/>
            </p:cNvCxnSpPr>
            <p:nvPr/>
          </p:nvCxnSpPr>
          <p:spPr bwMode="auto">
            <a:xfrm>
              <a:off x="3321" y="2424"/>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3" name="AutoShape 39"/>
            <p:cNvCxnSpPr>
              <a:cxnSpLocks noChangeShapeType="1"/>
              <a:stCxn id="37" idx="6"/>
              <a:endCxn id="38" idx="2"/>
            </p:cNvCxnSpPr>
            <p:nvPr/>
          </p:nvCxnSpPr>
          <p:spPr bwMode="auto">
            <a:xfrm>
              <a:off x="2697" y="2424"/>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4" name="AutoShape 41"/>
            <p:cNvCxnSpPr>
              <a:cxnSpLocks noChangeShapeType="1"/>
              <a:stCxn id="27" idx="5"/>
              <a:endCxn id="35" idx="1"/>
            </p:cNvCxnSpPr>
            <p:nvPr/>
          </p:nvCxnSpPr>
          <p:spPr bwMode="auto">
            <a:xfrm>
              <a:off x="623" y="1928"/>
              <a:ext cx="482"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5" name="AutoShape 42"/>
            <p:cNvCxnSpPr>
              <a:cxnSpLocks noChangeShapeType="1"/>
              <a:stCxn id="35" idx="5"/>
              <a:endCxn id="18" idx="1"/>
            </p:cNvCxnSpPr>
            <p:nvPr/>
          </p:nvCxnSpPr>
          <p:spPr bwMode="auto">
            <a:xfrm>
              <a:off x="1343" y="2552"/>
              <a:ext cx="434"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6" name="AutoShape 43"/>
            <p:cNvCxnSpPr>
              <a:cxnSpLocks noChangeShapeType="1"/>
              <a:stCxn id="28" idx="5"/>
              <a:endCxn id="36" idx="1"/>
            </p:cNvCxnSpPr>
            <p:nvPr/>
          </p:nvCxnSpPr>
          <p:spPr bwMode="auto">
            <a:xfrm>
              <a:off x="1343" y="1928"/>
              <a:ext cx="434"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7" name="AutoShape 44"/>
            <p:cNvCxnSpPr>
              <a:cxnSpLocks noChangeShapeType="1"/>
              <a:stCxn id="36" idx="5"/>
              <a:endCxn id="19" idx="1"/>
            </p:cNvCxnSpPr>
            <p:nvPr/>
          </p:nvCxnSpPr>
          <p:spPr bwMode="auto">
            <a:xfrm>
              <a:off x="2015" y="2552"/>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8" name="AutoShape 45"/>
            <p:cNvCxnSpPr>
              <a:cxnSpLocks noChangeShapeType="1"/>
              <a:stCxn id="29" idx="5"/>
              <a:endCxn id="37" idx="1"/>
            </p:cNvCxnSpPr>
            <p:nvPr/>
          </p:nvCxnSpPr>
          <p:spPr bwMode="auto">
            <a:xfrm>
              <a:off x="2015" y="1928"/>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9" name="AutoShape 46"/>
            <p:cNvCxnSpPr>
              <a:cxnSpLocks noChangeShapeType="1"/>
              <a:stCxn id="37" idx="5"/>
              <a:endCxn id="21" idx="1"/>
            </p:cNvCxnSpPr>
            <p:nvPr/>
          </p:nvCxnSpPr>
          <p:spPr bwMode="auto">
            <a:xfrm>
              <a:off x="2639" y="2552"/>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60" name="AutoShape 47"/>
            <p:cNvCxnSpPr>
              <a:cxnSpLocks noChangeShapeType="1"/>
              <a:stCxn id="30" idx="5"/>
              <a:endCxn id="38" idx="1"/>
            </p:cNvCxnSpPr>
            <p:nvPr/>
          </p:nvCxnSpPr>
          <p:spPr bwMode="auto">
            <a:xfrm>
              <a:off x="2639" y="1928"/>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61" name="AutoShape 48"/>
            <p:cNvCxnSpPr>
              <a:cxnSpLocks noChangeShapeType="1"/>
              <a:stCxn id="38" idx="5"/>
              <a:endCxn id="22" idx="1"/>
            </p:cNvCxnSpPr>
            <p:nvPr/>
          </p:nvCxnSpPr>
          <p:spPr bwMode="auto">
            <a:xfrm>
              <a:off x="3263" y="2552"/>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grpSp>
      <p:sp>
        <p:nvSpPr>
          <p:cNvPr id="62" name="Text Box 17"/>
          <p:cNvSpPr txBox="1">
            <a:spLocks noChangeArrowheads="1"/>
          </p:cNvSpPr>
          <p:nvPr/>
        </p:nvSpPr>
        <p:spPr bwMode="auto">
          <a:xfrm>
            <a:off x="6375524" y="3450869"/>
            <a:ext cx="44196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2000" dirty="0">
                <a:latin typeface="+mn-ea"/>
                <a:ea typeface="+mn-ea"/>
              </a:rPr>
              <a:t>程序并发执行时的前趋图</a:t>
            </a:r>
          </a:p>
        </p:txBody>
      </p:sp>
      <p:sp>
        <p:nvSpPr>
          <p:cNvPr id="63" name="Text Box 50"/>
          <p:cNvSpPr txBox="1">
            <a:spLocks noChangeArrowheads="1"/>
          </p:cNvSpPr>
          <p:nvPr/>
        </p:nvSpPr>
        <p:spPr bwMode="auto">
          <a:xfrm>
            <a:off x="763794" y="3936767"/>
            <a:ext cx="10646888" cy="400752"/>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000" dirty="0">
                <a:latin typeface="+mn-ea"/>
                <a:ea typeface="+mn-ea"/>
              </a:rPr>
              <a:t>前趋关系：</a:t>
            </a:r>
            <a:r>
              <a:rPr lang="en-US" altLang="zh-CN" sz="2000" dirty="0" err="1">
                <a:latin typeface="+mn-ea"/>
                <a:ea typeface="+mn-ea"/>
              </a:rPr>
              <a:t>I</a:t>
            </a:r>
            <a:r>
              <a:rPr lang="en-US" altLang="zh-CN" sz="2000" baseline="-25000" dirty="0" err="1">
                <a:latin typeface="+mn-ea"/>
                <a:ea typeface="+mn-ea"/>
              </a:rPr>
              <a:t>i</a:t>
            </a:r>
            <a:r>
              <a:rPr lang="en-US" altLang="zh-CN" sz="2000" dirty="0" err="1">
                <a:latin typeface="+mn-ea"/>
                <a:ea typeface="+mn-ea"/>
                <a:sym typeface="Wingdings" panose="05000000000000000000" pitchFamily="2" charset="2"/>
              </a:rPr>
              <a:t>C</a:t>
            </a:r>
            <a:r>
              <a:rPr lang="en-US" altLang="zh-CN" sz="2000" baseline="-25000" dirty="0" err="1">
                <a:latin typeface="+mn-ea"/>
                <a:ea typeface="+mn-ea"/>
                <a:sym typeface="Wingdings" panose="05000000000000000000" pitchFamily="2" charset="2"/>
              </a:rPr>
              <a:t>i</a:t>
            </a:r>
            <a:r>
              <a:rPr lang="en-US" altLang="zh-CN" sz="2000" baseline="-25000" dirty="0">
                <a:latin typeface="+mn-ea"/>
                <a:ea typeface="+mn-ea"/>
                <a:sym typeface="Wingdings" panose="05000000000000000000" pitchFamily="2" charset="2"/>
              </a:rPr>
              <a:t> </a:t>
            </a:r>
            <a:r>
              <a:rPr lang="en-US" altLang="zh-CN" sz="2000" dirty="0">
                <a:latin typeface="+mn-ea"/>
                <a:ea typeface="+mn-ea"/>
                <a:sym typeface="Wingdings" panose="05000000000000000000" pitchFamily="2" charset="2"/>
              </a:rPr>
              <a:t>, </a:t>
            </a:r>
            <a:r>
              <a:rPr lang="en-US" altLang="zh-CN" sz="2000" dirty="0">
                <a:latin typeface="+mn-ea"/>
                <a:ea typeface="+mn-ea"/>
              </a:rPr>
              <a:t>I</a:t>
            </a:r>
            <a:r>
              <a:rPr lang="en-US" altLang="zh-CN" sz="2000" baseline="-25000" dirty="0">
                <a:latin typeface="+mn-ea"/>
                <a:ea typeface="+mn-ea"/>
              </a:rPr>
              <a:t>i</a:t>
            </a:r>
            <a:r>
              <a:rPr lang="en-US" altLang="zh-CN" sz="2000" dirty="0">
                <a:latin typeface="+mn-ea"/>
                <a:ea typeface="+mn-ea"/>
                <a:sym typeface="Wingdings" panose="05000000000000000000" pitchFamily="2" charset="2"/>
              </a:rPr>
              <a:t>  </a:t>
            </a:r>
            <a:r>
              <a:rPr lang="en-US" altLang="zh-CN" sz="2000" dirty="0">
                <a:latin typeface="+mn-ea"/>
                <a:ea typeface="+mn-ea"/>
              </a:rPr>
              <a:t>I</a:t>
            </a:r>
            <a:r>
              <a:rPr lang="en-US" altLang="zh-CN" sz="2000" baseline="-25000" dirty="0">
                <a:latin typeface="+mn-ea"/>
                <a:ea typeface="+mn-ea"/>
              </a:rPr>
              <a:t>i+1 </a:t>
            </a:r>
            <a:r>
              <a:rPr lang="en-US" altLang="zh-CN" sz="2000" dirty="0">
                <a:latin typeface="+mn-ea"/>
                <a:ea typeface="+mn-ea"/>
              </a:rPr>
              <a:t>,</a:t>
            </a:r>
            <a:r>
              <a:rPr lang="en-US" altLang="zh-CN" sz="2000" dirty="0">
                <a:latin typeface="+mn-ea"/>
                <a:ea typeface="+mn-ea"/>
                <a:sym typeface="Wingdings" panose="05000000000000000000" pitchFamily="2" charset="2"/>
              </a:rPr>
              <a:t> C</a:t>
            </a:r>
            <a:r>
              <a:rPr lang="en-US" altLang="zh-CN" sz="2000" baseline="-25000" dirty="0">
                <a:latin typeface="+mn-ea"/>
                <a:ea typeface="+mn-ea"/>
                <a:sym typeface="Wingdings" panose="05000000000000000000" pitchFamily="2" charset="2"/>
              </a:rPr>
              <a:t>i</a:t>
            </a:r>
            <a:r>
              <a:rPr lang="en-US" altLang="zh-CN" sz="2000" dirty="0">
                <a:latin typeface="+mn-ea"/>
                <a:ea typeface="+mn-ea"/>
                <a:sym typeface="Wingdings" panose="05000000000000000000" pitchFamily="2" charset="2"/>
              </a:rPr>
              <a:t> P</a:t>
            </a:r>
            <a:r>
              <a:rPr lang="en-US" altLang="zh-CN" sz="2000" baseline="-25000" dirty="0">
                <a:latin typeface="+mn-ea"/>
                <a:ea typeface="+mn-ea"/>
                <a:sym typeface="Wingdings" panose="05000000000000000000" pitchFamily="2" charset="2"/>
              </a:rPr>
              <a:t>i  </a:t>
            </a:r>
            <a:r>
              <a:rPr lang="en-US" altLang="zh-CN" sz="2000" dirty="0">
                <a:latin typeface="+mn-ea"/>
                <a:ea typeface="+mn-ea"/>
                <a:sym typeface="Wingdings" panose="05000000000000000000" pitchFamily="2" charset="2"/>
              </a:rPr>
              <a:t>,</a:t>
            </a:r>
            <a:r>
              <a:rPr lang="en-US" altLang="zh-CN" sz="2000" baseline="-25000" dirty="0">
                <a:latin typeface="+mn-ea"/>
                <a:ea typeface="+mn-ea"/>
                <a:sym typeface="Wingdings" panose="05000000000000000000" pitchFamily="2" charset="2"/>
              </a:rPr>
              <a:t> </a:t>
            </a:r>
            <a:r>
              <a:rPr lang="en-US" altLang="zh-CN" sz="2000" dirty="0">
                <a:latin typeface="+mn-ea"/>
                <a:ea typeface="+mn-ea"/>
              </a:rPr>
              <a:t>C</a:t>
            </a:r>
            <a:r>
              <a:rPr lang="en-US" altLang="zh-CN" sz="2000" baseline="-25000" dirty="0">
                <a:latin typeface="+mn-ea"/>
                <a:ea typeface="+mn-ea"/>
              </a:rPr>
              <a:t>i</a:t>
            </a:r>
            <a:r>
              <a:rPr lang="en-US" altLang="zh-CN" sz="2000" dirty="0">
                <a:latin typeface="+mn-ea"/>
                <a:ea typeface="+mn-ea"/>
                <a:sym typeface="Wingdings" panose="05000000000000000000" pitchFamily="2" charset="2"/>
              </a:rPr>
              <a:t>C</a:t>
            </a:r>
            <a:r>
              <a:rPr lang="en-US" altLang="zh-CN" sz="2000" baseline="-25000" dirty="0">
                <a:latin typeface="+mn-ea"/>
                <a:ea typeface="+mn-ea"/>
                <a:sym typeface="Wingdings" panose="05000000000000000000" pitchFamily="2" charset="2"/>
              </a:rPr>
              <a:t>i+1 </a:t>
            </a:r>
            <a:r>
              <a:rPr lang="en-US" altLang="zh-CN" sz="2000" dirty="0">
                <a:latin typeface="+mn-ea"/>
                <a:ea typeface="+mn-ea"/>
                <a:sym typeface="Wingdings" panose="05000000000000000000" pitchFamily="2" charset="2"/>
              </a:rPr>
              <a:t>, </a:t>
            </a:r>
            <a:r>
              <a:rPr lang="en-US" altLang="zh-CN" sz="2000" dirty="0">
                <a:latin typeface="+mn-ea"/>
                <a:ea typeface="+mn-ea"/>
              </a:rPr>
              <a:t>P</a:t>
            </a:r>
            <a:r>
              <a:rPr lang="en-US" altLang="zh-CN" sz="2000" baseline="-25000" dirty="0">
                <a:latin typeface="+mn-ea"/>
                <a:ea typeface="+mn-ea"/>
              </a:rPr>
              <a:t>i</a:t>
            </a:r>
            <a:r>
              <a:rPr lang="en-US" altLang="zh-CN" sz="2000" dirty="0">
                <a:latin typeface="+mn-ea"/>
                <a:ea typeface="+mn-ea"/>
                <a:sym typeface="Wingdings" panose="05000000000000000000" pitchFamily="2" charset="2"/>
              </a:rPr>
              <a:t>  </a:t>
            </a:r>
            <a:r>
              <a:rPr lang="en-US" altLang="zh-CN" sz="2000" dirty="0">
                <a:latin typeface="+mn-ea"/>
                <a:ea typeface="+mn-ea"/>
              </a:rPr>
              <a:t>P</a:t>
            </a:r>
            <a:r>
              <a:rPr lang="en-US" altLang="zh-CN" sz="2000" baseline="-25000" dirty="0">
                <a:latin typeface="+mn-ea"/>
                <a:ea typeface="+mn-ea"/>
              </a:rPr>
              <a:t>i+1</a:t>
            </a:r>
          </a:p>
        </p:txBody>
      </p:sp>
      <p:sp>
        <p:nvSpPr>
          <p:cNvPr id="64" name="内容占位符 2"/>
          <p:cNvSpPr txBox="1"/>
          <p:nvPr/>
        </p:nvSpPr>
        <p:spPr>
          <a:xfrm>
            <a:off x="763794" y="4577382"/>
            <a:ext cx="2514600" cy="1928812"/>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onotype Sorts" pitchFamily="2" charset="2"/>
              <a:buNone/>
            </a:pPr>
            <a:r>
              <a:rPr lang="zh-CN" altLang="en-US" sz="2400" dirty="0">
                <a:latin typeface="+mn-ea"/>
              </a:rPr>
              <a:t>例：程序段如下：</a:t>
            </a:r>
          </a:p>
          <a:p>
            <a:pPr>
              <a:buFont typeface="Monotype Sorts" pitchFamily="2" charset="2"/>
              <a:buNone/>
            </a:pPr>
            <a:r>
              <a:rPr lang="en-US" altLang="zh-CN" sz="2400" dirty="0">
                <a:latin typeface="+mn-ea"/>
              </a:rPr>
              <a:t>S</a:t>
            </a:r>
            <a:r>
              <a:rPr lang="en-US" altLang="zh-CN" sz="2400" baseline="-25000" dirty="0">
                <a:latin typeface="+mn-ea"/>
              </a:rPr>
              <a:t>1</a:t>
            </a:r>
            <a:r>
              <a:rPr lang="en-US" altLang="zh-CN" sz="2400" dirty="0">
                <a:latin typeface="+mn-ea"/>
              </a:rPr>
              <a:t>:	a:=x+2</a:t>
            </a:r>
          </a:p>
          <a:p>
            <a:pPr>
              <a:buFont typeface="Monotype Sorts" pitchFamily="2" charset="2"/>
              <a:buNone/>
            </a:pPr>
            <a:r>
              <a:rPr lang="en-US" altLang="zh-CN" sz="2400" dirty="0">
                <a:latin typeface="+mn-ea"/>
              </a:rPr>
              <a:t>S</a:t>
            </a:r>
            <a:r>
              <a:rPr lang="en-US" altLang="zh-CN" sz="2400" baseline="-25000" dirty="0">
                <a:latin typeface="+mn-ea"/>
              </a:rPr>
              <a:t>2</a:t>
            </a:r>
            <a:r>
              <a:rPr lang="en-US" altLang="zh-CN" sz="2400" dirty="0">
                <a:latin typeface="+mn-ea"/>
              </a:rPr>
              <a:t>:	b:=y+4</a:t>
            </a:r>
          </a:p>
          <a:p>
            <a:pPr>
              <a:buFont typeface="Monotype Sorts" pitchFamily="2" charset="2"/>
              <a:buNone/>
            </a:pPr>
            <a:r>
              <a:rPr lang="en-US" altLang="zh-CN" sz="2400" dirty="0">
                <a:latin typeface="+mn-ea"/>
              </a:rPr>
              <a:t>S</a:t>
            </a:r>
            <a:r>
              <a:rPr lang="en-US" altLang="zh-CN" sz="2400" baseline="-25000" dirty="0">
                <a:latin typeface="+mn-ea"/>
              </a:rPr>
              <a:t>3</a:t>
            </a:r>
            <a:r>
              <a:rPr lang="en-US" altLang="zh-CN" sz="2400" dirty="0">
                <a:latin typeface="+mn-ea"/>
              </a:rPr>
              <a:t>:	c:=a+b</a:t>
            </a:r>
          </a:p>
          <a:p>
            <a:pPr>
              <a:buFont typeface="Monotype Sorts" pitchFamily="2" charset="2"/>
              <a:buNone/>
            </a:pPr>
            <a:r>
              <a:rPr lang="en-US" altLang="zh-CN" sz="2400" dirty="0">
                <a:latin typeface="+mn-ea"/>
              </a:rPr>
              <a:t>S</a:t>
            </a:r>
            <a:r>
              <a:rPr lang="en-US" altLang="zh-CN" sz="2400" baseline="-25000" dirty="0">
                <a:latin typeface="+mn-ea"/>
              </a:rPr>
              <a:t>4</a:t>
            </a:r>
            <a:r>
              <a:rPr lang="en-US" altLang="zh-CN" sz="2400" dirty="0">
                <a:latin typeface="+mn-ea"/>
              </a:rPr>
              <a:t>:	d:=c+b</a:t>
            </a:r>
          </a:p>
        </p:txBody>
      </p:sp>
      <p:grpSp>
        <p:nvGrpSpPr>
          <p:cNvPr id="65" name="Group 39"/>
          <p:cNvGrpSpPr/>
          <p:nvPr/>
        </p:nvGrpSpPr>
        <p:grpSpPr bwMode="auto">
          <a:xfrm>
            <a:off x="3933557" y="4768991"/>
            <a:ext cx="2919413" cy="1371600"/>
            <a:chOff x="2304" y="1392"/>
            <a:chExt cx="2453" cy="1152"/>
          </a:xfrm>
          <a:solidFill>
            <a:srgbClr val="0000FF"/>
          </a:solidFill>
        </p:grpSpPr>
        <p:sp>
          <p:nvSpPr>
            <p:cNvPr id="66" name="Oval 15"/>
            <p:cNvSpPr>
              <a:spLocks noChangeArrowheads="1"/>
            </p:cNvSpPr>
            <p:nvPr/>
          </p:nvSpPr>
          <p:spPr bwMode="auto">
            <a:xfrm>
              <a:off x="2304" y="1392"/>
              <a:ext cx="336" cy="336"/>
            </a:xfrm>
            <a:prstGeom prst="ellipse">
              <a:avLst/>
            </a:prstGeom>
            <a:grpFill/>
            <a:ln w="28575">
              <a:solidFill>
                <a:schemeClr val="bg1">
                  <a:lumMod val="75000"/>
                </a:schemeClr>
              </a:solidFill>
              <a:round/>
            </a:ln>
            <a:effectLst/>
          </p:spPr>
          <p:txBody>
            <a:bodyPr wrap="none" lIns="92075" tIns="46038" rIns="92075" bIns="46038" anchor="ctr"/>
            <a:lstStyle/>
            <a:p>
              <a:pPr algn="ctr" eaLnBrk="1" hangingPunct="1">
                <a:buFont typeface="Monotype Sorts" pitchFamily="2" charset="2"/>
                <a:buNone/>
                <a:defRPr/>
              </a:pPr>
              <a:r>
                <a:rPr lang="en-US" altLang="zh-CN" dirty="0">
                  <a:solidFill>
                    <a:schemeClr val="bg1"/>
                  </a:solidFill>
                  <a:latin typeface="+mn-ea"/>
                </a:rPr>
                <a:t>S</a:t>
              </a:r>
              <a:r>
                <a:rPr lang="en-US" altLang="zh-CN" baseline="-25000" dirty="0">
                  <a:solidFill>
                    <a:schemeClr val="bg1"/>
                  </a:solidFill>
                  <a:latin typeface="+mn-ea"/>
                </a:rPr>
                <a:t>1</a:t>
              </a:r>
            </a:p>
          </p:txBody>
        </p:sp>
        <p:sp>
          <p:nvSpPr>
            <p:cNvPr id="67" name="Oval 22"/>
            <p:cNvSpPr>
              <a:spLocks noChangeArrowheads="1"/>
            </p:cNvSpPr>
            <p:nvPr/>
          </p:nvSpPr>
          <p:spPr bwMode="auto">
            <a:xfrm>
              <a:off x="2304" y="2208"/>
              <a:ext cx="336" cy="336"/>
            </a:xfrm>
            <a:prstGeom prst="ellipse">
              <a:avLst/>
            </a:prstGeom>
            <a:grp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solidFill>
                    <a:schemeClr val="bg1"/>
                  </a:solidFill>
                  <a:latin typeface="+mn-ea"/>
                  <a:ea typeface="+mn-ea"/>
                </a:rPr>
                <a:t>S</a:t>
              </a:r>
              <a:r>
                <a:rPr lang="en-US" altLang="zh-CN" sz="1800" baseline="-25000">
                  <a:solidFill>
                    <a:schemeClr val="bg1"/>
                  </a:solidFill>
                  <a:latin typeface="+mn-ea"/>
                  <a:ea typeface="+mn-ea"/>
                </a:rPr>
                <a:t>2</a:t>
              </a:r>
            </a:p>
          </p:txBody>
        </p:sp>
        <p:sp>
          <p:nvSpPr>
            <p:cNvPr id="68" name="Oval 23"/>
            <p:cNvSpPr>
              <a:spLocks noChangeArrowheads="1"/>
            </p:cNvSpPr>
            <p:nvPr/>
          </p:nvSpPr>
          <p:spPr bwMode="auto">
            <a:xfrm>
              <a:off x="3024" y="1824"/>
              <a:ext cx="336" cy="336"/>
            </a:xfrm>
            <a:prstGeom prst="ellipse">
              <a:avLst/>
            </a:prstGeom>
            <a:grp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solidFill>
                    <a:schemeClr val="bg1"/>
                  </a:solidFill>
                  <a:latin typeface="+mn-ea"/>
                  <a:ea typeface="+mn-ea"/>
                </a:rPr>
                <a:t>S</a:t>
              </a:r>
              <a:r>
                <a:rPr lang="en-US" altLang="zh-CN" sz="1800" baseline="-25000">
                  <a:solidFill>
                    <a:schemeClr val="bg1"/>
                  </a:solidFill>
                  <a:latin typeface="+mn-ea"/>
                  <a:ea typeface="+mn-ea"/>
                </a:rPr>
                <a:t>3</a:t>
              </a:r>
            </a:p>
          </p:txBody>
        </p:sp>
        <p:sp>
          <p:nvSpPr>
            <p:cNvPr id="69" name="Oval 24"/>
            <p:cNvSpPr>
              <a:spLocks noChangeArrowheads="1"/>
            </p:cNvSpPr>
            <p:nvPr/>
          </p:nvSpPr>
          <p:spPr bwMode="auto">
            <a:xfrm>
              <a:off x="3792" y="1824"/>
              <a:ext cx="336" cy="336"/>
            </a:xfrm>
            <a:prstGeom prst="ellipse">
              <a:avLst/>
            </a:prstGeom>
            <a:grp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solidFill>
                    <a:schemeClr val="bg1"/>
                  </a:solidFill>
                  <a:latin typeface="+mn-ea"/>
                  <a:ea typeface="+mn-ea"/>
                </a:rPr>
                <a:t>S</a:t>
              </a:r>
              <a:r>
                <a:rPr lang="en-US" altLang="zh-CN" sz="1800" baseline="-25000">
                  <a:solidFill>
                    <a:schemeClr val="bg1"/>
                  </a:solidFill>
                  <a:latin typeface="+mn-ea"/>
                  <a:ea typeface="+mn-ea"/>
                </a:rPr>
                <a:t>4</a:t>
              </a:r>
            </a:p>
          </p:txBody>
        </p:sp>
        <p:cxnSp>
          <p:nvCxnSpPr>
            <p:cNvPr id="70" name="AutoShape 26"/>
            <p:cNvCxnSpPr>
              <a:cxnSpLocks noChangeShapeType="1"/>
              <a:stCxn id="67" idx="6"/>
              <a:endCxn id="68" idx="3"/>
            </p:cNvCxnSpPr>
            <p:nvPr/>
          </p:nvCxnSpPr>
          <p:spPr bwMode="auto">
            <a:xfrm flipV="1">
              <a:off x="2649" y="2120"/>
              <a:ext cx="424" cy="256"/>
            </a:xfrm>
            <a:prstGeom prst="straightConnector1">
              <a:avLst/>
            </a:prstGeom>
            <a:grpFill/>
            <a:ln w="28575">
              <a:solidFill>
                <a:schemeClr val="folHlink"/>
              </a:solidFill>
              <a:round/>
              <a:tailEnd type="triangle" w="med" len="med"/>
            </a:ln>
          </p:spPr>
        </p:cxnSp>
        <p:cxnSp>
          <p:nvCxnSpPr>
            <p:cNvPr id="71" name="AutoShape 27"/>
            <p:cNvCxnSpPr>
              <a:cxnSpLocks noChangeShapeType="1"/>
              <a:stCxn id="68" idx="6"/>
              <a:endCxn id="69" idx="2"/>
            </p:cNvCxnSpPr>
            <p:nvPr/>
          </p:nvCxnSpPr>
          <p:spPr bwMode="auto">
            <a:xfrm>
              <a:off x="3369" y="1992"/>
              <a:ext cx="414" cy="0"/>
            </a:xfrm>
            <a:prstGeom prst="straightConnector1">
              <a:avLst/>
            </a:prstGeom>
            <a:grpFill/>
            <a:ln w="28575">
              <a:solidFill>
                <a:schemeClr val="folHlink"/>
              </a:solidFill>
              <a:round/>
              <a:tailEnd type="triangle" w="med" len="med"/>
            </a:ln>
          </p:spPr>
        </p:cxnSp>
        <p:cxnSp>
          <p:nvCxnSpPr>
            <p:cNvPr id="72" name="AutoShape 32"/>
            <p:cNvCxnSpPr>
              <a:cxnSpLocks noChangeShapeType="1"/>
              <a:stCxn id="66" idx="5"/>
              <a:endCxn id="68" idx="1"/>
            </p:cNvCxnSpPr>
            <p:nvPr/>
          </p:nvCxnSpPr>
          <p:spPr bwMode="auto">
            <a:xfrm>
              <a:off x="2591" y="1688"/>
              <a:ext cx="482" cy="176"/>
            </a:xfrm>
            <a:prstGeom prst="straightConnector1">
              <a:avLst/>
            </a:prstGeom>
            <a:grpFill/>
            <a:ln w="28575">
              <a:solidFill>
                <a:schemeClr val="folHlink"/>
              </a:solidFill>
              <a:round/>
              <a:tailEnd type="triangle" w="med" len="med"/>
            </a:ln>
          </p:spPr>
        </p:cxnSp>
        <p:cxnSp>
          <p:nvCxnSpPr>
            <p:cNvPr id="73" name="AutoShape 35"/>
            <p:cNvCxnSpPr>
              <a:cxnSpLocks noChangeShapeType="1"/>
            </p:cNvCxnSpPr>
            <p:nvPr/>
          </p:nvCxnSpPr>
          <p:spPr bwMode="auto">
            <a:xfrm flipV="1">
              <a:off x="4128" y="1957"/>
              <a:ext cx="629" cy="11"/>
            </a:xfrm>
            <a:prstGeom prst="straightConnector1">
              <a:avLst/>
            </a:prstGeom>
            <a:grpFill/>
            <a:ln w="28575">
              <a:solidFill>
                <a:schemeClr val="folHlink"/>
              </a:solidFill>
              <a:round/>
              <a:tailEnd type="triangle" w="med" len="med"/>
            </a:ln>
          </p:spPr>
        </p:cxnSp>
      </p:grpSp>
      <p:pic>
        <p:nvPicPr>
          <p:cNvPr id="74" name="图片 7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16171" y="1360379"/>
            <a:ext cx="527050" cy="527050"/>
          </a:xfrm>
          <a:prstGeom prst="rect">
            <a:avLst/>
          </a:prstGeom>
          <a:ln>
            <a:noFill/>
          </a:ln>
          <a:effectLst>
            <a:softEdge rad="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txBox="1"/>
          <p:nvPr/>
        </p:nvSpPr>
        <p:spPr>
          <a:xfrm>
            <a:off x="669925" y="5306656"/>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Signature</a:t>
            </a:r>
            <a:endParaRPr lang="en-US" altLang="zh-CN" dirty="0"/>
          </a:p>
        </p:txBody>
      </p:sp>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程序并发执行的特征</a:t>
            </a:r>
          </a:p>
        </p:txBody>
      </p:sp>
      <p:sp>
        <p:nvSpPr>
          <p:cNvPr id="40" name="ïşľîďè"/>
          <p:cNvSpPr/>
          <p:nvPr/>
        </p:nvSpPr>
        <p:spPr>
          <a:xfrm>
            <a:off x="1588" y="1143000"/>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41"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4138583" y="1349738"/>
            <a:ext cx="7381905" cy="1648925"/>
            <a:chOff x="4136995" y="1337038"/>
            <a:chExt cx="7381905" cy="1648925"/>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4" name="ïSḻiḍé"/>
            <p:cNvSpPr txBox="1"/>
            <p:nvPr/>
          </p:nvSpPr>
          <p:spPr>
            <a:xfrm>
              <a:off x="4882719" y="1337038"/>
              <a:ext cx="6636181" cy="164892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000" dirty="0">
                  <a:solidFill>
                    <a:srgbClr val="0000FF"/>
                  </a:solidFill>
                  <a:latin typeface="+mj-ea"/>
                  <a:ea typeface="+mj-ea"/>
                </a:rPr>
                <a:t>间断性</a:t>
              </a:r>
            </a:p>
            <a:p>
              <a:pPr marL="342900" indent="-342900" algn="just">
                <a:lnSpc>
                  <a:spcPct val="130000"/>
                </a:lnSpc>
                <a:buClr>
                  <a:srgbClr val="FF0000"/>
                </a:buClr>
                <a:buFont typeface="Wingdings" panose="05000000000000000000" pitchFamily="2" charset="2"/>
                <a:buChar char="Ø"/>
              </a:pPr>
              <a:r>
                <a:rPr lang="zh-CN" altLang="en-US" sz="2000" dirty="0">
                  <a:latin typeface="+mj-ea"/>
                  <a:ea typeface="+mj-ea"/>
                </a:rPr>
                <a:t>并发程序之间相互制约。</a:t>
              </a:r>
            </a:p>
            <a:p>
              <a:pPr marL="342900" indent="-342900" algn="just">
                <a:lnSpc>
                  <a:spcPct val="130000"/>
                </a:lnSpc>
                <a:buClr>
                  <a:srgbClr val="FF0000"/>
                </a:buClr>
                <a:buFont typeface="Wingdings" panose="05000000000000000000" pitchFamily="2" charset="2"/>
                <a:buChar char="Ø"/>
              </a:pPr>
              <a:r>
                <a:rPr lang="zh-CN" altLang="en-US" sz="2000" dirty="0">
                  <a:latin typeface="+mj-ea"/>
                  <a:ea typeface="+mj-ea"/>
                </a:rPr>
                <a:t>执行</a:t>
              </a:r>
              <a:r>
                <a:rPr lang="en-US" altLang="zh-CN" sz="2000" dirty="0">
                  <a:latin typeface="+mj-ea"/>
                  <a:ea typeface="+mj-ea"/>
                </a:rPr>
                <a:t>——</a:t>
              </a:r>
              <a:r>
                <a:rPr lang="zh-CN" altLang="en-US" sz="2000" dirty="0">
                  <a:latin typeface="+mj-ea"/>
                  <a:ea typeface="+mj-ea"/>
                </a:rPr>
                <a:t>暂停执行</a:t>
              </a:r>
              <a:r>
                <a:rPr lang="en-US" altLang="zh-CN" sz="2000" dirty="0">
                  <a:latin typeface="+mj-ea"/>
                  <a:ea typeface="+mj-ea"/>
                </a:rPr>
                <a:t>——</a:t>
              </a:r>
              <a:r>
                <a:rPr lang="zh-CN" altLang="en-US" sz="2000" dirty="0">
                  <a:latin typeface="+mj-ea"/>
                  <a:ea typeface="+mj-ea"/>
                </a:rPr>
                <a:t>执行。</a:t>
              </a:r>
            </a:p>
          </p:txBody>
        </p:sp>
      </p:grpSp>
      <p:grpSp>
        <p:nvGrpSpPr>
          <p:cNvPr id="45" name="išḷîḓé"/>
          <p:cNvGrpSpPr/>
          <p:nvPr/>
        </p:nvGrpSpPr>
        <p:grpSpPr>
          <a:xfrm>
            <a:off x="4138583" y="3294934"/>
            <a:ext cx="7381904" cy="801176"/>
            <a:chOff x="4136995" y="3233565"/>
            <a:chExt cx="7381904" cy="801176"/>
          </a:xfrm>
        </p:grpSpPr>
        <p:sp>
          <p:nvSpPr>
            <p:cNvPr id="46"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7" name="îŝľîḓè"/>
            <p:cNvSpPr txBox="1"/>
            <p:nvPr/>
          </p:nvSpPr>
          <p:spPr>
            <a:xfrm>
              <a:off x="4882718" y="3233565"/>
              <a:ext cx="6636181"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000" dirty="0">
                  <a:solidFill>
                    <a:srgbClr val="0000FF"/>
                  </a:solidFill>
                </a:rPr>
                <a:t>失去封闭性</a:t>
              </a:r>
            </a:p>
            <a:p>
              <a:pPr marL="342900" indent="-342900">
                <a:lnSpc>
                  <a:spcPct val="130000"/>
                </a:lnSpc>
                <a:buClr>
                  <a:srgbClr val="FF0000"/>
                </a:buClr>
                <a:buFont typeface="Wingdings" panose="05000000000000000000" pitchFamily="2" charset="2"/>
                <a:buChar char="Ø"/>
              </a:pPr>
              <a:r>
                <a:rPr lang="zh-CN" altLang="en-US" sz="2000" dirty="0"/>
                <a:t>多个程序共享全机资源。</a:t>
              </a:r>
            </a:p>
            <a:p>
              <a:pPr marL="342900" indent="-342900">
                <a:lnSpc>
                  <a:spcPct val="130000"/>
                </a:lnSpc>
                <a:buClr>
                  <a:srgbClr val="FF0000"/>
                </a:buClr>
                <a:buFont typeface="Wingdings" panose="05000000000000000000" pitchFamily="2" charset="2"/>
                <a:buChar char="Ø"/>
              </a:pPr>
              <a:r>
                <a:rPr lang="zh-CN" altLang="en-US" sz="2000" dirty="0"/>
                <a:t>执行状态受外界因素影响。</a:t>
              </a:r>
            </a:p>
          </p:txBody>
        </p:sp>
      </p:grpSp>
      <p:grpSp>
        <p:nvGrpSpPr>
          <p:cNvPr id="48" name="ïSlíḍê"/>
          <p:cNvGrpSpPr/>
          <p:nvPr/>
        </p:nvGrpSpPr>
        <p:grpSpPr>
          <a:xfrm>
            <a:off x="4138583" y="4380642"/>
            <a:ext cx="7381903" cy="1311067"/>
            <a:chOff x="4136995" y="4714289"/>
            <a:chExt cx="7381903" cy="1311067"/>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50" name="íṧļîḋê"/>
            <p:cNvSpPr txBox="1"/>
            <p:nvPr/>
          </p:nvSpPr>
          <p:spPr>
            <a:xfrm>
              <a:off x="4882718" y="4714289"/>
              <a:ext cx="6636180"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zh-CN" altLang="en-US" sz="2000" dirty="0"/>
            </a:p>
            <a:p>
              <a:pPr>
                <a:lnSpc>
                  <a:spcPct val="130000"/>
                </a:lnSpc>
              </a:pPr>
              <a:r>
                <a:rPr lang="zh-CN" altLang="en-US" sz="2000" dirty="0">
                  <a:solidFill>
                    <a:srgbClr val="0000FF"/>
                  </a:solidFill>
                </a:rPr>
                <a:t>不可再现性</a:t>
              </a:r>
            </a:p>
            <a:p>
              <a:pPr marL="342900" indent="-342900">
                <a:lnSpc>
                  <a:spcPct val="130000"/>
                </a:lnSpc>
                <a:buClr>
                  <a:srgbClr val="FF0000"/>
                </a:buClr>
                <a:buFont typeface="Wingdings" panose="05000000000000000000" pitchFamily="2" charset="2"/>
                <a:buChar char="Ø"/>
              </a:pPr>
              <a:r>
                <a:rPr lang="zh-CN" altLang="en-US" sz="2000" dirty="0"/>
                <a:t>程序经过多次执行后，虽然其执行时的环境和初始条</a:t>
              </a:r>
            </a:p>
            <a:p>
              <a:pPr indent="0">
                <a:lnSpc>
                  <a:spcPct val="130000"/>
                </a:lnSpc>
                <a:buClr>
                  <a:srgbClr val="FF0000"/>
                </a:buClr>
                <a:buFont typeface="Wingdings" panose="05000000000000000000" pitchFamily="2" charset="2"/>
                <a:buNone/>
              </a:pPr>
              <a:r>
                <a:rPr lang="zh-CN" altLang="en-US" sz="2000" dirty="0"/>
                <a:t>件都相同，但得到的结果却各不相同。执行顺序，共享资源，调度策略，相互关系等影响。</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不可再现性的例子</a:t>
            </a:r>
          </a:p>
        </p:txBody>
      </p:sp>
      <p:sp>
        <p:nvSpPr>
          <p:cNvPr id="29" name="TextBox 4"/>
          <p:cNvSpPr txBox="1"/>
          <p:nvPr/>
        </p:nvSpPr>
        <p:spPr>
          <a:xfrm>
            <a:off x="773649" y="1340296"/>
            <a:ext cx="1643063" cy="2239844"/>
          </a:xfrm>
          <a:prstGeom prst="rect">
            <a:avLst/>
          </a:prstGeom>
          <a:noFill/>
        </p:spPr>
        <p:txBody>
          <a:bodyPr wrap="square">
            <a:spAutoFit/>
          </a:bodyPr>
          <a:lstStyle/>
          <a:p>
            <a:pPr eaLnBrk="1" hangingPunct="1">
              <a:lnSpc>
                <a:spcPct val="150000"/>
              </a:lnSpc>
              <a:defRPr/>
            </a:pPr>
            <a:r>
              <a:rPr lang="zh-CN" altLang="en-US" sz="2400" b="1" dirty="0">
                <a:solidFill>
                  <a:srgbClr val="FF0000"/>
                </a:solidFill>
              </a:rPr>
              <a:t>程序</a:t>
            </a:r>
            <a:r>
              <a:rPr lang="en-US" altLang="zh-CN" sz="2400" b="1" dirty="0">
                <a:solidFill>
                  <a:srgbClr val="FF0000"/>
                </a:solidFill>
              </a:rPr>
              <a:t>A</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a:t>
            </a:r>
          </a:p>
          <a:p>
            <a:pPr eaLnBrk="1" hangingPunct="1">
              <a:lnSpc>
                <a:spcPct val="150000"/>
              </a:lnSpc>
              <a:defRPr/>
            </a:pPr>
            <a:r>
              <a:rPr lang="en-US" altLang="zh-CN" sz="2400" b="1" dirty="0">
                <a:solidFill>
                  <a:schemeClr val="accent1">
                    <a:lumMod val="60000"/>
                    <a:lumOff val="40000"/>
                  </a:schemeClr>
                </a:solidFill>
              </a:rPr>
              <a:t>N:=N+1;</a:t>
            </a:r>
          </a:p>
          <a:p>
            <a:pPr eaLnBrk="1" hangingPunct="1">
              <a:lnSpc>
                <a:spcPct val="150000"/>
              </a:lnSpc>
              <a:defRPr/>
            </a:pPr>
            <a:r>
              <a:rPr lang="en-US" altLang="zh-CN" sz="2400" b="1" dirty="0">
                <a:solidFill>
                  <a:schemeClr val="accent1">
                    <a:lumMod val="60000"/>
                    <a:lumOff val="40000"/>
                  </a:schemeClr>
                </a:solidFill>
              </a:rPr>
              <a:t>…</a:t>
            </a:r>
            <a:endParaRPr lang="zh-CN" altLang="en-US" sz="2400" b="1" dirty="0">
              <a:solidFill>
                <a:schemeClr val="accent1">
                  <a:lumMod val="60000"/>
                  <a:lumOff val="40000"/>
                </a:schemeClr>
              </a:solidFill>
            </a:endParaRPr>
          </a:p>
        </p:txBody>
      </p:sp>
      <p:sp>
        <p:nvSpPr>
          <p:cNvPr id="30" name="TextBox 5"/>
          <p:cNvSpPr txBox="1"/>
          <p:nvPr/>
        </p:nvSpPr>
        <p:spPr>
          <a:xfrm>
            <a:off x="773648" y="3806829"/>
            <a:ext cx="1643063" cy="2239844"/>
          </a:xfrm>
          <a:prstGeom prst="rect">
            <a:avLst/>
          </a:prstGeom>
          <a:noFill/>
        </p:spPr>
        <p:txBody>
          <a:bodyPr>
            <a:spAutoFit/>
          </a:bodyPr>
          <a:lstStyle/>
          <a:p>
            <a:pPr eaLnBrk="1" hangingPunct="1">
              <a:lnSpc>
                <a:spcPct val="150000"/>
              </a:lnSpc>
              <a:defRPr/>
            </a:pPr>
            <a:r>
              <a:rPr lang="zh-CN" altLang="en-US" sz="2400" b="1" dirty="0">
                <a:solidFill>
                  <a:srgbClr val="FF0000"/>
                </a:solidFill>
              </a:rPr>
              <a:t>程序</a:t>
            </a:r>
            <a:r>
              <a:rPr lang="en-US" altLang="zh-CN" sz="2400" b="1" dirty="0">
                <a:solidFill>
                  <a:srgbClr val="FF0000"/>
                </a:solidFill>
              </a:rPr>
              <a:t>B</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a:t>
            </a:r>
          </a:p>
          <a:p>
            <a:pPr eaLnBrk="1" hangingPunct="1">
              <a:lnSpc>
                <a:spcPct val="150000"/>
              </a:lnSpc>
              <a:defRPr/>
            </a:pPr>
            <a:r>
              <a:rPr lang="en-US" altLang="zh-CN" sz="2400" b="1" dirty="0">
                <a:solidFill>
                  <a:schemeClr val="accent1">
                    <a:lumMod val="60000"/>
                    <a:lumOff val="40000"/>
                  </a:schemeClr>
                </a:solidFill>
              </a:rPr>
              <a:t>print(N);</a:t>
            </a:r>
          </a:p>
          <a:p>
            <a:pPr eaLnBrk="1" hangingPunct="1">
              <a:lnSpc>
                <a:spcPct val="150000"/>
              </a:lnSpc>
              <a:defRPr/>
            </a:pPr>
            <a:r>
              <a:rPr lang="en-US" altLang="zh-CN" sz="2400" b="1" dirty="0">
                <a:solidFill>
                  <a:schemeClr val="accent1">
                    <a:lumMod val="60000"/>
                    <a:lumOff val="40000"/>
                  </a:schemeClr>
                </a:solidFill>
              </a:rPr>
              <a:t>N:=0;</a:t>
            </a:r>
          </a:p>
        </p:txBody>
      </p:sp>
      <p:sp>
        <p:nvSpPr>
          <p:cNvPr id="32" name="文本框 31"/>
          <p:cNvSpPr txBox="1"/>
          <p:nvPr/>
        </p:nvSpPr>
        <p:spPr>
          <a:xfrm>
            <a:off x="2704565" y="1418098"/>
            <a:ext cx="9156878" cy="4647426"/>
          </a:xfrm>
          <a:prstGeom prst="rect">
            <a:avLst/>
          </a:prstGeom>
          <a:noFill/>
        </p:spPr>
        <p:txBody>
          <a:bodyPr wrap="square" rtlCol="0">
            <a:spAutoFit/>
          </a:bodyPr>
          <a:lstStyle/>
          <a:p>
            <a:pPr>
              <a:lnSpc>
                <a:spcPct val="150000"/>
              </a:lnSpc>
            </a:pPr>
            <a:r>
              <a:rPr lang="zh-CN" altLang="en-US" sz="2400" dirty="0"/>
              <a:t>循环程序</a:t>
            </a:r>
            <a:r>
              <a:rPr lang="en-US" altLang="zh-CN" sz="2400" dirty="0"/>
              <a:t>A</a:t>
            </a:r>
            <a:r>
              <a:rPr lang="zh-CN" altLang="en-US" sz="2400" dirty="0"/>
              <a:t>和</a:t>
            </a:r>
            <a:r>
              <a:rPr lang="en-US" altLang="zh-CN" sz="2400" dirty="0"/>
              <a:t>B</a:t>
            </a:r>
            <a:r>
              <a:rPr lang="zh-CN" altLang="en-US" sz="2400" dirty="0">
                <a:solidFill>
                  <a:srgbClr val="FF0000"/>
                </a:solidFill>
              </a:rPr>
              <a:t>共享一个变量</a:t>
            </a:r>
            <a:r>
              <a:rPr lang="en-US" altLang="zh-CN" sz="2400" dirty="0">
                <a:solidFill>
                  <a:srgbClr val="FF0000"/>
                </a:solidFill>
              </a:rPr>
              <a:t>N</a:t>
            </a:r>
            <a:r>
              <a:rPr lang="zh-CN" altLang="en-US" sz="2400" dirty="0"/>
              <a:t>，他们以不同的速度运行。</a:t>
            </a:r>
            <a:r>
              <a:rPr lang="en-US" altLang="zh-CN" sz="2400" dirty="0"/>
              <a:t>(</a:t>
            </a:r>
            <a:r>
              <a:rPr lang="zh-CN" altLang="en-US" sz="2400" dirty="0"/>
              <a:t>假定某时刻变量</a:t>
            </a:r>
            <a:r>
              <a:rPr lang="en-US" altLang="zh-CN" sz="2400" dirty="0"/>
              <a:t>N</a:t>
            </a:r>
            <a:r>
              <a:rPr lang="zh-CN" altLang="en-US" sz="2400" dirty="0"/>
              <a:t>的值为</a:t>
            </a:r>
            <a:r>
              <a:rPr lang="en-US" altLang="zh-CN" sz="2400" dirty="0"/>
              <a:t>n</a:t>
            </a:r>
            <a:r>
              <a:rPr lang="zh-CN" altLang="en-US" sz="2400" dirty="0"/>
              <a:t>）。</a:t>
            </a:r>
            <a:endParaRPr lang="en-US" altLang="zh-CN" sz="2400" dirty="0"/>
          </a:p>
          <a:p>
            <a:pPr>
              <a:lnSpc>
                <a:spcPct val="150000"/>
              </a:lnSpc>
            </a:pPr>
            <a:endParaRPr lang="zh-CN" altLang="en-US" sz="2400" dirty="0"/>
          </a:p>
          <a:p>
            <a:pPr marL="342900" indent="-342900" algn="just">
              <a:lnSpc>
                <a:spcPct val="150000"/>
              </a:lnSpc>
              <a:spcAft>
                <a:spcPts val="600"/>
              </a:spcAft>
              <a:buClr>
                <a:srgbClr val="FF0000"/>
              </a:buClr>
              <a:buFont typeface="Wingdings" panose="05000000000000000000" pitchFamily="2" charset="2"/>
              <a:buChar char="Ø"/>
            </a:pPr>
            <a:r>
              <a:rPr lang="en-US" altLang="zh-CN" sz="2200" dirty="0">
                <a:latin typeface="+mn-ea"/>
              </a:rPr>
              <a:t>N:=N+1  </a:t>
            </a:r>
            <a:r>
              <a:rPr lang="zh-CN" altLang="en-US" sz="2200" dirty="0">
                <a:latin typeface="+mn-ea"/>
              </a:rPr>
              <a:t>在</a:t>
            </a:r>
            <a:r>
              <a:rPr lang="en-US" altLang="zh-CN" sz="2200" dirty="0">
                <a:latin typeface="+mn-ea"/>
              </a:rPr>
              <a:t>print(N)</a:t>
            </a:r>
            <a:r>
              <a:rPr lang="zh-CN" altLang="en-US" sz="2200" dirty="0">
                <a:latin typeface="+mn-ea"/>
              </a:rPr>
              <a:t>和</a:t>
            </a:r>
            <a:r>
              <a:rPr lang="en-US" altLang="zh-CN" sz="2200" dirty="0">
                <a:latin typeface="+mn-ea"/>
              </a:rPr>
              <a:t>N:=0</a:t>
            </a:r>
            <a:r>
              <a:rPr lang="zh-CN" altLang="en-US" sz="2200" dirty="0">
                <a:latin typeface="+mn-ea"/>
              </a:rPr>
              <a:t>之前，此时得到的</a:t>
            </a:r>
            <a:r>
              <a:rPr lang="en-US" altLang="zh-CN" sz="2200" dirty="0">
                <a:latin typeface="+mn-ea"/>
              </a:rPr>
              <a:t>N</a:t>
            </a:r>
            <a:r>
              <a:rPr lang="zh-CN" altLang="en-US" sz="2200" dirty="0">
                <a:latin typeface="+mn-ea"/>
              </a:rPr>
              <a:t>值分别为</a:t>
            </a:r>
            <a:r>
              <a:rPr lang="en-US" altLang="zh-CN" sz="2200" dirty="0">
                <a:latin typeface="+mn-ea"/>
              </a:rPr>
              <a:t>n+1,n+1,0</a:t>
            </a:r>
          </a:p>
          <a:p>
            <a:pPr marL="342900" indent="-342900" algn="just">
              <a:lnSpc>
                <a:spcPct val="150000"/>
              </a:lnSpc>
              <a:spcAft>
                <a:spcPts val="600"/>
              </a:spcAft>
              <a:buClr>
                <a:srgbClr val="FF0000"/>
              </a:buClr>
              <a:buFont typeface="Wingdings" panose="05000000000000000000" pitchFamily="2" charset="2"/>
              <a:buChar char="Ø"/>
            </a:pPr>
            <a:r>
              <a:rPr lang="en-US" altLang="zh-CN" sz="2200" dirty="0">
                <a:latin typeface="+mn-ea"/>
              </a:rPr>
              <a:t>N:=N+1  </a:t>
            </a:r>
            <a:r>
              <a:rPr lang="zh-CN" altLang="en-US" sz="2200" dirty="0">
                <a:latin typeface="+mn-ea"/>
              </a:rPr>
              <a:t>在</a:t>
            </a:r>
            <a:r>
              <a:rPr lang="en-US" altLang="zh-CN" sz="2200" dirty="0">
                <a:latin typeface="+mn-ea"/>
              </a:rPr>
              <a:t>print(N)</a:t>
            </a:r>
            <a:r>
              <a:rPr lang="zh-CN" altLang="en-US" sz="2200" dirty="0">
                <a:latin typeface="+mn-ea"/>
              </a:rPr>
              <a:t>和</a:t>
            </a:r>
            <a:r>
              <a:rPr lang="en-US" altLang="zh-CN" sz="2200" dirty="0">
                <a:latin typeface="+mn-ea"/>
              </a:rPr>
              <a:t>N:=0</a:t>
            </a:r>
            <a:r>
              <a:rPr lang="zh-CN" altLang="en-US" sz="2200" dirty="0">
                <a:latin typeface="+mn-ea"/>
              </a:rPr>
              <a:t>之后，此时得到的</a:t>
            </a:r>
            <a:r>
              <a:rPr lang="en-US" altLang="zh-CN" sz="2200" dirty="0">
                <a:latin typeface="+mn-ea"/>
              </a:rPr>
              <a:t>N</a:t>
            </a:r>
            <a:r>
              <a:rPr lang="zh-CN" altLang="en-US" sz="2200" dirty="0">
                <a:latin typeface="+mn-ea"/>
              </a:rPr>
              <a:t>值分别为</a:t>
            </a:r>
            <a:r>
              <a:rPr lang="en-US" altLang="zh-CN" sz="2200" dirty="0">
                <a:latin typeface="+mn-ea"/>
              </a:rPr>
              <a:t>n, 0 , 1</a:t>
            </a:r>
          </a:p>
          <a:p>
            <a:pPr marL="342900" indent="-342900" algn="just">
              <a:lnSpc>
                <a:spcPct val="150000"/>
              </a:lnSpc>
              <a:spcAft>
                <a:spcPts val="600"/>
              </a:spcAft>
              <a:buClr>
                <a:srgbClr val="FF0000"/>
              </a:buClr>
              <a:buFont typeface="Wingdings" panose="05000000000000000000" pitchFamily="2" charset="2"/>
              <a:buChar char="Ø"/>
            </a:pPr>
            <a:r>
              <a:rPr lang="en-US" altLang="zh-CN" sz="2200" dirty="0">
                <a:latin typeface="+mn-ea"/>
              </a:rPr>
              <a:t>N:=N+1  </a:t>
            </a:r>
            <a:r>
              <a:rPr lang="zh-CN" altLang="en-US" sz="2200" dirty="0">
                <a:latin typeface="+mn-ea"/>
              </a:rPr>
              <a:t>在</a:t>
            </a:r>
            <a:r>
              <a:rPr lang="en-US" altLang="zh-CN" sz="2200" dirty="0">
                <a:latin typeface="+mn-ea"/>
              </a:rPr>
              <a:t>print(N)</a:t>
            </a:r>
            <a:r>
              <a:rPr lang="zh-CN" altLang="en-US" sz="2200" dirty="0">
                <a:latin typeface="+mn-ea"/>
              </a:rPr>
              <a:t>和</a:t>
            </a:r>
            <a:r>
              <a:rPr lang="en-US" altLang="zh-CN" sz="2200" dirty="0">
                <a:latin typeface="+mn-ea"/>
              </a:rPr>
              <a:t>N:=0</a:t>
            </a:r>
            <a:r>
              <a:rPr lang="zh-CN" altLang="en-US" sz="2200" dirty="0">
                <a:latin typeface="+mn-ea"/>
              </a:rPr>
              <a:t>之间，此时得到的</a:t>
            </a:r>
            <a:r>
              <a:rPr lang="en-US" altLang="zh-CN" sz="2200" dirty="0">
                <a:latin typeface="+mn-ea"/>
              </a:rPr>
              <a:t>N</a:t>
            </a:r>
            <a:r>
              <a:rPr lang="zh-CN" altLang="en-US" sz="2200" dirty="0">
                <a:latin typeface="+mn-ea"/>
              </a:rPr>
              <a:t>值分别为</a:t>
            </a:r>
            <a:r>
              <a:rPr lang="en-US" altLang="zh-CN" sz="2200" dirty="0">
                <a:latin typeface="+mn-ea"/>
              </a:rPr>
              <a:t>n,n+1,0</a:t>
            </a:r>
          </a:p>
          <a:p>
            <a:pPr algn="just">
              <a:lnSpc>
                <a:spcPct val="150000"/>
              </a:lnSpc>
              <a:spcAft>
                <a:spcPts val="600"/>
              </a:spcAft>
              <a:buClr>
                <a:srgbClr val="FF0000"/>
              </a:buClr>
            </a:pPr>
            <a:endParaRPr lang="en-US" altLang="zh-CN" sz="2200" dirty="0">
              <a:latin typeface="+mn-ea"/>
            </a:endParaRPr>
          </a:p>
          <a:p>
            <a:pPr algn="just">
              <a:lnSpc>
                <a:spcPct val="150000"/>
              </a:lnSpc>
              <a:spcAft>
                <a:spcPts val="600"/>
              </a:spcAft>
            </a:pPr>
            <a:r>
              <a:rPr lang="zh-CN" altLang="en-US" sz="2400" dirty="0">
                <a:solidFill>
                  <a:srgbClr val="FF0000"/>
                </a:solidFill>
                <a:latin typeface="+mn-ea"/>
              </a:rPr>
              <a:t>结论：失去了可再现性。</a:t>
            </a:r>
            <a:endParaRPr lang="zh-CN" altLang="en-US" sz="2200" dirty="0">
              <a:latin typeface="+mn-ea"/>
            </a:endParaRPr>
          </a:p>
        </p:txBody>
      </p:sp>
      <p:cxnSp>
        <p:nvCxnSpPr>
          <p:cNvPr id="3" name="直接连接符 2"/>
          <p:cNvCxnSpPr/>
          <p:nvPr/>
        </p:nvCxnSpPr>
        <p:spPr>
          <a:xfrm>
            <a:off x="2807594" y="2871989"/>
            <a:ext cx="8757634"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2704565" y="5228823"/>
            <a:ext cx="8757634"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42415" y="1246505"/>
            <a:ext cx="4426585" cy="962660"/>
          </a:xfrm>
          <a:prstGeom prst="rect">
            <a:avLst/>
          </a:prstGeom>
          <a:noFill/>
        </p:spPr>
        <p:txBody>
          <a:bodyPr wrap="square" rtlCol="0">
            <a:noAutofit/>
          </a:bodyPr>
          <a:lstStyle/>
          <a:p>
            <a:r>
              <a:rPr lang="zh-CN" altLang="en-US" sz="2400"/>
              <a:t>问题</a:t>
            </a:r>
            <a:r>
              <a:rPr lang="en-US" altLang="zh-CN" sz="2400"/>
              <a:t>1</a:t>
            </a:r>
            <a:r>
              <a:rPr lang="zh-CN" altLang="en-US" sz="2400"/>
              <a:t>：什么是前驱图？</a:t>
            </a:r>
          </a:p>
        </p:txBody>
      </p:sp>
      <p:sp>
        <p:nvSpPr>
          <p:cNvPr id="4" name="文本框 3"/>
          <p:cNvSpPr txBox="1"/>
          <p:nvPr/>
        </p:nvSpPr>
        <p:spPr>
          <a:xfrm>
            <a:off x="1542415" y="3099435"/>
            <a:ext cx="7611110" cy="659765"/>
          </a:xfrm>
          <a:prstGeom prst="rect">
            <a:avLst/>
          </a:prstGeom>
          <a:noFill/>
        </p:spPr>
        <p:txBody>
          <a:bodyPr wrap="square" rtlCol="0">
            <a:noAutofit/>
          </a:bodyPr>
          <a:lstStyle/>
          <a:p>
            <a:r>
              <a:rPr lang="zh-CN" altLang="en-US" sz="2400"/>
              <a:t>问题</a:t>
            </a:r>
            <a:r>
              <a:rPr lang="en-US" altLang="zh-CN" sz="2400"/>
              <a:t>2</a:t>
            </a:r>
            <a:r>
              <a:rPr lang="zh-CN" altLang="en-US" sz="2400"/>
              <a:t>：程序并发执行的特征：间断性、失去封闭性、不可再现性。各指的什么意思？</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solidFill>
                  <a:srgbClr val="0000FF"/>
                </a:solidFill>
                <a:latin typeface="+mj-ea"/>
              </a:rPr>
              <a:t>2.2 </a:t>
            </a:r>
            <a:r>
              <a:rPr lang="zh-CN" altLang="en-US" sz="2400" dirty="0">
                <a:solidFill>
                  <a:srgbClr val="0000FF"/>
                </a:solidFill>
                <a:latin typeface="+mj-ea"/>
              </a:rPr>
              <a:t>进程的描述</a:t>
            </a: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17750" y="1209675"/>
            <a:ext cx="4064000" cy="460375"/>
          </a:xfrm>
          <a:prstGeom prst="rect">
            <a:avLst/>
          </a:prstGeom>
          <a:noFill/>
        </p:spPr>
        <p:txBody>
          <a:bodyPr wrap="square" rtlCol="0">
            <a:spAutoFit/>
          </a:bodyPr>
          <a:lstStyle/>
          <a:p>
            <a:r>
              <a:rPr lang="zh-CN" altLang="en-US" sz="2400"/>
              <a:t>问题</a:t>
            </a:r>
            <a:r>
              <a:rPr lang="en-US" altLang="zh-CN" sz="2400"/>
              <a:t>1.</a:t>
            </a:r>
            <a:r>
              <a:rPr lang="zh-CN" altLang="en-US" sz="2400"/>
              <a:t>进程的概念。</a:t>
            </a:r>
          </a:p>
        </p:txBody>
      </p:sp>
      <p:sp>
        <p:nvSpPr>
          <p:cNvPr id="3" name="文本框 2"/>
          <p:cNvSpPr txBox="1"/>
          <p:nvPr/>
        </p:nvSpPr>
        <p:spPr>
          <a:xfrm>
            <a:off x="2317750" y="2330450"/>
            <a:ext cx="8224520" cy="460375"/>
          </a:xfrm>
          <a:prstGeom prst="rect">
            <a:avLst/>
          </a:prstGeom>
          <a:noFill/>
        </p:spPr>
        <p:txBody>
          <a:bodyPr wrap="square" rtlCol="0">
            <a:spAutoFit/>
          </a:bodyPr>
          <a:lstStyle/>
          <a:p>
            <a:r>
              <a:rPr lang="zh-CN" altLang="en-US" sz="2400"/>
              <a:t>问题</a:t>
            </a:r>
            <a:r>
              <a:rPr lang="en-US" altLang="zh-CN" sz="2400"/>
              <a:t>2.</a:t>
            </a:r>
            <a:r>
              <a:rPr lang="zh-CN" altLang="en-US" sz="2400"/>
              <a:t>进程的特征：动态性、并发性、独立性、异步性。</a:t>
            </a:r>
          </a:p>
        </p:txBody>
      </p:sp>
      <p:sp>
        <p:nvSpPr>
          <p:cNvPr id="4" name="文本框 3"/>
          <p:cNvSpPr txBox="1"/>
          <p:nvPr/>
        </p:nvSpPr>
        <p:spPr>
          <a:xfrm>
            <a:off x="2317750" y="3681730"/>
            <a:ext cx="7641590" cy="828675"/>
          </a:xfrm>
          <a:prstGeom prst="rect">
            <a:avLst/>
          </a:prstGeom>
          <a:noFill/>
        </p:spPr>
        <p:txBody>
          <a:bodyPr wrap="square" rtlCol="0">
            <a:noAutofit/>
          </a:bodyPr>
          <a:lstStyle/>
          <a:p>
            <a:r>
              <a:rPr lang="zh-CN" altLang="en-US" sz="2400"/>
              <a:t>问题</a:t>
            </a:r>
            <a:r>
              <a:rPr lang="en-US" altLang="zh-CN" sz="2400"/>
              <a:t>3.</a:t>
            </a:r>
            <a:r>
              <a:rPr lang="zh-CN" altLang="en-US" sz="2400"/>
              <a:t>进程控制块的作用，包含哪些内容？</a:t>
            </a:r>
          </a:p>
        </p:txBody>
      </p:sp>
      <p:sp>
        <p:nvSpPr>
          <p:cNvPr id="5" name="文本框 4"/>
          <p:cNvSpPr txBox="1"/>
          <p:nvPr/>
        </p:nvSpPr>
        <p:spPr>
          <a:xfrm>
            <a:off x="2317750" y="4909820"/>
            <a:ext cx="4064000" cy="460375"/>
          </a:xfrm>
          <a:prstGeom prst="rect">
            <a:avLst/>
          </a:prstGeom>
          <a:noFill/>
        </p:spPr>
        <p:txBody>
          <a:bodyPr wrap="square" rtlCol="0">
            <a:spAutoFit/>
          </a:bodyPr>
          <a:lstStyle/>
          <a:p>
            <a:r>
              <a:rPr lang="zh-CN" altLang="en-US" sz="2400"/>
              <a:t>问题</a:t>
            </a:r>
            <a:r>
              <a:rPr lang="en-US" altLang="zh-CN" sz="2400"/>
              <a:t>4.</a:t>
            </a:r>
            <a:r>
              <a:rPr lang="zh-CN" altLang="en-US" sz="2400"/>
              <a:t>进程的三种组织方式。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进程的定义和特征</a:t>
            </a:r>
          </a:p>
        </p:txBody>
      </p:sp>
      <p:sp>
        <p:nvSpPr>
          <p:cNvPr id="29" name="íšḻîḋè"/>
          <p:cNvSpPr/>
          <p:nvPr/>
        </p:nvSpPr>
        <p:spPr>
          <a:xfrm>
            <a:off x="2301558" y="4113347"/>
            <a:ext cx="8573370" cy="847084"/>
          </a:xfrm>
          <a:prstGeom prst="rect">
            <a:avLst/>
          </a:prstGeom>
          <a:noFill/>
          <a:ln>
            <a:noFill/>
          </a:ln>
        </p:spPr>
        <p:txBody>
          <a:bodyPr wrap="square" lIns="91440" tIns="45720" rIns="91440" bIns="45720" anchor="t" anchorCtr="0">
            <a:normAutofit lnSpcReduction="10000"/>
          </a:bodyPr>
          <a:lstStyle/>
          <a:p>
            <a:pPr marL="342900" indent="-342900">
              <a:lnSpc>
                <a:spcPct val="120000"/>
              </a:lnSpc>
              <a:buClr>
                <a:srgbClr val="FF0000"/>
              </a:buClr>
              <a:buFont typeface="Wingdings" panose="05000000000000000000" pitchFamily="2" charset="2"/>
              <a:buChar char="Ø"/>
            </a:pPr>
            <a:r>
              <a:rPr lang="zh-CN" altLang="en-US" sz="2200" dirty="0"/>
              <a:t>进程是进程实体的运行过程，是系统进行资源分配和调度的一个独立单位。</a:t>
            </a:r>
          </a:p>
        </p:txBody>
      </p:sp>
      <p:sp>
        <p:nvSpPr>
          <p:cNvPr id="30" name="i$lîďê"/>
          <p:cNvSpPr/>
          <p:nvPr/>
        </p:nvSpPr>
        <p:spPr>
          <a:xfrm>
            <a:off x="2301558" y="3634262"/>
            <a:ext cx="3696051" cy="392877"/>
          </a:xfrm>
          <a:prstGeom prst="rect">
            <a:avLst/>
          </a:prstGeom>
          <a:noFill/>
          <a:ln>
            <a:noFill/>
          </a:ln>
        </p:spPr>
        <p:txBody>
          <a:bodyPr wrap="square" lIns="91440" tIns="45720" rIns="91440" bIns="45720" anchor="ctr" anchorCtr="0">
            <a:noAutofit/>
          </a:bodyPr>
          <a:lstStyle/>
          <a:p>
            <a:r>
              <a:rPr lang="zh-CN" altLang="en-US" sz="2400" dirty="0"/>
              <a:t>进程</a:t>
            </a:r>
            <a:r>
              <a:rPr lang="zh-CN" altLang="en-US" sz="2400" dirty="0">
                <a:solidFill>
                  <a:srgbClr val="0000FF"/>
                </a:solidFill>
              </a:rPr>
              <a:t>定义：</a:t>
            </a:r>
          </a:p>
        </p:txBody>
      </p:sp>
      <p:sp>
        <p:nvSpPr>
          <p:cNvPr id="32" name="î$ļíḋè"/>
          <p:cNvSpPr/>
          <p:nvPr/>
        </p:nvSpPr>
        <p:spPr>
          <a:xfrm>
            <a:off x="2929255" y="5712460"/>
            <a:ext cx="8430895" cy="52387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solidFill>
                  <a:srgbClr val="FF0000"/>
                </a:solidFill>
              </a:rPr>
              <a:t>系统生成</a:t>
            </a:r>
            <a:r>
              <a:rPr lang="zh-CN" altLang="en-US" sz="2200" dirty="0"/>
              <a:t>的一种专门的数据结构，每个</a:t>
            </a:r>
            <a:r>
              <a:rPr lang="en-US" altLang="zh-CN" sz="2200" dirty="0"/>
              <a:t>PCB</a:t>
            </a:r>
            <a:r>
              <a:rPr lang="zh-CN" altLang="en-US" sz="2200" dirty="0"/>
              <a:t>与进程一一对应。</a:t>
            </a:r>
          </a:p>
        </p:txBody>
      </p:sp>
      <p:sp>
        <p:nvSpPr>
          <p:cNvPr id="33" name="ïṧḷïḋè"/>
          <p:cNvSpPr/>
          <p:nvPr/>
        </p:nvSpPr>
        <p:spPr>
          <a:xfrm>
            <a:off x="2929427" y="5199697"/>
            <a:ext cx="5952809"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进程控制块</a:t>
            </a:r>
            <a:r>
              <a:rPr lang="en-US" altLang="zh-CN" sz="2400" dirty="0"/>
              <a:t>(process control block, </a:t>
            </a:r>
            <a:r>
              <a:rPr lang="en-US" altLang="zh-CN" sz="2400" dirty="0">
                <a:solidFill>
                  <a:srgbClr val="0000FF"/>
                </a:solidFill>
              </a:rPr>
              <a:t>PCB</a:t>
            </a:r>
            <a:r>
              <a:rPr lang="en-US" altLang="zh-CN" sz="2400" dirty="0"/>
              <a:t>) </a:t>
            </a:r>
          </a:p>
        </p:txBody>
      </p:sp>
      <p:sp>
        <p:nvSpPr>
          <p:cNvPr id="34" name="îs1iďé"/>
          <p:cNvSpPr/>
          <p:nvPr/>
        </p:nvSpPr>
        <p:spPr>
          <a:xfrm>
            <a:off x="1673691" y="1800886"/>
            <a:ext cx="10007447" cy="1733214"/>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进程是程序的一次执行。</a:t>
            </a:r>
          </a:p>
          <a:p>
            <a:pPr marL="342900" indent="-342900">
              <a:lnSpc>
                <a:spcPct val="120000"/>
              </a:lnSpc>
              <a:buClr>
                <a:srgbClr val="FF0000"/>
              </a:buClr>
              <a:buFont typeface="Wingdings" panose="05000000000000000000" pitchFamily="2" charset="2"/>
              <a:buChar char="Ø"/>
            </a:pPr>
            <a:r>
              <a:rPr lang="zh-CN" altLang="en-US" sz="2200" dirty="0"/>
              <a:t>进程是一个程序及其数据在处理机上顺序执行时所发生的活动。</a:t>
            </a:r>
          </a:p>
          <a:p>
            <a:pPr marL="342900" indent="-342900">
              <a:lnSpc>
                <a:spcPct val="120000"/>
              </a:lnSpc>
              <a:buClr>
                <a:srgbClr val="FF0000"/>
              </a:buClr>
              <a:buFont typeface="Wingdings" panose="05000000000000000000" pitchFamily="2" charset="2"/>
              <a:buChar char="Ø"/>
            </a:pPr>
            <a:r>
              <a:rPr lang="zh-CN" altLang="en-US" sz="2200" dirty="0"/>
              <a:t>进程是程序在一个数据集合上运行的过程，它是系统进行资源分配和调度的一个独立单位。</a:t>
            </a:r>
          </a:p>
        </p:txBody>
      </p:sp>
      <p:sp>
        <p:nvSpPr>
          <p:cNvPr id="35" name="íšḻíḑê"/>
          <p:cNvSpPr/>
          <p:nvPr/>
        </p:nvSpPr>
        <p:spPr>
          <a:xfrm>
            <a:off x="1673692" y="1305350"/>
            <a:ext cx="3696051" cy="405747"/>
          </a:xfrm>
          <a:prstGeom prst="rect">
            <a:avLst/>
          </a:prstGeom>
          <a:noFill/>
          <a:ln>
            <a:noFill/>
          </a:ln>
        </p:spPr>
        <p:txBody>
          <a:bodyPr wrap="square" lIns="91440" tIns="45720" rIns="91440" bIns="45720" anchor="ctr" anchorCtr="0">
            <a:noAutofit/>
          </a:bodyPr>
          <a:lstStyle/>
          <a:p>
            <a:r>
              <a:rPr lang="zh-CN" altLang="en-US" sz="2400" dirty="0"/>
              <a:t>几种典型定义</a:t>
            </a:r>
          </a:p>
        </p:txBody>
      </p:sp>
      <p:sp>
        <p:nvSpPr>
          <p:cNvPr id="36" name="îSļiḓè"/>
          <p:cNvSpPr/>
          <p:nvPr/>
        </p:nvSpPr>
        <p:spPr>
          <a:xfrm>
            <a:off x="990189" y="1291788"/>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7" name="íṥḻîḓe"/>
          <p:cNvSpPr/>
          <p:nvPr/>
        </p:nvSpPr>
        <p:spPr>
          <a:xfrm>
            <a:off x="2245923" y="5117095"/>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8" name="îşļiḓè"/>
          <p:cNvSpPr/>
          <p:nvPr/>
        </p:nvSpPr>
        <p:spPr>
          <a:xfrm>
            <a:off x="1618056" y="3623889"/>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9" name="îṡḷíďe"/>
          <p:cNvSpPr/>
          <p:nvPr/>
        </p:nvSpPr>
        <p:spPr>
          <a:xfrm>
            <a:off x="1180444" y="148792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41" name="íSlíḋe"/>
          <p:cNvSpPr/>
          <p:nvPr/>
        </p:nvSpPr>
        <p:spPr>
          <a:xfrm>
            <a:off x="1808310" y="384590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42" name="ïśḷïḓe"/>
          <p:cNvSpPr/>
          <p:nvPr/>
        </p:nvSpPr>
        <p:spPr>
          <a:xfrm>
            <a:off x="2465116" y="5306555"/>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进程例子： </a:t>
            </a:r>
            <a:r>
              <a:rPr lang="en-US" altLang="zh-CN" sz="2800" b="1" dirty="0">
                <a:solidFill>
                  <a:schemeClr val="bg1"/>
                </a:solidFill>
              </a:rPr>
              <a:t>Windows XP</a:t>
            </a:r>
            <a:endParaRPr lang="zh-CN" altLang="en-US" sz="2800" b="1" dirty="0">
              <a:solidFill>
                <a:schemeClr val="bg1"/>
              </a:solidFill>
            </a:endParaRPr>
          </a:p>
        </p:txBody>
      </p:sp>
      <p:graphicFrame>
        <p:nvGraphicFramePr>
          <p:cNvPr id="16387" name="Object 2"/>
          <p:cNvGraphicFramePr>
            <a:graphicFrameLocks noGrp="1" noChangeAspect="1"/>
          </p:cNvGraphicFramePr>
          <p:nvPr>
            <p:ph idx="1"/>
          </p:nvPr>
        </p:nvGraphicFramePr>
        <p:xfrm>
          <a:off x="3282315" y="1348105"/>
          <a:ext cx="5628005" cy="4440555"/>
        </p:xfrm>
        <a:graphic>
          <a:graphicData uri="http://schemas.openxmlformats.org/presentationml/2006/ole">
            <mc:AlternateContent xmlns:mc="http://schemas.openxmlformats.org/markup-compatibility/2006">
              <mc:Choice xmlns:v="urn:schemas-microsoft-com:vml" Requires="v">
                <p:oleObj name="位图图像" r:id="rId2" imgW="3848100" imgH="4048125" progId="Paint.Picture">
                  <p:embed/>
                </p:oleObj>
              </mc:Choice>
              <mc:Fallback>
                <p:oleObj name="位图图像" r:id="rId2" imgW="3848100" imgH="4048125" progId="Paint.Picture">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2315" y="1348105"/>
                        <a:ext cx="5628005" cy="44405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进程的特征</a:t>
            </a:r>
          </a:p>
        </p:txBody>
      </p:sp>
      <p:grpSp>
        <p:nvGrpSpPr>
          <p:cNvPr id="2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94005" y="1426845"/>
            <a:ext cx="11261090" cy="4537075"/>
            <a:chOff x="438850" y="1182261"/>
            <a:chExt cx="11261085" cy="4430595"/>
          </a:xfrm>
        </p:grpSpPr>
        <p:sp>
          <p:nvSpPr>
            <p:cNvPr id="30"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2"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3"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4"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5"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6" name="ï$1iḍe"/>
            <p:cNvSpPr txBox="1"/>
            <p:nvPr/>
          </p:nvSpPr>
          <p:spPr>
            <a:xfrm>
              <a:off x="438850" y="1198862"/>
              <a:ext cx="3462555" cy="392512"/>
            </a:xfrm>
            <a:prstGeom prst="rect">
              <a:avLst/>
            </a:prstGeom>
            <a:noFill/>
            <a:ln>
              <a:noFill/>
            </a:ln>
          </p:spPr>
          <p:txBody>
            <a:bodyPr wrap="square" lIns="91440" tIns="45720" rIns="91440" bIns="45720" anchor="t" anchorCtr="0">
              <a:noAutofit/>
            </a:bodyPr>
            <a:lstStyle/>
            <a:p>
              <a:pPr algn="ctr"/>
              <a:r>
                <a:rPr lang="zh-CN" altLang="en-US" sz="2200" b="1" dirty="0">
                  <a:solidFill>
                    <a:srgbClr val="FF0000"/>
                  </a:solidFill>
                </a:rPr>
                <a:t>动态性</a:t>
              </a:r>
              <a:r>
                <a:rPr lang="zh-CN" altLang="en-US" sz="2200" b="1" dirty="0"/>
                <a:t>（最基本的特征）</a:t>
              </a:r>
            </a:p>
            <a:p>
              <a:pPr algn="ctr"/>
              <a:r>
                <a:rPr lang="en-US" altLang="zh-CN" sz="2200" b="1" dirty="0"/>
                <a:t>(Concurrence)</a:t>
              </a:r>
            </a:p>
          </p:txBody>
        </p:sp>
        <p:sp>
          <p:nvSpPr>
            <p:cNvPr id="37" name="isľîdê"/>
            <p:cNvSpPr txBox="1"/>
            <p:nvPr/>
          </p:nvSpPr>
          <p:spPr>
            <a:xfrm>
              <a:off x="673099" y="4123968"/>
              <a:ext cx="2598408" cy="1461716"/>
            </a:xfrm>
            <a:prstGeom prst="rect">
              <a:avLst/>
            </a:prstGeom>
            <a:noFill/>
            <a:ln>
              <a:noFill/>
            </a:ln>
          </p:spPr>
          <p:txBody>
            <a:bodyPr wrap="square" lIns="91440" tIns="45720" rIns="91440" bIns="45720" anchor="t" anchorCtr="0">
              <a:noAutofit/>
            </a:bodyPr>
            <a:lstStyle/>
            <a:p>
              <a:pPr marL="342900" indent="-342900" algn="ctr">
                <a:lnSpc>
                  <a:spcPct val="120000"/>
                </a:lnSpc>
                <a:buClr>
                  <a:srgbClr val="FF0000"/>
                </a:buClr>
                <a:buFont typeface="Wingdings" panose="05000000000000000000" pitchFamily="2" charset="2"/>
                <a:buChar char="Ø"/>
              </a:pPr>
              <a:r>
                <a:rPr lang="zh-CN" altLang="en-US" sz="2200" dirty="0"/>
                <a:t>生命期</a:t>
              </a:r>
            </a:p>
          </p:txBody>
        </p:sp>
        <p:sp>
          <p:nvSpPr>
            <p:cNvPr id="38" name="íṩ1ïḑe"/>
            <p:cNvSpPr txBox="1"/>
            <p:nvPr/>
          </p:nvSpPr>
          <p:spPr>
            <a:xfrm>
              <a:off x="4201688" y="1182261"/>
              <a:ext cx="1746263" cy="392512"/>
            </a:xfrm>
            <a:prstGeom prst="rect">
              <a:avLst/>
            </a:prstGeom>
            <a:noFill/>
            <a:ln>
              <a:noFill/>
            </a:ln>
          </p:spPr>
          <p:txBody>
            <a:bodyPr wrap="square" lIns="91440" tIns="45720" rIns="91440" bIns="45720" anchor="t" anchorCtr="0">
              <a:noAutofit/>
            </a:bodyPr>
            <a:lstStyle/>
            <a:p>
              <a:pPr>
                <a:lnSpc>
                  <a:spcPct val="110000"/>
                </a:lnSpc>
              </a:pPr>
              <a:r>
                <a:rPr lang="zh-CN" altLang="en-US" sz="2400" b="1" dirty="0">
                  <a:solidFill>
                    <a:srgbClr val="FF0000"/>
                  </a:solidFill>
                </a:rPr>
                <a:t>并发性</a:t>
              </a:r>
            </a:p>
          </p:txBody>
        </p:sp>
        <p:sp>
          <p:nvSpPr>
            <p:cNvPr id="39" name="ïsḻiďê"/>
            <p:cNvSpPr txBox="1"/>
            <p:nvPr/>
          </p:nvSpPr>
          <p:spPr>
            <a:xfrm>
              <a:off x="6128736" y="1198862"/>
              <a:ext cx="2356280"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0000FF"/>
                  </a:solidFill>
                </a:rPr>
                <a:t>独立性</a:t>
              </a:r>
            </a:p>
          </p:txBody>
        </p:sp>
        <p:sp>
          <p:nvSpPr>
            <p:cNvPr id="41" name="isḷiḋé"/>
            <p:cNvSpPr txBox="1"/>
            <p:nvPr/>
          </p:nvSpPr>
          <p:spPr>
            <a:xfrm>
              <a:off x="8612913" y="1194957"/>
              <a:ext cx="3087022"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0000FF"/>
                  </a:solidFill>
                </a:rPr>
                <a:t>异步性</a:t>
              </a:r>
            </a:p>
          </p:txBody>
        </p:sp>
        <p:sp>
          <p:nvSpPr>
            <p:cNvPr id="42"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01</a:t>
              </a:r>
              <a:endParaRPr lang="zh-CN" altLang="en-US" sz="3200" b="1" i="1" dirty="0">
                <a:solidFill>
                  <a:schemeClr val="bg1"/>
                </a:solidFill>
              </a:endParaRPr>
            </a:p>
          </p:txBody>
        </p:sp>
        <p:sp>
          <p:nvSpPr>
            <p:cNvPr id="43"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02</a:t>
              </a:r>
              <a:endParaRPr lang="zh-CN" altLang="en-US" sz="3200" b="1" i="1" dirty="0">
                <a:solidFill>
                  <a:schemeClr val="bg1"/>
                </a:solidFill>
              </a:endParaRPr>
            </a:p>
          </p:txBody>
        </p:sp>
        <p:sp>
          <p:nvSpPr>
            <p:cNvPr id="44"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03</a:t>
              </a:r>
              <a:endParaRPr lang="zh-CN" altLang="en-US" sz="3200" b="1" i="1" dirty="0">
                <a:solidFill>
                  <a:schemeClr val="bg1"/>
                </a:solidFill>
              </a:endParaRPr>
            </a:p>
          </p:txBody>
        </p:sp>
        <p:sp>
          <p:nvSpPr>
            <p:cNvPr id="45"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04</a:t>
              </a:r>
              <a:endParaRPr lang="zh-CN" altLang="en-US" sz="3200" b="1" i="1" dirty="0">
                <a:solidFill>
                  <a:schemeClr val="bg1"/>
                </a:solidFill>
              </a:endParaRPr>
            </a:p>
          </p:txBody>
        </p:sp>
        <p:sp>
          <p:nvSpPr>
            <p:cNvPr id="46" name="isľîdê"/>
            <p:cNvSpPr txBox="1"/>
            <p:nvPr/>
          </p:nvSpPr>
          <p:spPr>
            <a:xfrm>
              <a:off x="3458154" y="4151140"/>
              <a:ext cx="2270544" cy="92313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一段时间内同时运行</a:t>
              </a:r>
            </a:p>
          </p:txBody>
        </p:sp>
        <p:sp>
          <p:nvSpPr>
            <p:cNvPr id="47" name="isľîdê"/>
            <p:cNvSpPr txBox="1"/>
            <p:nvPr/>
          </p:nvSpPr>
          <p:spPr>
            <a:xfrm>
              <a:off x="5728698" y="4151140"/>
              <a:ext cx="3376955"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进程实体是一个能独立运行的基本单位。</a:t>
              </a:r>
            </a:p>
            <a:p>
              <a:pPr marL="342900" indent="-342900">
                <a:lnSpc>
                  <a:spcPct val="120000"/>
                </a:lnSpc>
                <a:buClr>
                  <a:srgbClr val="0000FF"/>
                </a:buClr>
                <a:buFont typeface="Wingdings" panose="05000000000000000000" pitchFamily="2" charset="2"/>
                <a:buChar char="Ø"/>
              </a:pPr>
              <a:r>
                <a:rPr lang="zh-CN" altLang="en-US" sz="2200" dirty="0"/>
                <a:t>是系统中独立获得资源和独立调度的基本单位。</a:t>
              </a:r>
            </a:p>
          </p:txBody>
        </p:sp>
        <p:sp>
          <p:nvSpPr>
            <p:cNvPr id="48" name="isľîdê"/>
            <p:cNvSpPr txBox="1"/>
            <p:nvPr/>
          </p:nvSpPr>
          <p:spPr>
            <a:xfrm>
              <a:off x="9105653" y="4151140"/>
              <a:ext cx="2565780"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按各自独立的、不可预知的速度向前推进，不确定性。</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进程和程序的区别</a:t>
            </a:r>
          </a:p>
        </p:txBody>
      </p:sp>
      <p:grpSp>
        <p:nvGrpSpPr>
          <p:cNvPr id="29" name="21090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6" y="1922779"/>
            <a:ext cx="10848974" cy="3664978"/>
            <a:chOff x="669926" y="1922779"/>
            <a:chExt cx="10848974" cy="3664978"/>
          </a:xfrm>
        </p:grpSpPr>
        <p:cxnSp>
          <p:nvCxnSpPr>
            <p:cNvPr id="30" name="直接连接符 29"/>
            <p:cNvCxnSpPr/>
            <p:nvPr/>
          </p:nvCxnSpPr>
          <p:spPr>
            <a:xfrm flipV="1">
              <a:off x="6099535" y="2407919"/>
              <a:ext cx="0" cy="76130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595108" y="3664801"/>
              <a:ext cx="724059"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6449958" y="2339556"/>
              <a:ext cx="912050" cy="97482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flipV="1">
              <a:off x="4764529" y="2318437"/>
              <a:ext cx="984583" cy="99594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4854098" y="3664801"/>
              <a:ext cx="749865"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4796612" y="4015224"/>
              <a:ext cx="952500" cy="95682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6092466" y="4160374"/>
              <a:ext cx="7069" cy="70084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449958" y="4015224"/>
              <a:ext cx="951085" cy="95108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îśḷîde"/>
            <p:cNvSpPr/>
            <p:nvPr/>
          </p:nvSpPr>
          <p:spPr bwMode="auto">
            <a:xfrm>
              <a:off x="5661932" y="4251476"/>
              <a:ext cx="873791" cy="664534"/>
            </a:xfrm>
            <a:custGeom>
              <a:avLst/>
              <a:gdLst>
                <a:gd name="T0" fmla="*/ 647 w 647"/>
                <a:gd name="T1" fmla="*/ 413 h 492"/>
                <a:gd name="T2" fmla="*/ 647 w 647"/>
                <a:gd name="T3" fmla="*/ 413 h 492"/>
                <a:gd name="T4" fmla="*/ 0 w 647"/>
                <a:gd name="T5" fmla="*/ 415 h 492"/>
                <a:gd name="T6" fmla="*/ 153 w 647"/>
                <a:gd name="T7" fmla="*/ 1 h 492"/>
                <a:gd name="T8" fmla="*/ 492 w 647"/>
                <a:gd name="T9" fmla="*/ 0 h 492"/>
                <a:gd name="T10" fmla="*/ 492 w 647"/>
                <a:gd name="T11" fmla="*/ 0 h 492"/>
                <a:gd name="T12" fmla="*/ 647 w 647"/>
                <a:gd name="T13" fmla="*/ 413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647" y="413"/>
                  </a:moveTo>
                  <a:cubicBezTo>
                    <a:pt x="647" y="413"/>
                    <a:pt x="647" y="413"/>
                    <a:pt x="647" y="413"/>
                  </a:cubicBezTo>
                  <a:cubicBezTo>
                    <a:pt x="439" y="491"/>
                    <a:pt x="209" y="492"/>
                    <a:pt x="0" y="415"/>
                  </a:cubicBezTo>
                  <a:cubicBezTo>
                    <a:pt x="153" y="1"/>
                    <a:pt x="153" y="1"/>
                    <a:pt x="153" y="1"/>
                  </a:cubicBezTo>
                  <a:cubicBezTo>
                    <a:pt x="263" y="41"/>
                    <a:pt x="383" y="41"/>
                    <a:pt x="492" y="0"/>
                  </a:cubicBezTo>
                  <a:cubicBezTo>
                    <a:pt x="492" y="0"/>
                    <a:pt x="492" y="0"/>
                    <a:pt x="492" y="0"/>
                  </a:cubicBezTo>
                  <a:cubicBezTo>
                    <a:pt x="647" y="413"/>
                    <a:pt x="647" y="413"/>
                    <a:pt x="647" y="413"/>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41" name="îṣľiďe"/>
            <p:cNvSpPr/>
            <p:nvPr/>
          </p:nvSpPr>
          <p:spPr bwMode="auto">
            <a:xfrm>
              <a:off x="6507445" y="4046460"/>
              <a:ext cx="1303618" cy="1303617"/>
            </a:xfrm>
            <a:custGeom>
              <a:avLst/>
              <a:gdLst>
                <a:gd name="T0" fmla="*/ 277 w 966"/>
                <a:gd name="T1" fmla="*/ 966 h 966"/>
                <a:gd name="T2" fmla="*/ 0 w 966"/>
                <a:gd name="T3" fmla="*/ 362 h 966"/>
                <a:gd name="T4" fmla="*/ 360 w 966"/>
                <a:gd name="T5" fmla="*/ 0 h 966"/>
                <a:gd name="T6" fmla="*/ 966 w 966"/>
                <a:gd name="T7" fmla="*/ 275 h 966"/>
                <a:gd name="T8" fmla="*/ 277 w 966"/>
                <a:gd name="T9" fmla="*/ 966 h 966"/>
              </a:gdLst>
              <a:ahLst/>
              <a:cxnLst>
                <a:cxn ang="0">
                  <a:pos x="T0" y="T1"/>
                </a:cxn>
                <a:cxn ang="0">
                  <a:pos x="T2" y="T3"/>
                </a:cxn>
                <a:cxn ang="0">
                  <a:pos x="T4" y="T5"/>
                </a:cxn>
                <a:cxn ang="0">
                  <a:pos x="T6" y="T7"/>
                </a:cxn>
                <a:cxn ang="0">
                  <a:pos x="T8" y="T9"/>
                </a:cxn>
              </a:cxnLst>
              <a:rect l="0" t="0" r="r" b="b"/>
              <a:pathLst>
                <a:path w="966" h="966">
                  <a:moveTo>
                    <a:pt x="277" y="966"/>
                  </a:moveTo>
                  <a:cubicBezTo>
                    <a:pt x="0" y="362"/>
                    <a:pt x="0" y="362"/>
                    <a:pt x="0" y="362"/>
                  </a:cubicBezTo>
                  <a:cubicBezTo>
                    <a:pt x="160" y="289"/>
                    <a:pt x="287" y="160"/>
                    <a:pt x="360" y="0"/>
                  </a:cubicBezTo>
                  <a:cubicBezTo>
                    <a:pt x="966" y="275"/>
                    <a:pt x="966" y="275"/>
                    <a:pt x="966" y="275"/>
                  </a:cubicBezTo>
                  <a:cubicBezTo>
                    <a:pt x="827" y="581"/>
                    <a:pt x="582" y="826"/>
                    <a:pt x="277" y="966"/>
                  </a:cubicBezTo>
                </a:path>
              </a:pathLst>
            </a:custGeom>
            <a:solidFill>
              <a:schemeClr val="bg1">
                <a:lumMod val="65000"/>
              </a:schemeClr>
            </a:solidFill>
            <a:ln>
              <a:noFill/>
            </a:ln>
          </p:spPr>
          <p:txBody>
            <a:bodyPr vert="horz" wrap="square" lIns="91440" tIns="45720" rIns="91440" bIns="45720" numCol="1" anchor="t" anchorCtr="0" compatLnSpc="1">
              <a:normAutofit/>
            </a:bodyPr>
            <a:lstStyle/>
            <a:p>
              <a:endParaRPr lang="en-US"/>
            </a:p>
          </p:txBody>
        </p:sp>
        <p:sp>
          <p:nvSpPr>
            <p:cNvPr id="42" name="ïṡľîḋe"/>
            <p:cNvSpPr/>
            <p:nvPr/>
          </p:nvSpPr>
          <p:spPr bwMode="auto">
            <a:xfrm>
              <a:off x="4386593" y="4052116"/>
              <a:ext cx="1302204" cy="1302204"/>
            </a:xfrm>
            <a:custGeom>
              <a:avLst/>
              <a:gdLst>
                <a:gd name="T0" fmla="*/ 691 w 966"/>
                <a:gd name="T1" fmla="*/ 965 h 965"/>
                <a:gd name="T2" fmla="*/ 0 w 966"/>
                <a:gd name="T3" fmla="*/ 277 h 965"/>
                <a:gd name="T4" fmla="*/ 604 w 966"/>
                <a:gd name="T5" fmla="*/ 0 h 965"/>
                <a:gd name="T6" fmla="*/ 966 w 966"/>
                <a:gd name="T7" fmla="*/ 360 h 965"/>
                <a:gd name="T8" fmla="*/ 691 w 966"/>
                <a:gd name="T9" fmla="*/ 965 h 965"/>
              </a:gdLst>
              <a:ahLst/>
              <a:cxnLst>
                <a:cxn ang="0">
                  <a:pos x="T0" y="T1"/>
                </a:cxn>
                <a:cxn ang="0">
                  <a:pos x="T2" y="T3"/>
                </a:cxn>
                <a:cxn ang="0">
                  <a:pos x="T4" y="T5"/>
                </a:cxn>
                <a:cxn ang="0">
                  <a:pos x="T6" y="T7"/>
                </a:cxn>
                <a:cxn ang="0">
                  <a:pos x="T8" y="T9"/>
                </a:cxn>
              </a:cxnLst>
              <a:rect l="0" t="0" r="r" b="b"/>
              <a:pathLst>
                <a:path w="966" h="965">
                  <a:moveTo>
                    <a:pt x="691" y="965"/>
                  </a:moveTo>
                  <a:cubicBezTo>
                    <a:pt x="385" y="826"/>
                    <a:pt x="140" y="582"/>
                    <a:pt x="0" y="277"/>
                  </a:cubicBezTo>
                  <a:cubicBezTo>
                    <a:pt x="604" y="0"/>
                    <a:pt x="604" y="0"/>
                    <a:pt x="604" y="0"/>
                  </a:cubicBezTo>
                  <a:cubicBezTo>
                    <a:pt x="677" y="159"/>
                    <a:pt x="805" y="287"/>
                    <a:pt x="966" y="360"/>
                  </a:cubicBezTo>
                  <a:cubicBezTo>
                    <a:pt x="691" y="965"/>
                    <a:pt x="691" y="965"/>
                    <a:pt x="691" y="965"/>
                  </a:cubicBezTo>
                </a:path>
              </a:pathLst>
            </a:cu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43" name="ïšľiḓé"/>
            <p:cNvSpPr/>
            <p:nvPr/>
          </p:nvSpPr>
          <p:spPr bwMode="auto">
            <a:xfrm>
              <a:off x="6708220" y="3198119"/>
              <a:ext cx="664534" cy="875206"/>
            </a:xfrm>
            <a:custGeom>
              <a:avLst/>
              <a:gdLst>
                <a:gd name="T0" fmla="*/ 415 w 493"/>
                <a:gd name="T1" fmla="*/ 649 h 649"/>
                <a:gd name="T2" fmla="*/ 2 w 493"/>
                <a:gd name="T3" fmla="*/ 495 h 649"/>
                <a:gd name="T4" fmla="*/ 1 w 493"/>
                <a:gd name="T5" fmla="*/ 156 h 649"/>
                <a:gd name="T6" fmla="*/ 0 w 493"/>
                <a:gd name="T7" fmla="*/ 155 h 649"/>
                <a:gd name="T8" fmla="*/ 413 w 493"/>
                <a:gd name="T9" fmla="*/ 0 h 649"/>
                <a:gd name="T10" fmla="*/ 414 w 493"/>
                <a:gd name="T11" fmla="*/ 1 h 649"/>
                <a:gd name="T12" fmla="*/ 415 w 493"/>
                <a:gd name="T13" fmla="*/ 649 h 649"/>
              </a:gdLst>
              <a:ahLst/>
              <a:cxnLst>
                <a:cxn ang="0">
                  <a:pos x="T0" y="T1"/>
                </a:cxn>
                <a:cxn ang="0">
                  <a:pos x="T2" y="T3"/>
                </a:cxn>
                <a:cxn ang="0">
                  <a:pos x="T4" y="T5"/>
                </a:cxn>
                <a:cxn ang="0">
                  <a:pos x="T6" y="T7"/>
                </a:cxn>
                <a:cxn ang="0">
                  <a:pos x="T8" y="T9"/>
                </a:cxn>
                <a:cxn ang="0">
                  <a:pos x="T10" y="T11"/>
                </a:cxn>
                <a:cxn ang="0">
                  <a:pos x="T12" y="T13"/>
                </a:cxn>
              </a:cxnLst>
              <a:rect l="0" t="0" r="r" b="b"/>
              <a:pathLst>
                <a:path w="493" h="649">
                  <a:moveTo>
                    <a:pt x="415" y="649"/>
                  </a:moveTo>
                  <a:cubicBezTo>
                    <a:pt x="2" y="495"/>
                    <a:pt x="2" y="495"/>
                    <a:pt x="2" y="495"/>
                  </a:cubicBezTo>
                  <a:cubicBezTo>
                    <a:pt x="42" y="386"/>
                    <a:pt x="42" y="266"/>
                    <a:pt x="1" y="156"/>
                  </a:cubicBezTo>
                  <a:cubicBezTo>
                    <a:pt x="0" y="155"/>
                    <a:pt x="0" y="155"/>
                    <a:pt x="0" y="155"/>
                  </a:cubicBezTo>
                  <a:cubicBezTo>
                    <a:pt x="413" y="0"/>
                    <a:pt x="413" y="0"/>
                    <a:pt x="413" y="0"/>
                  </a:cubicBezTo>
                  <a:cubicBezTo>
                    <a:pt x="414" y="1"/>
                    <a:pt x="414" y="1"/>
                    <a:pt x="414" y="1"/>
                  </a:cubicBezTo>
                  <a:cubicBezTo>
                    <a:pt x="492" y="210"/>
                    <a:pt x="493" y="440"/>
                    <a:pt x="415" y="649"/>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44" name="iṩḷide"/>
            <p:cNvSpPr/>
            <p:nvPr/>
          </p:nvSpPr>
          <p:spPr bwMode="auto">
            <a:xfrm>
              <a:off x="4820660" y="3206603"/>
              <a:ext cx="663120" cy="872378"/>
            </a:xfrm>
            <a:custGeom>
              <a:avLst/>
              <a:gdLst>
                <a:gd name="T0" fmla="*/ 492 w 492"/>
                <a:gd name="T1" fmla="*/ 492 h 647"/>
                <a:gd name="T2" fmla="*/ 79 w 492"/>
                <a:gd name="T3" fmla="*/ 647 h 647"/>
                <a:gd name="T4" fmla="*/ 78 w 492"/>
                <a:gd name="T5" fmla="*/ 646 h 647"/>
                <a:gd name="T6" fmla="*/ 77 w 492"/>
                <a:gd name="T7" fmla="*/ 0 h 647"/>
                <a:gd name="T8" fmla="*/ 491 w 492"/>
                <a:gd name="T9" fmla="*/ 153 h 647"/>
                <a:gd name="T10" fmla="*/ 491 w 492"/>
                <a:gd name="T11" fmla="*/ 491 h 647"/>
                <a:gd name="T12" fmla="*/ 492 w 492"/>
                <a:gd name="T13" fmla="*/ 492 h 647"/>
              </a:gdLst>
              <a:ahLst/>
              <a:cxnLst>
                <a:cxn ang="0">
                  <a:pos x="T0" y="T1"/>
                </a:cxn>
                <a:cxn ang="0">
                  <a:pos x="T2" y="T3"/>
                </a:cxn>
                <a:cxn ang="0">
                  <a:pos x="T4" y="T5"/>
                </a:cxn>
                <a:cxn ang="0">
                  <a:pos x="T6" y="T7"/>
                </a:cxn>
                <a:cxn ang="0">
                  <a:pos x="T8" y="T9"/>
                </a:cxn>
                <a:cxn ang="0">
                  <a:pos x="T10" y="T11"/>
                </a:cxn>
                <a:cxn ang="0">
                  <a:pos x="T12" y="T13"/>
                </a:cxn>
              </a:cxnLst>
              <a:rect l="0" t="0" r="r" b="b"/>
              <a:pathLst>
                <a:path w="492" h="647">
                  <a:moveTo>
                    <a:pt x="492" y="492"/>
                  </a:moveTo>
                  <a:cubicBezTo>
                    <a:pt x="79" y="647"/>
                    <a:pt x="79" y="647"/>
                    <a:pt x="79" y="647"/>
                  </a:cubicBezTo>
                  <a:cubicBezTo>
                    <a:pt x="78" y="646"/>
                    <a:pt x="78" y="646"/>
                    <a:pt x="78" y="646"/>
                  </a:cubicBezTo>
                  <a:cubicBezTo>
                    <a:pt x="0" y="438"/>
                    <a:pt x="0" y="208"/>
                    <a:pt x="77" y="0"/>
                  </a:cubicBezTo>
                  <a:cubicBezTo>
                    <a:pt x="491" y="153"/>
                    <a:pt x="491" y="153"/>
                    <a:pt x="491" y="153"/>
                  </a:cubicBezTo>
                  <a:cubicBezTo>
                    <a:pt x="450" y="262"/>
                    <a:pt x="451" y="382"/>
                    <a:pt x="491" y="491"/>
                  </a:cubicBezTo>
                  <a:cubicBezTo>
                    <a:pt x="492" y="492"/>
                    <a:pt x="492" y="492"/>
                    <a:pt x="492" y="492"/>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45" name="iṩľïďé"/>
            <p:cNvSpPr/>
            <p:nvPr/>
          </p:nvSpPr>
          <p:spPr bwMode="auto">
            <a:xfrm>
              <a:off x="6503203" y="1922780"/>
              <a:ext cx="1302204" cy="1302204"/>
            </a:xfrm>
            <a:custGeom>
              <a:avLst/>
              <a:gdLst>
                <a:gd name="T0" fmla="*/ 362 w 966"/>
                <a:gd name="T1" fmla="*/ 965 h 965"/>
                <a:gd name="T2" fmla="*/ 0 w 966"/>
                <a:gd name="T3" fmla="*/ 606 h 965"/>
                <a:gd name="T4" fmla="*/ 274 w 966"/>
                <a:gd name="T5" fmla="*/ 0 h 965"/>
                <a:gd name="T6" fmla="*/ 966 w 966"/>
                <a:gd name="T7" fmla="*/ 687 h 965"/>
                <a:gd name="T8" fmla="*/ 362 w 966"/>
                <a:gd name="T9" fmla="*/ 965 h 965"/>
              </a:gdLst>
              <a:ahLst/>
              <a:cxnLst>
                <a:cxn ang="0">
                  <a:pos x="T0" y="T1"/>
                </a:cxn>
                <a:cxn ang="0">
                  <a:pos x="T2" y="T3"/>
                </a:cxn>
                <a:cxn ang="0">
                  <a:pos x="T4" y="T5"/>
                </a:cxn>
                <a:cxn ang="0">
                  <a:pos x="T6" y="T7"/>
                </a:cxn>
                <a:cxn ang="0">
                  <a:pos x="T8" y="T9"/>
                </a:cxn>
              </a:cxnLst>
              <a:rect l="0" t="0" r="r" b="b"/>
              <a:pathLst>
                <a:path w="966" h="965">
                  <a:moveTo>
                    <a:pt x="362" y="965"/>
                  </a:moveTo>
                  <a:cubicBezTo>
                    <a:pt x="289" y="806"/>
                    <a:pt x="160" y="678"/>
                    <a:pt x="0" y="606"/>
                  </a:cubicBezTo>
                  <a:cubicBezTo>
                    <a:pt x="274" y="0"/>
                    <a:pt x="274" y="0"/>
                    <a:pt x="274" y="0"/>
                  </a:cubicBezTo>
                  <a:cubicBezTo>
                    <a:pt x="580" y="138"/>
                    <a:pt x="826" y="383"/>
                    <a:pt x="966" y="687"/>
                  </a:cubicBezTo>
                  <a:cubicBezTo>
                    <a:pt x="362" y="965"/>
                    <a:pt x="362" y="965"/>
                    <a:pt x="362" y="965"/>
                  </a:cubicBezTo>
                </a:path>
              </a:pathLst>
            </a:cu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46" name="îṣ1îḓê"/>
            <p:cNvSpPr/>
            <p:nvPr/>
          </p:nvSpPr>
          <p:spPr bwMode="auto">
            <a:xfrm>
              <a:off x="4380937" y="1928436"/>
              <a:ext cx="1302204" cy="1303617"/>
            </a:xfrm>
            <a:custGeom>
              <a:avLst/>
              <a:gdLst>
                <a:gd name="T0" fmla="*/ 606 w 965"/>
                <a:gd name="T1" fmla="*/ 966 h 966"/>
                <a:gd name="T2" fmla="*/ 0 w 965"/>
                <a:gd name="T3" fmla="*/ 692 h 966"/>
                <a:gd name="T4" fmla="*/ 688 w 965"/>
                <a:gd name="T5" fmla="*/ 0 h 966"/>
                <a:gd name="T6" fmla="*/ 965 w 965"/>
                <a:gd name="T7" fmla="*/ 604 h 966"/>
                <a:gd name="T8" fmla="*/ 606 w 965"/>
                <a:gd name="T9" fmla="*/ 966 h 966"/>
              </a:gdLst>
              <a:ahLst/>
              <a:cxnLst>
                <a:cxn ang="0">
                  <a:pos x="T0" y="T1"/>
                </a:cxn>
                <a:cxn ang="0">
                  <a:pos x="T2" y="T3"/>
                </a:cxn>
                <a:cxn ang="0">
                  <a:pos x="T4" y="T5"/>
                </a:cxn>
                <a:cxn ang="0">
                  <a:pos x="T6" y="T7"/>
                </a:cxn>
                <a:cxn ang="0">
                  <a:pos x="T8" y="T9"/>
                </a:cxn>
              </a:cxnLst>
              <a:rect l="0" t="0" r="r" b="b"/>
              <a:pathLst>
                <a:path w="965" h="966">
                  <a:moveTo>
                    <a:pt x="606" y="966"/>
                  </a:moveTo>
                  <a:cubicBezTo>
                    <a:pt x="0" y="692"/>
                    <a:pt x="0" y="692"/>
                    <a:pt x="0" y="692"/>
                  </a:cubicBezTo>
                  <a:cubicBezTo>
                    <a:pt x="139" y="386"/>
                    <a:pt x="383" y="140"/>
                    <a:pt x="688" y="0"/>
                  </a:cubicBezTo>
                  <a:cubicBezTo>
                    <a:pt x="965" y="604"/>
                    <a:pt x="965" y="604"/>
                    <a:pt x="965" y="604"/>
                  </a:cubicBezTo>
                  <a:cubicBezTo>
                    <a:pt x="806" y="677"/>
                    <a:pt x="678" y="806"/>
                    <a:pt x="606" y="966"/>
                  </a:cubicBezTo>
                </a:path>
              </a:pathLst>
            </a:custGeom>
            <a:solidFill>
              <a:schemeClr val="bg1">
                <a:lumMod val="65000"/>
              </a:schemeClr>
            </a:solidFill>
            <a:ln>
              <a:noFill/>
            </a:ln>
          </p:spPr>
          <p:txBody>
            <a:bodyPr vert="horz" wrap="square" lIns="91440" tIns="45720" rIns="91440" bIns="45720" numCol="1" anchor="t" anchorCtr="0" compatLnSpc="1">
              <a:normAutofit/>
            </a:bodyPr>
            <a:lstStyle/>
            <a:p>
              <a:endParaRPr lang="en-US"/>
            </a:p>
          </p:txBody>
        </p:sp>
        <p:sp>
          <p:nvSpPr>
            <p:cNvPr id="47" name="íṩḷïḍè"/>
            <p:cNvSpPr/>
            <p:nvPr/>
          </p:nvSpPr>
          <p:spPr bwMode="auto">
            <a:xfrm>
              <a:off x="5656277" y="2362503"/>
              <a:ext cx="872378" cy="664534"/>
            </a:xfrm>
            <a:custGeom>
              <a:avLst/>
              <a:gdLst>
                <a:gd name="T0" fmla="*/ 494 w 647"/>
                <a:gd name="T1" fmla="*/ 491 h 492"/>
                <a:gd name="T2" fmla="*/ 156 w 647"/>
                <a:gd name="T3" fmla="*/ 492 h 492"/>
                <a:gd name="T4" fmla="*/ 155 w 647"/>
                <a:gd name="T5" fmla="*/ 492 h 492"/>
                <a:gd name="T6" fmla="*/ 0 w 647"/>
                <a:gd name="T7" fmla="*/ 79 h 492"/>
                <a:gd name="T8" fmla="*/ 1 w 647"/>
                <a:gd name="T9" fmla="*/ 79 h 492"/>
                <a:gd name="T10" fmla="*/ 647 w 647"/>
                <a:gd name="T11" fmla="*/ 77 h 492"/>
                <a:gd name="T12" fmla="*/ 494 w 647"/>
                <a:gd name="T13" fmla="*/ 491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494" y="491"/>
                  </a:moveTo>
                  <a:cubicBezTo>
                    <a:pt x="385" y="450"/>
                    <a:pt x="265" y="451"/>
                    <a:pt x="156" y="492"/>
                  </a:cubicBezTo>
                  <a:cubicBezTo>
                    <a:pt x="155" y="492"/>
                    <a:pt x="155" y="492"/>
                    <a:pt x="155" y="492"/>
                  </a:cubicBezTo>
                  <a:cubicBezTo>
                    <a:pt x="0" y="79"/>
                    <a:pt x="0" y="79"/>
                    <a:pt x="0" y="79"/>
                  </a:cubicBezTo>
                  <a:cubicBezTo>
                    <a:pt x="1" y="79"/>
                    <a:pt x="1" y="79"/>
                    <a:pt x="1" y="79"/>
                  </a:cubicBezTo>
                  <a:cubicBezTo>
                    <a:pt x="209" y="1"/>
                    <a:pt x="439" y="0"/>
                    <a:pt x="647" y="77"/>
                  </a:cubicBezTo>
                  <a:cubicBezTo>
                    <a:pt x="494" y="491"/>
                    <a:pt x="494" y="491"/>
                    <a:pt x="494" y="491"/>
                  </a:cubicBezTo>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en-US"/>
            </a:p>
          </p:txBody>
        </p:sp>
        <p:sp>
          <p:nvSpPr>
            <p:cNvPr id="48" name="îṩ1íďè"/>
            <p:cNvSpPr/>
            <p:nvPr/>
          </p:nvSpPr>
          <p:spPr>
            <a:xfrm>
              <a:off x="5603962" y="3169228"/>
              <a:ext cx="991146" cy="99114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sz="2000" b="1" i="1" dirty="0">
                  <a:solidFill>
                    <a:schemeClr val="tx1"/>
                  </a:solidFill>
                </a:rPr>
                <a:t>Text</a:t>
              </a:r>
            </a:p>
          </p:txBody>
        </p:sp>
        <p:sp>
          <p:nvSpPr>
            <p:cNvPr id="49" name="íśļiḑé"/>
            <p:cNvSpPr/>
            <p:nvPr/>
          </p:nvSpPr>
          <p:spPr bwMode="auto">
            <a:xfrm>
              <a:off x="4848405" y="2410352"/>
              <a:ext cx="367268" cy="339784"/>
            </a:xfrm>
            <a:custGeom>
              <a:avLst/>
              <a:gdLst/>
              <a:ahLst/>
              <a:cxnLst>
                <a:cxn ang="0">
                  <a:pos x="39" y="36"/>
                </a:cxn>
                <a:cxn ang="0">
                  <a:pos x="41" y="44"/>
                </a:cxn>
                <a:cxn ang="0">
                  <a:pos x="35" y="50"/>
                </a:cxn>
                <a:cxn ang="0">
                  <a:pos x="27" y="53"/>
                </a:cxn>
                <a:cxn ang="0">
                  <a:pos x="18" y="53"/>
                </a:cxn>
                <a:cxn ang="0">
                  <a:pos x="11" y="50"/>
                </a:cxn>
                <a:cxn ang="0">
                  <a:pos x="4" y="44"/>
                </a:cxn>
                <a:cxn ang="0">
                  <a:pos x="6" y="36"/>
                </a:cxn>
                <a:cxn ang="0">
                  <a:pos x="0" y="28"/>
                </a:cxn>
                <a:cxn ang="0">
                  <a:pos x="7" y="23"/>
                </a:cxn>
                <a:cxn ang="0">
                  <a:pos x="4" y="18"/>
                </a:cxn>
                <a:cxn ang="0">
                  <a:pos x="15" y="16"/>
                </a:cxn>
                <a:cxn ang="0">
                  <a:pos x="19" y="8"/>
                </a:cxn>
                <a:cxn ang="0">
                  <a:pos x="28" y="15"/>
                </a:cxn>
                <a:cxn ang="0">
                  <a:pos x="35" y="12"/>
                </a:cxn>
                <a:cxn ang="0">
                  <a:pos x="41" y="19"/>
                </a:cxn>
                <a:cxn ang="0">
                  <a:pos x="45" y="27"/>
                </a:cxn>
                <a:cxn ang="0">
                  <a:pos x="23" y="22"/>
                </a:cxn>
                <a:cxn ang="0">
                  <a:pos x="32" y="31"/>
                </a:cxn>
                <a:cxn ang="0">
                  <a:pos x="63" y="16"/>
                </a:cxn>
                <a:cxn ang="0">
                  <a:pos x="64" y="24"/>
                </a:cxn>
                <a:cxn ang="0">
                  <a:pos x="55" y="22"/>
                </a:cxn>
                <a:cxn ang="0">
                  <a:pos x="46" y="24"/>
                </a:cxn>
                <a:cxn ang="0">
                  <a:pos x="46" y="16"/>
                </a:cxn>
                <a:cxn ang="0">
                  <a:pos x="46" y="9"/>
                </a:cxn>
                <a:cxn ang="0">
                  <a:pos x="46" y="2"/>
                </a:cxn>
                <a:cxn ang="0">
                  <a:pos x="55" y="4"/>
                </a:cxn>
                <a:cxn ang="0">
                  <a:pos x="59" y="0"/>
                </a:cxn>
                <a:cxn ang="0">
                  <a:pos x="62" y="7"/>
                </a:cxn>
                <a:cxn ang="0">
                  <a:pos x="68" y="15"/>
                </a:cxn>
                <a:cxn ang="0">
                  <a:pos x="62" y="55"/>
                </a:cxn>
                <a:cxn ang="0">
                  <a:pos x="59" y="63"/>
                </a:cxn>
                <a:cxn ang="0">
                  <a:pos x="54" y="59"/>
                </a:cxn>
                <a:cxn ang="0">
                  <a:pos x="45" y="60"/>
                </a:cxn>
                <a:cxn ang="0">
                  <a:pos x="41" y="52"/>
                </a:cxn>
                <a:cxn ang="0">
                  <a:pos x="47" y="44"/>
                </a:cxn>
                <a:cxn ang="0">
                  <a:pos x="50" y="36"/>
                </a:cxn>
                <a:cxn ang="0">
                  <a:pos x="56" y="40"/>
                </a:cxn>
                <a:cxn ang="0">
                  <a:pos x="64" y="39"/>
                </a:cxn>
                <a:cxn ang="0">
                  <a:pos x="63" y="46"/>
                </a:cxn>
                <a:cxn ang="0">
                  <a:pos x="55" y="8"/>
                </a:cxn>
                <a:cxn ang="0">
                  <a:pos x="59" y="13"/>
                </a:cxn>
                <a:cxn ang="0">
                  <a:pos x="50" y="49"/>
                </a:cxn>
                <a:cxn ang="0">
                  <a:pos x="55" y="45"/>
                </a:cxn>
              </a:cxnLst>
              <a:rect l="0" t="0" r="r" b="b"/>
              <a:pathLst>
                <a:path w="68" h="63">
                  <a:moveTo>
                    <a:pt x="45" y="35"/>
                  </a:moveTo>
                  <a:cubicBezTo>
                    <a:pt x="45" y="35"/>
                    <a:pt x="45" y="36"/>
                    <a:pt x="45" y="36"/>
                  </a:cubicBezTo>
                  <a:cubicBezTo>
                    <a:pt x="39" y="36"/>
                    <a:pt x="39" y="36"/>
                    <a:pt x="39" y="36"/>
                  </a:cubicBezTo>
                  <a:cubicBezTo>
                    <a:pt x="39" y="37"/>
                    <a:pt x="38" y="38"/>
                    <a:pt x="38" y="39"/>
                  </a:cubicBezTo>
                  <a:cubicBezTo>
                    <a:pt x="39" y="41"/>
                    <a:pt x="40" y="42"/>
                    <a:pt x="41" y="43"/>
                  </a:cubicBezTo>
                  <a:cubicBezTo>
                    <a:pt x="41" y="43"/>
                    <a:pt x="41" y="44"/>
                    <a:pt x="41" y="44"/>
                  </a:cubicBezTo>
                  <a:cubicBezTo>
                    <a:pt x="41" y="44"/>
                    <a:pt x="41" y="44"/>
                    <a:pt x="41" y="45"/>
                  </a:cubicBezTo>
                  <a:cubicBezTo>
                    <a:pt x="40" y="46"/>
                    <a:pt x="36" y="50"/>
                    <a:pt x="35" y="50"/>
                  </a:cubicBezTo>
                  <a:cubicBezTo>
                    <a:pt x="35" y="50"/>
                    <a:pt x="35" y="50"/>
                    <a:pt x="35" y="50"/>
                  </a:cubicBezTo>
                  <a:cubicBezTo>
                    <a:pt x="31" y="47"/>
                    <a:pt x="31" y="47"/>
                    <a:pt x="31" y="47"/>
                  </a:cubicBezTo>
                  <a:cubicBezTo>
                    <a:pt x="30" y="47"/>
                    <a:pt x="29" y="47"/>
                    <a:pt x="28" y="48"/>
                  </a:cubicBezTo>
                  <a:cubicBezTo>
                    <a:pt x="28" y="49"/>
                    <a:pt x="27" y="51"/>
                    <a:pt x="27" y="53"/>
                  </a:cubicBezTo>
                  <a:cubicBezTo>
                    <a:pt x="27" y="54"/>
                    <a:pt x="26" y="54"/>
                    <a:pt x="26" y="54"/>
                  </a:cubicBezTo>
                  <a:cubicBezTo>
                    <a:pt x="19" y="54"/>
                    <a:pt x="19" y="54"/>
                    <a:pt x="19" y="54"/>
                  </a:cubicBezTo>
                  <a:cubicBezTo>
                    <a:pt x="19" y="54"/>
                    <a:pt x="18" y="54"/>
                    <a:pt x="18" y="53"/>
                  </a:cubicBezTo>
                  <a:cubicBezTo>
                    <a:pt x="17" y="48"/>
                    <a:pt x="17" y="48"/>
                    <a:pt x="17" y="48"/>
                  </a:cubicBezTo>
                  <a:cubicBezTo>
                    <a:pt x="16" y="47"/>
                    <a:pt x="16" y="47"/>
                    <a:pt x="15" y="47"/>
                  </a:cubicBezTo>
                  <a:cubicBezTo>
                    <a:pt x="11" y="50"/>
                    <a:pt x="11" y="50"/>
                    <a:pt x="11" y="50"/>
                  </a:cubicBezTo>
                  <a:cubicBezTo>
                    <a:pt x="10" y="50"/>
                    <a:pt x="10" y="50"/>
                    <a:pt x="10" y="50"/>
                  </a:cubicBezTo>
                  <a:cubicBezTo>
                    <a:pt x="10" y="50"/>
                    <a:pt x="9" y="50"/>
                    <a:pt x="9" y="50"/>
                  </a:cubicBezTo>
                  <a:cubicBezTo>
                    <a:pt x="8" y="49"/>
                    <a:pt x="4" y="45"/>
                    <a:pt x="4" y="44"/>
                  </a:cubicBezTo>
                  <a:cubicBezTo>
                    <a:pt x="4" y="44"/>
                    <a:pt x="4" y="44"/>
                    <a:pt x="4" y="43"/>
                  </a:cubicBezTo>
                  <a:cubicBezTo>
                    <a:pt x="5" y="42"/>
                    <a:pt x="6" y="41"/>
                    <a:pt x="7" y="39"/>
                  </a:cubicBezTo>
                  <a:cubicBezTo>
                    <a:pt x="7" y="38"/>
                    <a:pt x="6" y="37"/>
                    <a:pt x="6" y="36"/>
                  </a:cubicBezTo>
                  <a:cubicBezTo>
                    <a:pt x="1" y="35"/>
                    <a:pt x="1" y="35"/>
                    <a:pt x="1" y="35"/>
                  </a:cubicBezTo>
                  <a:cubicBezTo>
                    <a:pt x="0" y="35"/>
                    <a:pt x="0" y="35"/>
                    <a:pt x="0" y="34"/>
                  </a:cubicBezTo>
                  <a:cubicBezTo>
                    <a:pt x="0" y="28"/>
                    <a:pt x="0" y="28"/>
                    <a:pt x="0" y="28"/>
                  </a:cubicBezTo>
                  <a:cubicBezTo>
                    <a:pt x="0" y="27"/>
                    <a:pt x="0" y="27"/>
                    <a:pt x="1" y="27"/>
                  </a:cubicBezTo>
                  <a:cubicBezTo>
                    <a:pt x="6" y="26"/>
                    <a:pt x="6" y="26"/>
                    <a:pt x="6" y="26"/>
                  </a:cubicBezTo>
                  <a:cubicBezTo>
                    <a:pt x="6" y="25"/>
                    <a:pt x="7" y="24"/>
                    <a:pt x="7" y="23"/>
                  </a:cubicBezTo>
                  <a:cubicBezTo>
                    <a:pt x="6" y="22"/>
                    <a:pt x="5" y="20"/>
                    <a:pt x="4" y="19"/>
                  </a:cubicBezTo>
                  <a:cubicBezTo>
                    <a:pt x="4" y="19"/>
                    <a:pt x="4" y="19"/>
                    <a:pt x="4" y="18"/>
                  </a:cubicBezTo>
                  <a:cubicBezTo>
                    <a:pt x="4" y="18"/>
                    <a:pt x="4" y="18"/>
                    <a:pt x="4" y="18"/>
                  </a:cubicBezTo>
                  <a:cubicBezTo>
                    <a:pt x="5" y="17"/>
                    <a:pt x="9" y="12"/>
                    <a:pt x="10" y="12"/>
                  </a:cubicBezTo>
                  <a:cubicBezTo>
                    <a:pt x="10" y="12"/>
                    <a:pt x="10" y="12"/>
                    <a:pt x="11" y="13"/>
                  </a:cubicBezTo>
                  <a:cubicBezTo>
                    <a:pt x="15" y="16"/>
                    <a:pt x="15" y="16"/>
                    <a:pt x="15" y="16"/>
                  </a:cubicBezTo>
                  <a:cubicBezTo>
                    <a:pt x="16" y="15"/>
                    <a:pt x="16" y="15"/>
                    <a:pt x="17" y="15"/>
                  </a:cubicBezTo>
                  <a:cubicBezTo>
                    <a:pt x="18" y="13"/>
                    <a:pt x="18" y="11"/>
                    <a:pt x="18" y="9"/>
                  </a:cubicBezTo>
                  <a:cubicBezTo>
                    <a:pt x="18" y="9"/>
                    <a:pt x="19" y="8"/>
                    <a:pt x="19" y="8"/>
                  </a:cubicBezTo>
                  <a:cubicBezTo>
                    <a:pt x="26" y="8"/>
                    <a:pt x="26" y="8"/>
                    <a:pt x="26" y="8"/>
                  </a:cubicBezTo>
                  <a:cubicBezTo>
                    <a:pt x="26" y="8"/>
                    <a:pt x="27" y="9"/>
                    <a:pt x="27" y="9"/>
                  </a:cubicBezTo>
                  <a:cubicBezTo>
                    <a:pt x="28" y="15"/>
                    <a:pt x="28" y="15"/>
                    <a:pt x="28" y="15"/>
                  </a:cubicBezTo>
                  <a:cubicBezTo>
                    <a:pt x="29" y="15"/>
                    <a:pt x="30" y="15"/>
                    <a:pt x="31" y="16"/>
                  </a:cubicBezTo>
                  <a:cubicBezTo>
                    <a:pt x="35" y="13"/>
                    <a:pt x="35" y="13"/>
                    <a:pt x="35" y="13"/>
                  </a:cubicBezTo>
                  <a:cubicBezTo>
                    <a:pt x="35" y="12"/>
                    <a:pt x="35" y="12"/>
                    <a:pt x="35" y="12"/>
                  </a:cubicBezTo>
                  <a:cubicBezTo>
                    <a:pt x="36" y="12"/>
                    <a:pt x="36" y="12"/>
                    <a:pt x="36" y="13"/>
                  </a:cubicBezTo>
                  <a:cubicBezTo>
                    <a:pt x="37" y="13"/>
                    <a:pt x="41" y="17"/>
                    <a:pt x="41" y="18"/>
                  </a:cubicBezTo>
                  <a:cubicBezTo>
                    <a:pt x="41" y="19"/>
                    <a:pt x="41" y="19"/>
                    <a:pt x="41" y="19"/>
                  </a:cubicBezTo>
                  <a:cubicBezTo>
                    <a:pt x="40" y="20"/>
                    <a:pt x="39" y="22"/>
                    <a:pt x="38" y="23"/>
                  </a:cubicBezTo>
                  <a:cubicBezTo>
                    <a:pt x="38" y="24"/>
                    <a:pt x="39" y="25"/>
                    <a:pt x="39" y="26"/>
                  </a:cubicBezTo>
                  <a:cubicBezTo>
                    <a:pt x="45" y="27"/>
                    <a:pt x="45" y="27"/>
                    <a:pt x="45" y="27"/>
                  </a:cubicBezTo>
                  <a:cubicBezTo>
                    <a:pt x="45" y="27"/>
                    <a:pt x="45" y="27"/>
                    <a:pt x="45" y="28"/>
                  </a:cubicBezTo>
                  <a:lnTo>
                    <a:pt x="45" y="35"/>
                  </a:lnTo>
                  <a:close/>
                  <a:moveTo>
                    <a:pt x="23" y="22"/>
                  </a:moveTo>
                  <a:cubicBezTo>
                    <a:pt x="18" y="22"/>
                    <a:pt x="13" y="26"/>
                    <a:pt x="13" y="31"/>
                  </a:cubicBezTo>
                  <a:cubicBezTo>
                    <a:pt x="13" y="36"/>
                    <a:pt x="18" y="40"/>
                    <a:pt x="23" y="40"/>
                  </a:cubicBezTo>
                  <a:cubicBezTo>
                    <a:pt x="28" y="40"/>
                    <a:pt x="32" y="36"/>
                    <a:pt x="32" y="31"/>
                  </a:cubicBezTo>
                  <a:cubicBezTo>
                    <a:pt x="32" y="26"/>
                    <a:pt x="28" y="22"/>
                    <a:pt x="23" y="22"/>
                  </a:cubicBezTo>
                  <a:close/>
                  <a:moveTo>
                    <a:pt x="68" y="15"/>
                  </a:moveTo>
                  <a:cubicBezTo>
                    <a:pt x="68" y="16"/>
                    <a:pt x="64" y="16"/>
                    <a:pt x="63" y="16"/>
                  </a:cubicBezTo>
                  <a:cubicBezTo>
                    <a:pt x="63" y="17"/>
                    <a:pt x="62" y="18"/>
                    <a:pt x="62" y="18"/>
                  </a:cubicBezTo>
                  <a:cubicBezTo>
                    <a:pt x="62" y="19"/>
                    <a:pt x="64" y="23"/>
                    <a:pt x="64" y="23"/>
                  </a:cubicBezTo>
                  <a:cubicBezTo>
                    <a:pt x="64" y="23"/>
                    <a:pt x="64" y="23"/>
                    <a:pt x="64" y="24"/>
                  </a:cubicBezTo>
                  <a:cubicBezTo>
                    <a:pt x="63" y="24"/>
                    <a:pt x="59" y="26"/>
                    <a:pt x="59" y="26"/>
                  </a:cubicBezTo>
                  <a:cubicBezTo>
                    <a:pt x="59" y="26"/>
                    <a:pt x="56" y="22"/>
                    <a:pt x="56" y="22"/>
                  </a:cubicBezTo>
                  <a:cubicBezTo>
                    <a:pt x="55" y="22"/>
                    <a:pt x="55" y="22"/>
                    <a:pt x="55" y="22"/>
                  </a:cubicBezTo>
                  <a:cubicBezTo>
                    <a:pt x="54" y="22"/>
                    <a:pt x="54" y="22"/>
                    <a:pt x="54" y="22"/>
                  </a:cubicBezTo>
                  <a:cubicBezTo>
                    <a:pt x="53" y="22"/>
                    <a:pt x="50" y="26"/>
                    <a:pt x="50" y="26"/>
                  </a:cubicBezTo>
                  <a:cubicBezTo>
                    <a:pt x="50" y="26"/>
                    <a:pt x="46" y="24"/>
                    <a:pt x="46" y="24"/>
                  </a:cubicBezTo>
                  <a:cubicBezTo>
                    <a:pt x="45" y="23"/>
                    <a:pt x="45" y="23"/>
                    <a:pt x="45" y="23"/>
                  </a:cubicBezTo>
                  <a:cubicBezTo>
                    <a:pt x="45" y="23"/>
                    <a:pt x="47" y="19"/>
                    <a:pt x="47" y="18"/>
                  </a:cubicBezTo>
                  <a:cubicBezTo>
                    <a:pt x="47" y="18"/>
                    <a:pt x="46" y="17"/>
                    <a:pt x="46" y="16"/>
                  </a:cubicBezTo>
                  <a:cubicBezTo>
                    <a:pt x="45" y="16"/>
                    <a:pt x="41" y="16"/>
                    <a:pt x="41" y="15"/>
                  </a:cubicBezTo>
                  <a:cubicBezTo>
                    <a:pt x="41" y="10"/>
                    <a:pt x="41" y="10"/>
                    <a:pt x="41" y="10"/>
                  </a:cubicBezTo>
                  <a:cubicBezTo>
                    <a:pt x="41" y="10"/>
                    <a:pt x="45" y="9"/>
                    <a:pt x="46" y="9"/>
                  </a:cubicBezTo>
                  <a:cubicBezTo>
                    <a:pt x="46" y="9"/>
                    <a:pt x="47" y="8"/>
                    <a:pt x="47" y="7"/>
                  </a:cubicBezTo>
                  <a:cubicBezTo>
                    <a:pt x="47" y="7"/>
                    <a:pt x="45" y="3"/>
                    <a:pt x="45" y="2"/>
                  </a:cubicBezTo>
                  <a:cubicBezTo>
                    <a:pt x="45" y="2"/>
                    <a:pt x="45" y="2"/>
                    <a:pt x="46" y="2"/>
                  </a:cubicBezTo>
                  <a:cubicBezTo>
                    <a:pt x="46" y="2"/>
                    <a:pt x="50" y="0"/>
                    <a:pt x="50" y="0"/>
                  </a:cubicBezTo>
                  <a:cubicBezTo>
                    <a:pt x="50" y="0"/>
                    <a:pt x="53" y="3"/>
                    <a:pt x="54" y="4"/>
                  </a:cubicBezTo>
                  <a:cubicBezTo>
                    <a:pt x="54" y="4"/>
                    <a:pt x="54" y="4"/>
                    <a:pt x="55" y="4"/>
                  </a:cubicBezTo>
                  <a:cubicBezTo>
                    <a:pt x="55" y="4"/>
                    <a:pt x="55" y="4"/>
                    <a:pt x="56" y="4"/>
                  </a:cubicBezTo>
                  <a:cubicBezTo>
                    <a:pt x="57" y="2"/>
                    <a:pt x="58" y="1"/>
                    <a:pt x="59" y="0"/>
                  </a:cubicBezTo>
                  <a:cubicBezTo>
                    <a:pt x="59" y="0"/>
                    <a:pt x="59" y="0"/>
                    <a:pt x="59" y="0"/>
                  </a:cubicBezTo>
                  <a:cubicBezTo>
                    <a:pt x="59" y="0"/>
                    <a:pt x="63" y="2"/>
                    <a:pt x="64" y="2"/>
                  </a:cubicBezTo>
                  <a:cubicBezTo>
                    <a:pt x="64" y="2"/>
                    <a:pt x="64" y="2"/>
                    <a:pt x="64" y="2"/>
                  </a:cubicBezTo>
                  <a:cubicBezTo>
                    <a:pt x="64" y="3"/>
                    <a:pt x="62" y="7"/>
                    <a:pt x="62" y="7"/>
                  </a:cubicBezTo>
                  <a:cubicBezTo>
                    <a:pt x="62" y="8"/>
                    <a:pt x="63" y="9"/>
                    <a:pt x="63" y="9"/>
                  </a:cubicBezTo>
                  <a:cubicBezTo>
                    <a:pt x="64" y="9"/>
                    <a:pt x="68" y="10"/>
                    <a:pt x="68" y="10"/>
                  </a:cubicBezTo>
                  <a:lnTo>
                    <a:pt x="68" y="15"/>
                  </a:lnTo>
                  <a:close/>
                  <a:moveTo>
                    <a:pt x="68" y="52"/>
                  </a:moveTo>
                  <a:cubicBezTo>
                    <a:pt x="68" y="52"/>
                    <a:pt x="64" y="53"/>
                    <a:pt x="63" y="53"/>
                  </a:cubicBezTo>
                  <a:cubicBezTo>
                    <a:pt x="63" y="54"/>
                    <a:pt x="62" y="54"/>
                    <a:pt x="62" y="55"/>
                  </a:cubicBezTo>
                  <a:cubicBezTo>
                    <a:pt x="62" y="56"/>
                    <a:pt x="64" y="59"/>
                    <a:pt x="64" y="60"/>
                  </a:cubicBezTo>
                  <a:cubicBezTo>
                    <a:pt x="64" y="60"/>
                    <a:pt x="64" y="60"/>
                    <a:pt x="64" y="60"/>
                  </a:cubicBezTo>
                  <a:cubicBezTo>
                    <a:pt x="63" y="60"/>
                    <a:pt x="59" y="63"/>
                    <a:pt x="59" y="63"/>
                  </a:cubicBezTo>
                  <a:cubicBezTo>
                    <a:pt x="59" y="63"/>
                    <a:pt x="56" y="59"/>
                    <a:pt x="56" y="59"/>
                  </a:cubicBezTo>
                  <a:cubicBezTo>
                    <a:pt x="55" y="59"/>
                    <a:pt x="55" y="59"/>
                    <a:pt x="55" y="59"/>
                  </a:cubicBezTo>
                  <a:cubicBezTo>
                    <a:pt x="54" y="59"/>
                    <a:pt x="54" y="59"/>
                    <a:pt x="54" y="59"/>
                  </a:cubicBezTo>
                  <a:cubicBezTo>
                    <a:pt x="53" y="59"/>
                    <a:pt x="50" y="63"/>
                    <a:pt x="50" y="63"/>
                  </a:cubicBezTo>
                  <a:cubicBezTo>
                    <a:pt x="50" y="63"/>
                    <a:pt x="46" y="60"/>
                    <a:pt x="46" y="60"/>
                  </a:cubicBezTo>
                  <a:cubicBezTo>
                    <a:pt x="45" y="60"/>
                    <a:pt x="45" y="60"/>
                    <a:pt x="45" y="60"/>
                  </a:cubicBezTo>
                  <a:cubicBezTo>
                    <a:pt x="45" y="59"/>
                    <a:pt x="47" y="56"/>
                    <a:pt x="47" y="55"/>
                  </a:cubicBezTo>
                  <a:cubicBezTo>
                    <a:pt x="47" y="54"/>
                    <a:pt x="46" y="54"/>
                    <a:pt x="46" y="53"/>
                  </a:cubicBezTo>
                  <a:cubicBezTo>
                    <a:pt x="45" y="53"/>
                    <a:pt x="41" y="52"/>
                    <a:pt x="41" y="52"/>
                  </a:cubicBezTo>
                  <a:cubicBezTo>
                    <a:pt x="41" y="47"/>
                    <a:pt x="41" y="47"/>
                    <a:pt x="41" y="47"/>
                  </a:cubicBezTo>
                  <a:cubicBezTo>
                    <a:pt x="41" y="46"/>
                    <a:pt x="45" y="46"/>
                    <a:pt x="46" y="46"/>
                  </a:cubicBezTo>
                  <a:cubicBezTo>
                    <a:pt x="46" y="45"/>
                    <a:pt x="47" y="45"/>
                    <a:pt x="47" y="44"/>
                  </a:cubicBezTo>
                  <a:cubicBezTo>
                    <a:pt x="47" y="43"/>
                    <a:pt x="45" y="40"/>
                    <a:pt x="45" y="39"/>
                  </a:cubicBezTo>
                  <a:cubicBezTo>
                    <a:pt x="45" y="39"/>
                    <a:pt x="45" y="39"/>
                    <a:pt x="46" y="39"/>
                  </a:cubicBezTo>
                  <a:cubicBezTo>
                    <a:pt x="46" y="39"/>
                    <a:pt x="50" y="36"/>
                    <a:pt x="50" y="36"/>
                  </a:cubicBezTo>
                  <a:cubicBezTo>
                    <a:pt x="50" y="36"/>
                    <a:pt x="53" y="40"/>
                    <a:pt x="54" y="40"/>
                  </a:cubicBezTo>
                  <a:cubicBezTo>
                    <a:pt x="54" y="40"/>
                    <a:pt x="54" y="40"/>
                    <a:pt x="55" y="40"/>
                  </a:cubicBezTo>
                  <a:cubicBezTo>
                    <a:pt x="55" y="40"/>
                    <a:pt x="55" y="40"/>
                    <a:pt x="56" y="40"/>
                  </a:cubicBezTo>
                  <a:cubicBezTo>
                    <a:pt x="57" y="39"/>
                    <a:pt x="58" y="38"/>
                    <a:pt x="59" y="36"/>
                  </a:cubicBezTo>
                  <a:cubicBezTo>
                    <a:pt x="59" y="36"/>
                    <a:pt x="59" y="36"/>
                    <a:pt x="59" y="36"/>
                  </a:cubicBezTo>
                  <a:cubicBezTo>
                    <a:pt x="59" y="36"/>
                    <a:pt x="63" y="39"/>
                    <a:pt x="64" y="39"/>
                  </a:cubicBezTo>
                  <a:cubicBezTo>
                    <a:pt x="64" y="39"/>
                    <a:pt x="64" y="39"/>
                    <a:pt x="64" y="39"/>
                  </a:cubicBezTo>
                  <a:cubicBezTo>
                    <a:pt x="64" y="40"/>
                    <a:pt x="62" y="43"/>
                    <a:pt x="62" y="44"/>
                  </a:cubicBezTo>
                  <a:cubicBezTo>
                    <a:pt x="62" y="45"/>
                    <a:pt x="63" y="45"/>
                    <a:pt x="63" y="46"/>
                  </a:cubicBezTo>
                  <a:cubicBezTo>
                    <a:pt x="64" y="46"/>
                    <a:pt x="68" y="46"/>
                    <a:pt x="68" y="47"/>
                  </a:cubicBezTo>
                  <a:lnTo>
                    <a:pt x="68" y="52"/>
                  </a:lnTo>
                  <a:close/>
                  <a:moveTo>
                    <a:pt x="55" y="8"/>
                  </a:moveTo>
                  <a:cubicBezTo>
                    <a:pt x="52" y="8"/>
                    <a:pt x="50" y="10"/>
                    <a:pt x="50" y="13"/>
                  </a:cubicBezTo>
                  <a:cubicBezTo>
                    <a:pt x="50" y="15"/>
                    <a:pt x="52" y="17"/>
                    <a:pt x="55" y="17"/>
                  </a:cubicBezTo>
                  <a:cubicBezTo>
                    <a:pt x="57" y="17"/>
                    <a:pt x="59" y="15"/>
                    <a:pt x="59" y="13"/>
                  </a:cubicBezTo>
                  <a:cubicBezTo>
                    <a:pt x="59" y="10"/>
                    <a:pt x="57" y="8"/>
                    <a:pt x="55" y="8"/>
                  </a:cubicBezTo>
                  <a:close/>
                  <a:moveTo>
                    <a:pt x="55" y="45"/>
                  </a:moveTo>
                  <a:cubicBezTo>
                    <a:pt x="52" y="45"/>
                    <a:pt x="50" y="47"/>
                    <a:pt x="50" y="49"/>
                  </a:cubicBezTo>
                  <a:cubicBezTo>
                    <a:pt x="50" y="52"/>
                    <a:pt x="52" y="54"/>
                    <a:pt x="55" y="54"/>
                  </a:cubicBezTo>
                  <a:cubicBezTo>
                    <a:pt x="57" y="54"/>
                    <a:pt x="59" y="52"/>
                    <a:pt x="59" y="49"/>
                  </a:cubicBezTo>
                  <a:cubicBezTo>
                    <a:pt x="59" y="47"/>
                    <a:pt x="57" y="45"/>
                    <a:pt x="55" y="45"/>
                  </a:cubicBezTo>
                  <a:close/>
                </a:path>
              </a:pathLst>
            </a:custGeom>
            <a:solidFill>
              <a:schemeClr val="bg1"/>
            </a:solidFill>
            <a:ln w="9525">
              <a:noFill/>
              <a:round/>
            </a:ln>
          </p:spPr>
          <p:txBody>
            <a:bodyPr wrap="square" lIns="91440" tIns="45720" rIns="91440" bIns="45720" anchor="ctr">
              <a:normAutofit lnSpcReduction="10000"/>
            </a:bodyPr>
            <a:lstStyle/>
            <a:p>
              <a:pPr algn="ctr"/>
              <a:endParaRPr/>
            </a:p>
          </p:txBody>
        </p:sp>
        <p:sp>
          <p:nvSpPr>
            <p:cNvPr id="50" name="íṡļíďé"/>
            <p:cNvSpPr/>
            <p:nvPr/>
          </p:nvSpPr>
          <p:spPr bwMode="auto">
            <a:xfrm>
              <a:off x="6981915" y="2425226"/>
              <a:ext cx="344780" cy="297312"/>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ln>
          </p:spPr>
          <p:txBody>
            <a:bodyPr wrap="square" lIns="91440" tIns="45720" rIns="91440" bIns="45720" anchor="ctr">
              <a:normAutofit fontScale="85000" lnSpcReduction="10000"/>
            </a:bodyPr>
            <a:lstStyle/>
            <a:p>
              <a:pPr algn="ctr"/>
              <a:endParaRPr/>
            </a:p>
          </p:txBody>
        </p:sp>
        <p:sp>
          <p:nvSpPr>
            <p:cNvPr id="51" name="îSľîďé"/>
            <p:cNvSpPr/>
            <p:nvPr/>
          </p:nvSpPr>
          <p:spPr bwMode="auto">
            <a:xfrm>
              <a:off x="4842970" y="4558830"/>
              <a:ext cx="389450" cy="288776"/>
            </a:xfrm>
            <a:custGeom>
              <a:avLst/>
              <a:gdLst/>
              <a:ahLst/>
              <a:cxnLst>
                <a:cxn ang="0">
                  <a:pos x="55" y="50"/>
                </a:cxn>
                <a:cxn ang="0">
                  <a:pos x="16" y="50"/>
                </a:cxn>
                <a:cxn ang="0">
                  <a:pos x="0" y="34"/>
                </a:cxn>
                <a:cxn ang="0">
                  <a:pos x="9" y="20"/>
                </a:cxn>
                <a:cxn ang="0">
                  <a:pos x="9" y="18"/>
                </a:cxn>
                <a:cxn ang="0">
                  <a:pos x="27" y="0"/>
                </a:cxn>
                <a:cxn ang="0">
                  <a:pos x="44" y="11"/>
                </a:cxn>
                <a:cxn ang="0">
                  <a:pos x="50" y="9"/>
                </a:cxn>
                <a:cxn ang="0">
                  <a:pos x="59" y="18"/>
                </a:cxn>
                <a:cxn ang="0">
                  <a:pos x="58" y="23"/>
                </a:cxn>
                <a:cxn ang="0">
                  <a:pos x="68" y="36"/>
                </a:cxn>
                <a:cxn ang="0">
                  <a:pos x="55" y="50"/>
                </a:cxn>
                <a:cxn ang="0">
                  <a:pos x="45" y="25"/>
                </a:cxn>
                <a:cxn ang="0">
                  <a:pos x="33" y="13"/>
                </a:cxn>
                <a:cxn ang="0">
                  <a:pos x="32" y="12"/>
                </a:cxn>
                <a:cxn ang="0">
                  <a:pos x="31" y="13"/>
                </a:cxn>
                <a:cxn ang="0">
                  <a:pos x="18" y="25"/>
                </a:cxn>
                <a:cxn ang="0">
                  <a:pos x="18" y="26"/>
                </a:cxn>
                <a:cxn ang="0">
                  <a:pos x="19" y="27"/>
                </a:cxn>
                <a:cxn ang="0">
                  <a:pos x="27" y="27"/>
                </a:cxn>
                <a:cxn ang="0">
                  <a:pos x="27" y="40"/>
                </a:cxn>
                <a:cxn ang="0">
                  <a:pos x="28" y="41"/>
                </a:cxn>
                <a:cxn ang="0">
                  <a:pos x="35" y="41"/>
                </a:cxn>
                <a:cxn ang="0">
                  <a:pos x="36" y="40"/>
                </a:cxn>
                <a:cxn ang="0">
                  <a:pos x="36" y="27"/>
                </a:cxn>
                <a:cxn ang="0">
                  <a:pos x="44" y="27"/>
                </a:cxn>
                <a:cxn ang="0">
                  <a:pos x="45" y="26"/>
                </a:cxn>
                <a:cxn ang="0">
                  <a:pos x="45" y="25"/>
                </a:cxn>
              </a:cxnLst>
              <a:rect l="0" t="0" r="r" b="b"/>
              <a:pathLst>
                <a:path w="68" h="50">
                  <a:moveTo>
                    <a:pt x="55" y="50"/>
                  </a:moveTo>
                  <a:cubicBezTo>
                    <a:pt x="16" y="50"/>
                    <a:pt x="16" y="50"/>
                    <a:pt x="16" y="50"/>
                  </a:cubicBezTo>
                  <a:cubicBezTo>
                    <a:pt x="7" y="50"/>
                    <a:pt x="0" y="43"/>
                    <a:pt x="0" y="34"/>
                  </a:cubicBezTo>
                  <a:cubicBezTo>
                    <a:pt x="0" y="28"/>
                    <a:pt x="3" y="22"/>
                    <a:pt x="9" y="20"/>
                  </a:cubicBezTo>
                  <a:cubicBezTo>
                    <a:pt x="9" y="19"/>
                    <a:pt x="9" y="19"/>
                    <a:pt x="9" y="18"/>
                  </a:cubicBezTo>
                  <a:cubicBezTo>
                    <a:pt x="9" y="8"/>
                    <a:pt x="17" y="0"/>
                    <a:pt x="27" y="0"/>
                  </a:cubicBezTo>
                  <a:cubicBezTo>
                    <a:pt x="35" y="0"/>
                    <a:pt x="41" y="4"/>
                    <a:pt x="44" y="11"/>
                  </a:cubicBezTo>
                  <a:cubicBezTo>
                    <a:pt x="46" y="10"/>
                    <a:pt x="48" y="9"/>
                    <a:pt x="50" y="9"/>
                  </a:cubicBezTo>
                  <a:cubicBezTo>
                    <a:pt x="55" y="9"/>
                    <a:pt x="59" y="13"/>
                    <a:pt x="59" y="18"/>
                  </a:cubicBezTo>
                  <a:cubicBezTo>
                    <a:pt x="59" y="20"/>
                    <a:pt x="59" y="22"/>
                    <a:pt x="58" y="23"/>
                  </a:cubicBezTo>
                  <a:cubicBezTo>
                    <a:pt x="64" y="25"/>
                    <a:pt x="68" y="30"/>
                    <a:pt x="68" y="36"/>
                  </a:cubicBezTo>
                  <a:cubicBezTo>
                    <a:pt x="68" y="44"/>
                    <a:pt x="62" y="50"/>
                    <a:pt x="55" y="50"/>
                  </a:cubicBezTo>
                  <a:close/>
                  <a:moveTo>
                    <a:pt x="45" y="25"/>
                  </a:moveTo>
                  <a:cubicBezTo>
                    <a:pt x="33" y="13"/>
                    <a:pt x="33" y="13"/>
                    <a:pt x="33" y="13"/>
                  </a:cubicBezTo>
                  <a:cubicBezTo>
                    <a:pt x="32" y="13"/>
                    <a:pt x="32" y="12"/>
                    <a:pt x="32" y="12"/>
                  </a:cubicBezTo>
                  <a:cubicBezTo>
                    <a:pt x="31" y="12"/>
                    <a:pt x="31" y="13"/>
                    <a:pt x="31" y="13"/>
                  </a:cubicBezTo>
                  <a:cubicBezTo>
                    <a:pt x="18" y="25"/>
                    <a:pt x="18" y="25"/>
                    <a:pt x="18" y="25"/>
                  </a:cubicBezTo>
                  <a:cubicBezTo>
                    <a:pt x="18" y="26"/>
                    <a:pt x="18" y="26"/>
                    <a:pt x="18" y="26"/>
                  </a:cubicBezTo>
                  <a:cubicBezTo>
                    <a:pt x="18" y="27"/>
                    <a:pt x="19" y="27"/>
                    <a:pt x="19" y="27"/>
                  </a:cubicBezTo>
                  <a:cubicBezTo>
                    <a:pt x="27" y="27"/>
                    <a:pt x="27" y="27"/>
                    <a:pt x="27" y="27"/>
                  </a:cubicBezTo>
                  <a:cubicBezTo>
                    <a:pt x="27" y="40"/>
                    <a:pt x="27" y="40"/>
                    <a:pt x="27" y="40"/>
                  </a:cubicBezTo>
                  <a:cubicBezTo>
                    <a:pt x="27" y="41"/>
                    <a:pt x="28" y="41"/>
                    <a:pt x="28" y="41"/>
                  </a:cubicBezTo>
                  <a:cubicBezTo>
                    <a:pt x="35" y="41"/>
                    <a:pt x="35" y="41"/>
                    <a:pt x="35" y="41"/>
                  </a:cubicBezTo>
                  <a:cubicBezTo>
                    <a:pt x="36" y="41"/>
                    <a:pt x="36" y="41"/>
                    <a:pt x="36" y="40"/>
                  </a:cubicBezTo>
                  <a:cubicBezTo>
                    <a:pt x="36" y="27"/>
                    <a:pt x="36" y="27"/>
                    <a:pt x="36" y="27"/>
                  </a:cubicBezTo>
                  <a:cubicBezTo>
                    <a:pt x="44" y="27"/>
                    <a:pt x="44" y="27"/>
                    <a:pt x="44" y="27"/>
                  </a:cubicBezTo>
                  <a:cubicBezTo>
                    <a:pt x="45" y="27"/>
                    <a:pt x="45" y="27"/>
                    <a:pt x="45" y="26"/>
                  </a:cubicBezTo>
                  <a:cubicBezTo>
                    <a:pt x="45" y="26"/>
                    <a:pt x="45" y="26"/>
                    <a:pt x="45" y="25"/>
                  </a:cubicBezTo>
                  <a:close/>
                </a:path>
              </a:pathLst>
            </a:custGeom>
            <a:solidFill>
              <a:schemeClr val="bg1"/>
            </a:solidFill>
            <a:ln w="9525">
              <a:noFill/>
              <a:round/>
            </a:ln>
          </p:spPr>
          <p:txBody>
            <a:bodyPr wrap="square" lIns="91440" tIns="45720" rIns="91440" bIns="45720" anchor="ctr">
              <a:normAutofit fontScale="85000" lnSpcReduction="20000"/>
            </a:bodyPr>
            <a:lstStyle/>
            <a:p>
              <a:pPr algn="ctr"/>
              <a:endParaRPr/>
            </a:p>
          </p:txBody>
        </p:sp>
        <p:sp>
          <p:nvSpPr>
            <p:cNvPr id="52" name="iślîḓe"/>
            <p:cNvSpPr/>
            <p:nvPr/>
          </p:nvSpPr>
          <p:spPr bwMode="auto">
            <a:xfrm>
              <a:off x="6975620" y="4538370"/>
              <a:ext cx="367268" cy="319796"/>
            </a:xfrm>
            <a:custGeom>
              <a:avLst/>
              <a:gdLst/>
              <a:ahLst/>
              <a:cxnLst>
                <a:cxn ang="0">
                  <a:pos x="68" y="18"/>
                </a:cxn>
                <a:cxn ang="0">
                  <a:pos x="68" y="50"/>
                </a:cxn>
                <a:cxn ang="0">
                  <a:pos x="59" y="59"/>
                </a:cxn>
                <a:cxn ang="0">
                  <a:pos x="9" y="59"/>
                </a:cxn>
                <a:cxn ang="0">
                  <a:pos x="0" y="50"/>
                </a:cxn>
                <a:cxn ang="0">
                  <a:pos x="0" y="18"/>
                </a:cxn>
                <a:cxn ang="0">
                  <a:pos x="9" y="9"/>
                </a:cxn>
                <a:cxn ang="0">
                  <a:pos x="17" y="9"/>
                </a:cxn>
                <a:cxn ang="0">
                  <a:pos x="19" y="4"/>
                </a:cxn>
                <a:cxn ang="0">
                  <a:pos x="25" y="0"/>
                </a:cxn>
                <a:cxn ang="0">
                  <a:pos x="43" y="0"/>
                </a:cxn>
                <a:cxn ang="0">
                  <a:pos x="49" y="4"/>
                </a:cxn>
                <a:cxn ang="0">
                  <a:pos x="51" y="9"/>
                </a:cxn>
                <a:cxn ang="0">
                  <a:pos x="59" y="9"/>
                </a:cxn>
                <a:cxn ang="0">
                  <a:pos x="68" y="18"/>
                </a:cxn>
                <a:cxn ang="0">
                  <a:pos x="50" y="34"/>
                </a:cxn>
                <a:cxn ang="0">
                  <a:pos x="34" y="18"/>
                </a:cxn>
                <a:cxn ang="0">
                  <a:pos x="18" y="34"/>
                </a:cxn>
                <a:cxn ang="0">
                  <a:pos x="34" y="50"/>
                </a:cxn>
                <a:cxn ang="0">
                  <a:pos x="50" y="34"/>
                </a:cxn>
                <a:cxn ang="0">
                  <a:pos x="44" y="34"/>
                </a:cxn>
                <a:cxn ang="0">
                  <a:pos x="34" y="44"/>
                </a:cxn>
                <a:cxn ang="0">
                  <a:pos x="24" y="34"/>
                </a:cxn>
                <a:cxn ang="0">
                  <a:pos x="34" y="24"/>
                </a:cxn>
                <a:cxn ang="0">
                  <a:pos x="44" y="34"/>
                </a:cxn>
              </a:cxnLst>
              <a:rect l="0" t="0" r="r" b="b"/>
              <a:pathLst>
                <a:path w="68" h="59">
                  <a:moveTo>
                    <a:pt x="68" y="18"/>
                  </a:moveTo>
                  <a:cubicBezTo>
                    <a:pt x="68" y="50"/>
                    <a:pt x="68" y="50"/>
                    <a:pt x="68" y="50"/>
                  </a:cubicBezTo>
                  <a:cubicBezTo>
                    <a:pt x="68" y="55"/>
                    <a:pt x="64" y="59"/>
                    <a:pt x="59" y="59"/>
                  </a:cubicBezTo>
                  <a:cubicBezTo>
                    <a:pt x="9" y="59"/>
                    <a:pt x="9" y="59"/>
                    <a:pt x="9" y="59"/>
                  </a:cubicBezTo>
                  <a:cubicBezTo>
                    <a:pt x="4" y="59"/>
                    <a:pt x="0" y="55"/>
                    <a:pt x="0" y="50"/>
                  </a:cubicBezTo>
                  <a:cubicBezTo>
                    <a:pt x="0" y="18"/>
                    <a:pt x="0" y="18"/>
                    <a:pt x="0" y="18"/>
                  </a:cubicBezTo>
                  <a:cubicBezTo>
                    <a:pt x="0" y="13"/>
                    <a:pt x="4" y="9"/>
                    <a:pt x="9" y="9"/>
                  </a:cubicBezTo>
                  <a:cubicBezTo>
                    <a:pt x="17" y="9"/>
                    <a:pt x="17" y="9"/>
                    <a:pt x="17" y="9"/>
                  </a:cubicBezTo>
                  <a:cubicBezTo>
                    <a:pt x="19" y="4"/>
                    <a:pt x="19" y="4"/>
                    <a:pt x="19" y="4"/>
                  </a:cubicBezTo>
                  <a:cubicBezTo>
                    <a:pt x="20" y="2"/>
                    <a:pt x="22" y="0"/>
                    <a:pt x="25" y="0"/>
                  </a:cubicBezTo>
                  <a:cubicBezTo>
                    <a:pt x="43" y="0"/>
                    <a:pt x="43" y="0"/>
                    <a:pt x="43" y="0"/>
                  </a:cubicBezTo>
                  <a:cubicBezTo>
                    <a:pt x="46" y="0"/>
                    <a:pt x="48" y="2"/>
                    <a:pt x="49" y="4"/>
                  </a:cubicBezTo>
                  <a:cubicBezTo>
                    <a:pt x="51" y="9"/>
                    <a:pt x="51" y="9"/>
                    <a:pt x="51" y="9"/>
                  </a:cubicBezTo>
                  <a:cubicBezTo>
                    <a:pt x="59" y="9"/>
                    <a:pt x="59" y="9"/>
                    <a:pt x="59" y="9"/>
                  </a:cubicBezTo>
                  <a:cubicBezTo>
                    <a:pt x="64" y="9"/>
                    <a:pt x="68" y="13"/>
                    <a:pt x="68" y="18"/>
                  </a:cubicBezTo>
                  <a:close/>
                  <a:moveTo>
                    <a:pt x="50" y="34"/>
                  </a:moveTo>
                  <a:cubicBezTo>
                    <a:pt x="50" y="25"/>
                    <a:pt x="43" y="18"/>
                    <a:pt x="34" y="18"/>
                  </a:cubicBezTo>
                  <a:cubicBezTo>
                    <a:pt x="25" y="18"/>
                    <a:pt x="18" y="25"/>
                    <a:pt x="18" y="34"/>
                  </a:cubicBezTo>
                  <a:cubicBezTo>
                    <a:pt x="18" y="43"/>
                    <a:pt x="25" y="50"/>
                    <a:pt x="34" y="50"/>
                  </a:cubicBezTo>
                  <a:cubicBezTo>
                    <a:pt x="43" y="50"/>
                    <a:pt x="50" y="43"/>
                    <a:pt x="50" y="34"/>
                  </a:cubicBezTo>
                  <a:close/>
                  <a:moveTo>
                    <a:pt x="44" y="34"/>
                  </a:moveTo>
                  <a:cubicBezTo>
                    <a:pt x="44" y="40"/>
                    <a:pt x="40" y="44"/>
                    <a:pt x="34" y="44"/>
                  </a:cubicBezTo>
                  <a:cubicBezTo>
                    <a:pt x="28" y="44"/>
                    <a:pt x="24" y="40"/>
                    <a:pt x="24" y="34"/>
                  </a:cubicBezTo>
                  <a:cubicBezTo>
                    <a:pt x="24" y="28"/>
                    <a:pt x="28" y="24"/>
                    <a:pt x="34" y="24"/>
                  </a:cubicBezTo>
                  <a:cubicBezTo>
                    <a:pt x="40" y="24"/>
                    <a:pt x="44" y="28"/>
                    <a:pt x="44" y="34"/>
                  </a:cubicBezTo>
                  <a:close/>
                </a:path>
              </a:pathLst>
            </a:custGeom>
            <a:solidFill>
              <a:schemeClr val="bg1"/>
            </a:solidFill>
            <a:ln w="9525">
              <a:noFill/>
              <a:round/>
            </a:ln>
          </p:spPr>
          <p:txBody>
            <a:bodyPr wrap="square" lIns="91440" tIns="45720" rIns="91440" bIns="45720" anchor="ctr">
              <a:normAutofit fontScale="92500" lnSpcReduction="20000"/>
            </a:bodyPr>
            <a:lstStyle/>
            <a:p>
              <a:pPr algn="ctr"/>
              <a:endParaRPr/>
            </a:p>
          </p:txBody>
        </p:sp>
        <p:sp>
          <p:nvSpPr>
            <p:cNvPr id="66" name="iṧļiḑé"/>
            <p:cNvSpPr/>
            <p:nvPr/>
          </p:nvSpPr>
          <p:spPr>
            <a:xfrm>
              <a:off x="669926" y="1928435"/>
              <a:ext cx="3711012" cy="1340509"/>
            </a:xfrm>
            <a:prstGeom prst="rect">
              <a:avLst/>
            </a:prstGeom>
          </p:spPr>
          <p:txBody>
            <a:bodyPr wrap="square" lIns="91440" tIns="45720" rIns="91440" bIns="45720" anchor="ctr">
              <a:normAutofit/>
            </a:bodyPr>
            <a:lstStyle/>
            <a:p>
              <a:pPr algn="r">
                <a:lnSpc>
                  <a:spcPct val="120000"/>
                </a:lnSpc>
              </a:pPr>
              <a:r>
                <a:rPr lang="zh-CN" altLang="en-US" sz="2400" b="1" dirty="0"/>
                <a:t>进程是程序的一个实例，是程序的一次执行。</a:t>
              </a:r>
            </a:p>
          </p:txBody>
        </p:sp>
        <p:sp>
          <p:nvSpPr>
            <p:cNvPr id="64" name="ísļiḋè"/>
            <p:cNvSpPr/>
            <p:nvPr/>
          </p:nvSpPr>
          <p:spPr>
            <a:xfrm>
              <a:off x="675582" y="4247248"/>
              <a:ext cx="3711012" cy="1340509"/>
            </a:xfrm>
            <a:prstGeom prst="rect">
              <a:avLst/>
            </a:prstGeom>
          </p:spPr>
          <p:txBody>
            <a:bodyPr wrap="square" lIns="91440" tIns="45720" rIns="91440" bIns="45720" anchor="ctr">
              <a:normAutofit/>
            </a:bodyPr>
            <a:lstStyle/>
            <a:p>
              <a:pPr algn="r">
                <a:lnSpc>
                  <a:spcPct val="120000"/>
                </a:lnSpc>
              </a:pPr>
              <a:r>
                <a:rPr lang="zh-CN" altLang="en-US" sz="2400" b="1" dirty="0"/>
                <a:t>程序是进程的代码部分。</a:t>
              </a:r>
            </a:p>
          </p:txBody>
        </p:sp>
        <p:cxnSp>
          <p:nvCxnSpPr>
            <p:cNvPr id="55" name="直接连接符 54"/>
            <p:cNvCxnSpPr/>
            <p:nvPr/>
          </p:nvCxnSpPr>
          <p:spPr>
            <a:xfrm>
              <a:off x="673100" y="3636429"/>
              <a:ext cx="40005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2" name="iŝļíḍe"/>
            <p:cNvSpPr/>
            <p:nvPr/>
          </p:nvSpPr>
          <p:spPr>
            <a:xfrm>
              <a:off x="7918519" y="1922779"/>
              <a:ext cx="2461853" cy="1340509"/>
            </a:xfrm>
            <a:prstGeom prst="rect">
              <a:avLst/>
            </a:prstGeom>
          </p:spPr>
          <p:txBody>
            <a:bodyPr wrap="square" lIns="91440" tIns="45720" rIns="91440" bIns="45720" anchor="ctr">
              <a:noAutofit/>
            </a:bodyPr>
            <a:lstStyle/>
            <a:p>
              <a:pPr>
                <a:lnSpc>
                  <a:spcPct val="120000"/>
                </a:lnSpc>
              </a:pPr>
              <a:r>
                <a:rPr lang="zh-CN" altLang="en-US" sz="2400" b="1" dirty="0">
                  <a:solidFill>
                    <a:srgbClr val="FF0000"/>
                  </a:solidFill>
                </a:rPr>
                <a:t>进程是活动的，程序是静态的。</a:t>
              </a:r>
            </a:p>
          </p:txBody>
        </p:sp>
        <p:sp>
          <p:nvSpPr>
            <p:cNvPr id="60" name="ïṥľïḑé"/>
            <p:cNvSpPr/>
            <p:nvPr/>
          </p:nvSpPr>
          <p:spPr>
            <a:xfrm>
              <a:off x="7924175" y="4243005"/>
              <a:ext cx="2461853" cy="1340509"/>
            </a:xfrm>
            <a:prstGeom prst="rect">
              <a:avLst/>
            </a:prstGeom>
          </p:spPr>
          <p:txBody>
            <a:bodyPr wrap="square" lIns="91440" tIns="45720" rIns="91440" bIns="45720" anchor="ctr">
              <a:noAutofit/>
            </a:bodyPr>
            <a:lstStyle/>
            <a:p>
              <a:pPr>
                <a:lnSpc>
                  <a:spcPct val="120000"/>
                </a:lnSpc>
              </a:pPr>
              <a:r>
                <a:rPr lang="zh-CN" altLang="en-US" sz="2400" b="1" dirty="0"/>
                <a:t>进程在内存中，程序在外存中。</a:t>
              </a:r>
            </a:p>
          </p:txBody>
        </p:sp>
        <p:cxnSp>
          <p:nvCxnSpPr>
            <p:cNvPr id="58" name="直接连接符 57"/>
            <p:cNvCxnSpPr/>
            <p:nvPr/>
          </p:nvCxnSpPr>
          <p:spPr>
            <a:xfrm>
              <a:off x="7556500" y="3636429"/>
              <a:ext cx="3962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22529"/>
          <p:cNvSpPr>
            <a:spLocks noGrp="1"/>
          </p:cNvSpPr>
          <p:nvPr>
            <p:ph type="title"/>
          </p:nvPr>
        </p:nvSpPr>
        <p:spPr>
          <a:xfrm>
            <a:off x="1538288" y="321628"/>
            <a:ext cx="7793037" cy="1030287"/>
          </a:xfrm>
        </p:spPr>
        <p:txBody>
          <a:bodyPr anchor="b" anchorCtr="0"/>
          <a:lstStyle/>
          <a:p>
            <a:r>
              <a:rPr lang="en-US" altLang="zh-CN"/>
              <a:t>  </a:t>
            </a:r>
            <a:r>
              <a:rPr lang="zh-CN" altLang="en-US"/>
              <a:t>进程描述</a:t>
            </a:r>
          </a:p>
        </p:txBody>
      </p:sp>
      <p:sp>
        <p:nvSpPr>
          <p:cNvPr id="21506" name="文本占位符 22530"/>
          <p:cNvSpPr>
            <a:spLocks noGrp="1"/>
          </p:cNvSpPr>
          <p:nvPr>
            <p:ph idx="1"/>
          </p:nvPr>
        </p:nvSpPr>
        <p:spPr>
          <a:xfrm>
            <a:off x="1338263" y="1706880"/>
            <a:ext cx="3898900" cy="4392613"/>
          </a:xfrm>
        </p:spPr>
        <p:txBody>
          <a:bodyPr anchor="t" anchorCtr="0"/>
          <a:lstStyle/>
          <a:p>
            <a:pPr>
              <a:lnSpc>
                <a:spcPct val="90000"/>
              </a:lnSpc>
              <a:buNone/>
            </a:pPr>
            <a:r>
              <a:rPr lang="en-US" altLang="zh-CN" sz="2800"/>
              <a:t>1</a:t>
            </a:r>
            <a:r>
              <a:rPr lang="zh-CN" altLang="en-US" sz="2800"/>
              <a:t>．进程映像</a:t>
            </a:r>
          </a:p>
          <a:p>
            <a:pPr>
              <a:lnSpc>
                <a:spcPct val="90000"/>
              </a:lnSpc>
            </a:pPr>
            <a:r>
              <a:rPr lang="zh-CN" altLang="en-US" sz="2800" b="1">
                <a:solidFill>
                  <a:srgbClr val="FF0000"/>
                </a:solidFill>
              </a:rPr>
              <a:t>进程映像</a:t>
            </a:r>
            <a:r>
              <a:rPr lang="zh-CN" altLang="en-US" sz="2800"/>
              <a:t>由程序、数据集合、栈、</a:t>
            </a:r>
            <a:r>
              <a:rPr lang="en-US" altLang="zh-CN" sz="2800"/>
              <a:t>PCB</a:t>
            </a:r>
            <a:r>
              <a:rPr lang="zh-CN" altLang="en-US" sz="2800"/>
              <a:t>四部分组成。</a:t>
            </a:r>
          </a:p>
          <a:p>
            <a:pPr>
              <a:lnSpc>
                <a:spcPct val="90000"/>
              </a:lnSpc>
            </a:pPr>
            <a:r>
              <a:rPr lang="zh-CN" altLang="en-US" sz="2800"/>
              <a:t>程序的执行过程必须包含一个或多个栈，用来保存过程调用和相互传送参数的踪迹。</a:t>
            </a:r>
          </a:p>
        </p:txBody>
      </p:sp>
      <p:pic>
        <p:nvPicPr>
          <p:cNvPr id="21507" name="图片 22531" descr="t23"/>
          <p:cNvPicPr>
            <a:picLocks noChangeAspect="1"/>
          </p:cNvPicPr>
          <p:nvPr/>
        </p:nvPicPr>
        <p:blipFill>
          <a:blip r:embed="rId2"/>
          <a:stretch>
            <a:fillRect/>
          </a:stretch>
        </p:blipFill>
        <p:spPr>
          <a:xfrm>
            <a:off x="6743700" y="1989138"/>
            <a:ext cx="3167063" cy="3168650"/>
          </a:xfrm>
          <a:prstGeom prst="rect">
            <a:avLst/>
          </a:prstGeom>
          <a:noFill/>
          <a:ln w="9525">
            <a:noFill/>
          </a:ln>
        </p:spPr>
      </p:pic>
      <p:sp>
        <p:nvSpPr>
          <p:cNvPr id="21508" name="文本框 22532"/>
          <p:cNvSpPr txBox="1"/>
          <p:nvPr/>
        </p:nvSpPr>
        <p:spPr>
          <a:xfrm>
            <a:off x="7175500" y="5373688"/>
            <a:ext cx="3313113" cy="368300"/>
          </a:xfrm>
          <a:prstGeom prst="rect">
            <a:avLst/>
          </a:prstGeom>
          <a:noFill/>
          <a:ln w="9525">
            <a:noFill/>
          </a:ln>
        </p:spPr>
        <p:txBody>
          <a:bodyPr anchor="t" anchorCtr="0">
            <a:spAutoFit/>
          </a:bodyPr>
          <a:lstStyle/>
          <a:p>
            <a:pPr>
              <a:spcBef>
                <a:spcPct val="50000"/>
              </a:spcBef>
            </a:pPr>
            <a:r>
              <a:rPr lang="zh-CN" altLang="en-US">
                <a:latin typeface="Tahoma" panose="020B0604030504040204" pitchFamily="2" charset="0"/>
                <a:ea typeface="宋体" panose="02010600030101010101" pitchFamily="2" charset="-122"/>
              </a:rPr>
              <a:t>图</a:t>
            </a:r>
            <a:r>
              <a:rPr lang="en-US" altLang="zh-CN">
                <a:latin typeface="Tahoma" panose="020B0604030504040204" pitchFamily="2" charset="0"/>
                <a:ea typeface="宋体" panose="02010600030101010101" pitchFamily="2" charset="-122"/>
              </a:rPr>
              <a:t> </a:t>
            </a:r>
            <a:r>
              <a:rPr lang="zh-CN" altLang="en-US">
                <a:latin typeface="Tahoma" panose="020B0604030504040204" pitchFamily="2" charset="0"/>
                <a:ea typeface="宋体" panose="02010600030101010101" pitchFamily="2" charset="-122"/>
              </a:rPr>
              <a:t>进程映像模型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进程的状态及转换</a:t>
            </a:r>
          </a:p>
        </p:txBody>
      </p:sp>
      <p:sp>
        <p:nvSpPr>
          <p:cNvPr id="4" name="文本框 3"/>
          <p:cNvSpPr txBox="1"/>
          <p:nvPr/>
        </p:nvSpPr>
        <p:spPr>
          <a:xfrm>
            <a:off x="1357520" y="1168535"/>
            <a:ext cx="10284981" cy="4916805"/>
          </a:xfrm>
          <a:prstGeom prst="rect">
            <a:avLst/>
          </a:prstGeom>
          <a:noFill/>
        </p:spPr>
        <p:txBody>
          <a:bodyPr wrap="square" rtlCol="0">
            <a:spAutoFit/>
          </a:bodyPr>
          <a:lstStyle/>
          <a:p>
            <a:pPr>
              <a:lnSpc>
                <a:spcPct val="120000"/>
              </a:lnSpc>
              <a:spcBef>
                <a:spcPts val="300"/>
              </a:spcBef>
              <a:spcAft>
                <a:spcPts val="300"/>
              </a:spcAft>
            </a:pPr>
            <a:r>
              <a:rPr lang="zh-CN" altLang="en-US" sz="2400" dirty="0"/>
              <a:t>就绪状态</a:t>
            </a:r>
          </a:p>
          <a:p>
            <a:pPr algn="just">
              <a:lnSpc>
                <a:spcPct val="120000"/>
              </a:lnSpc>
              <a:spcBef>
                <a:spcPts val="300"/>
              </a:spcBef>
              <a:spcAft>
                <a:spcPts val="300"/>
              </a:spcAft>
            </a:pPr>
            <a:r>
              <a:rPr lang="zh-CN" altLang="en-US" sz="2200">
                <a:sym typeface="+mn-ea"/>
              </a:rPr>
              <a:t>进程具备运行所有资源，只是</a:t>
            </a:r>
            <a:r>
              <a:rPr lang="zh-CN" altLang="en-US" sz="2200">
                <a:solidFill>
                  <a:srgbClr val="FF0000"/>
                </a:solidFill>
                <a:sym typeface="+mn-ea"/>
              </a:rPr>
              <a:t>等待分配</a:t>
            </a:r>
            <a:r>
              <a:rPr lang="en-US" altLang="zh-CN" sz="2200">
                <a:solidFill>
                  <a:srgbClr val="FF0000"/>
                </a:solidFill>
                <a:sym typeface="+mn-ea"/>
              </a:rPr>
              <a:t>CPU</a:t>
            </a:r>
            <a:r>
              <a:rPr lang="zh-CN" altLang="en-US" sz="2200">
                <a:sym typeface="+mn-ea"/>
              </a:rPr>
              <a:t>。      </a:t>
            </a:r>
          </a:p>
          <a:p>
            <a:pPr algn="just">
              <a:lnSpc>
                <a:spcPct val="120000"/>
              </a:lnSpc>
              <a:spcBef>
                <a:spcPts val="300"/>
              </a:spcBef>
              <a:spcAft>
                <a:spcPts val="300"/>
              </a:spcAft>
            </a:pPr>
            <a:r>
              <a:rPr lang="zh-CN" altLang="en-US" sz="2200">
                <a:solidFill>
                  <a:srgbClr val="FF0000"/>
                </a:solidFill>
                <a:sym typeface="+mn-ea"/>
              </a:rPr>
              <a:t>就绪队列中可有多个就绪态的进程。</a:t>
            </a:r>
          </a:p>
          <a:p>
            <a:pPr algn="just">
              <a:lnSpc>
                <a:spcPct val="120000"/>
              </a:lnSpc>
              <a:spcBef>
                <a:spcPts val="300"/>
              </a:spcBef>
              <a:spcAft>
                <a:spcPts val="300"/>
              </a:spcAft>
            </a:pPr>
            <a:r>
              <a:rPr lang="zh-CN" altLang="en-US" sz="2400" dirty="0">
                <a:solidFill>
                  <a:schemeClr val="tx1"/>
                </a:solidFill>
                <a:latin typeface="+mn-ea"/>
              </a:rPr>
              <a:t>执行状态：</a:t>
            </a:r>
            <a:r>
              <a:rPr lang="zh-CN" altLang="en-US" sz="2400" dirty="0">
                <a:latin typeface="+mn-ea"/>
              </a:rPr>
              <a:t>已获得</a:t>
            </a:r>
            <a:r>
              <a:rPr lang="en-US" altLang="zh-CN" sz="2400" dirty="0">
                <a:latin typeface="+mn-ea"/>
              </a:rPr>
              <a:t>CPU</a:t>
            </a:r>
            <a:r>
              <a:rPr lang="zh-CN" altLang="en-US" sz="2400" dirty="0">
                <a:latin typeface="+mn-ea"/>
              </a:rPr>
              <a:t>，正在执行的状态</a:t>
            </a: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单处理机：一个进程处于执行状态</a:t>
            </a: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多处理机：多个进程处于执行状态</a:t>
            </a:r>
            <a:endParaRPr lang="en-US" altLang="zh-CN" sz="2200" dirty="0">
              <a:latin typeface="+mn-ea"/>
            </a:endParaRPr>
          </a:p>
          <a:p>
            <a:pPr>
              <a:lnSpc>
                <a:spcPct val="120000"/>
              </a:lnSpc>
              <a:spcBef>
                <a:spcPts val="300"/>
              </a:spcBef>
              <a:spcAft>
                <a:spcPts val="300"/>
              </a:spcAft>
              <a:buClr>
                <a:srgbClr val="FF0000"/>
              </a:buClr>
            </a:pPr>
            <a:r>
              <a:rPr lang="zh-CN" altLang="en-US" sz="2200" dirty="0">
                <a:latin typeface="+mn-ea"/>
              </a:rPr>
              <a:t>阻塞状态</a:t>
            </a: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正在执行的进程由于发生某事件而</a:t>
            </a:r>
            <a:r>
              <a:rPr lang="zh-CN" altLang="en-US" sz="2200" dirty="0">
                <a:solidFill>
                  <a:srgbClr val="FF0000"/>
                </a:solidFill>
                <a:latin typeface="+mn-ea"/>
              </a:rPr>
              <a:t>暂时</a:t>
            </a:r>
            <a:r>
              <a:rPr lang="zh-CN" altLang="en-US" sz="2200" dirty="0">
                <a:latin typeface="+mn-ea"/>
              </a:rPr>
              <a:t>无法继续执行的状态</a:t>
            </a: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典型事件：请求</a:t>
            </a:r>
            <a:r>
              <a:rPr lang="en-US" altLang="zh-CN" sz="2200" dirty="0">
                <a:latin typeface="+mn-ea"/>
              </a:rPr>
              <a:t>I/O</a:t>
            </a:r>
            <a:r>
              <a:rPr lang="zh-CN" altLang="en-US" sz="2200" dirty="0">
                <a:latin typeface="+mn-ea"/>
              </a:rPr>
              <a:t>、申请缓冲空间</a:t>
            </a: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根据阻塞原因，设置多个阻塞队列</a:t>
            </a: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1168535"/>
            <a:ext cx="527050" cy="527050"/>
          </a:xfrm>
          <a:prstGeom prst="rect">
            <a:avLst/>
          </a:prstGeom>
          <a:ln>
            <a:noFill/>
          </a:ln>
          <a:effectLst>
            <a:softEdge rad="0"/>
          </a:effectLst>
        </p:spPr>
      </p:pic>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2630947"/>
            <a:ext cx="527050" cy="527050"/>
          </a:xfrm>
          <a:prstGeom prst="rect">
            <a:avLst/>
          </a:prstGeom>
          <a:ln>
            <a:noFill/>
          </a:ln>
          <a:effectLst>
            <a:softEdge rad="0"/>
          </a:effectLst>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4092724"/>
            <a:ext cx="527050" cy="527050"/>
          </a:xfrm>
          <a:prstGeom prst="rect">
            <a:avLst/>
          </a:prstGeom>
          <a:ln>
            <a:noFill/>
          </a:ln>
          <a:effectLst>
            <a:softEdge rad="0"/>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进程状态及其转换</a:t>
            </a:r>
          </a:p>
        </p:txBody>
      </p:sp>
      <p:grpSp>
        <p:nvGrpSpPr>
          <p:cNvPr id="7" name="组合 39"/>
          <p:cNvGrpSpPr/>
          <p:nvPr/>
        </p:nvGrpSpPr>
        <p:grpSpPr bwMode="auto">
          <a:xfrm>
            <a:off x="1980329" y="1583251"/>
            <a:ext cx="8902320" cy="3661843"/>
            <a:chOff x="2000232" y="2143116"/>
            <a:chExt cx="5225681" cy="2865232"/>
          </a:xfrm>
        </p:grpSpPr>
        <p:sp>
          <p:nvSpPr>
            <p:cNvPr id="8" name="Oval 6"/>
            <p:cNvSpPr>
              <a:spLocks noChangeArrowheads="1"/>
            </p:cNvSpPr>
            <p:nvPr/>
          </p:nvSpPr>
          <p:spPr bwMode="auto">
            <a:xfrm>
              <a:off x="3571868" y="2143116"/>
              <a:ext cx="928694" cy="719476"/>
            </a:xfrm>
            <a:prstGeom prst="ellipse">
              <a:avLst/>
            </a:prstGeom>
            <a:solidFill>
              <a:srgbClr val="00005C"/>
            </a:solidFill>
            <a:ln w="19050">
              <a:solidFill>
                <a:srgbClr val="000000"/>
              </a:solidFill>
              <a:round/>
            </a:ln>
          </p:spPr>
          <p:txBody>
            <a:bodyPr lIns="0" tIns="0" rIns="0" bIns="0" anchor="ctr"/>
            <a:lstStyle/>
            <a:p>
              <a:pPr algn="ctr" eaLnBrk="1" hangingPunct="1">
                <a:spcBef>
                  <a:spcPts val="775"/>
                </a:spcBef>
                <a:defRPr/>
              </a:pPr>
              <a:r>
                <a:rPr lang="zh-CN" altLang="en-US" sz="2400" b="1" dirty="0">
                  <a:solidFill>
                    <a:schemeClr val="bg1"/>
                  </a:solidFill>
                  <a:latin typeface="+mn-ea"/>
                </a:rPr>
                <a:t>就绪</a:t>
              </a:r>
            </a:p>
          </p:txBody>
        </p:sp>
        <p:sp>
          <p:nvSpPr>
            <p:cNvPr id="9" name="Oval 7"/>
            <p:cNvSpPr>
              <a:spLocks noChangeArrowheads="1"/>
            </p:cNvSpPr>
            <p:nvPr/>
          </p:nvSpPr>
          <p:spPr bwMode="auto">
            <a:xfrm>
              <a:off x="5143504" y="4070888"/>
              <a:ext cx="857256" cy="857022"/>
            </a:xfrm>
            <a:prstGeom prst="ellipse">
              <a:avLst/>
            </a:prstGeom>
            <a:solidFill>
              <a:srgbClr val="00005C"/>
            </a:solidFill>
            <a:ln w="19050">
              <a:solidFill>
                <a:srgbClr val="000000"/>
              </a:solidFill>
              <a:round/>
            </a:ln>
          </p:spPr>
          <p:txBody>
            <a:bodyPr lIns="0" tIns="0" rIns="0" bIns="0" anchor="ctr"/>
            <a:lstStyle/>
            <a:p>
              <a:pPr algn="ctr" eaLnBrk="1" hangingPunct="1">
                <a:spcBef>
                  <a:spcPts val="775"/>
                </a:spcBef>
                <a:defRPr/>
              </a:pPr>
              <a:r>
                <a:rPr lang="zh-CN" altLang="en-US" sz="2400" b="1" dirty="0">
                  <a:solidFill>
                    <a:schemeClr val="bg1"/>
                  </a:solidFill>
                  <a:latin typeface="+mn-ea"/>
                </a:rPr>
                <a:t>执行</a:t>
              </a:r>
            </a:p>
          </p:txBody>
        </p:sp>
        <p:sp>
          <p:nvSpPr>
            <p:cNvPr id="10" name="Oval 8"/>
            <p:cNvSpPr>
              <a:spLocks noChangeArrowheads="1"/>
            </p:cNvSpPr>
            <p:nvPr/>
          </p:nvSpPr>
          <p:spPr bwMode="auto">
            <a:xfrm>
              <a:off x="2000232" y="4070888"/>
              <a:ext cx="841381" cy="787191"/>
            </a:xfrm>
            <a:prstGeom prst="ellipse">
              <a:avLst/>
            </a:prstGeom>
            <a:solidFill>
              <a:srgbClr val="00005C"/>
            </a:solidFill>
            <a:ln w="19050">
              <a:solidFill>
                <a:schemeClr val="tx1"/>
              </a:solidFill>
              <a:round/>
            </a:ln>
          </p:spPr>
          <p:txBody>
            <a:bodyPr lIns="0" tIns="0" rIns="0" bIns="0" anchor="ctr"/>
            <a:lstStyle/>
            <a:p>
              <a:pPr algn="ctr" eaLnBrk="1" hangingPunct="1">
                <a:spcBef>
                  <a:spcPts val="775"/>
                </a:spcBef>
                <a:defRPr/>
              </a:pPr>
              <a:r>
                <a:rPr lang="zh-CN" altLang="en-US" sz="2400" b="1" dirty="0">
                  <a:solidFill>
                    <a:schemeClr val="bg1"/>
                  </a:solidFill>
                  <a:latin typeface="+mn-ea"/>
                </a:rPr>
                <a:t>阻塞</a:t>
              </a:r>
            </a:p>
          </p:txBody>
        </p:sp>
        <p:sp>
          <p:nvSpPr>
            <p:cNvPr id="11" name="Line 9"/>
            <p:cNvSpPr>
              <a:spLocks noChangeShapeType="1"/>
            </p:cNvSpPr>
            <p:nvPr/>
          </p:nvSpPr>
          <p:spPr bwMode="auto">
            <a:xfrm flipH="1" flipV="1">
              <a:off x="4429124" y="2714619"/>
              <a:ext cx="1133604" cy="1346158"/>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2" name="Line 10"/>
            <p:cNvSpPr>
              <a:spLocks noChangeShapeType="1"/>
            </p:cNvSpPr>
            <p:nvPr/>
          </p:nvSpPr>
          <p:spPr bwMode="auto">
            <a:xfrm>
              <a:off x="4071933" y="2857497"/>
              <a:ext cx="1143009" cy="135732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3" name="Line 11"/>
            <p:cNvSpPr>
              <a:spLocks noChangeShapeType="1"/>
            </p:cNvSpPr>
            <p:nvPr/>
          </p:nvSpPr>
          <p:spPr bwMode="auto">
            <a:xfrm flipV="1">
              <a:off x="2628779" y="2714619"/>
              <a:ext cx="1014528" cy="1352703"/>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4" name="Line 12"/>
            <p:cNvSpPr>
              <a:spLocks noChangeShapeType="1"/>
            </p:cNvSpPr>
            <p:nvPr/>
          </p:nvSpPr>
          <p:spPr bwMode="auto">
            <a:xfrm flipH="1" flipV="1">
              <a:off x="2857488" y="4547011"/>
              <a:ext cx="2286016" cy="1383"/>
            </a:xfrm>
            <a:prstGeom prst="line">
              <a:avLst/>
            </a:prstGeom>
            <a:ln>
              <a:solidFill>
                <a:srgbClr val="FF0000"/>
              </a:solidFill>
              <a:tailEnd type="triangle" w="med" len="med"/>
            </a:ln>
          </p:spPr>
          <p:style>
            <a:lnRef idx="1">
              <a:schemeClr val="dk1"/>
            </a:lnRef>
            <a:fillRef idx="0">
              <a:schemeClr val="dk1"/>
            </a:fillRef>
            <a:effectRef idx="0">
              <a:schemeClr val="dk1"/>
            </a:effectRef>
            <a:fontRef idx="minor">
              <a:schemeClr val="tx1"/>
            </a:fontRef>
          </p:style>
          <p:txBody>
            <a:bodyPr/>
            <a:lstStyle/>
            <a:p>
              <a:pPr eaLnBrk="1" hangingPunct="1">
                <a:defRPr/>
              </a:pPr>
              <a:endParaRPr lang="zh-CN" altLang="en-US" sz="2400">
                <a:latin typeface="+mn-ea"/>
              </a:endParaRPr>
            </a:p>
          </p:txBody>
        </p:sp>
        <p:sp>
          <p:nvSpPr>
            <p:cNvPr id="15" name="TextBox 33"/>
            <p:cNvSpPr txBox="1">
              <a:spLocks noChangeArrowheads="1"/>
            </p:cNvSpPr>
            <p:nvPr/>
          </p:nvSpPr>
          <p:spPr bwMode="auto">
            <a:xfrm rot="18856974">
              <a:off x="2335908" y="3156349"/>
              <a:ext cx="1345146" cy="270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a:latin typeface="+mn-ea"/>
                  <a:ea typeface="+mn-ea"/>
                </a:rPr>
                <a:t>I/O</a:t>
              </a:r>
              <a:r>
                <a:rPr lang="zh-CN" altLang="en-US" sz="2400">
                  <a:latin typeface="+mn-ea"/>
                  <a:ea typeface="+mn-ea"/>
                </a:rPr>
                <a:t>完成</a:t>
              </a:r>
            </a:p>
          </p:txBody>
        </p:sp>
        <p:sp>
          <p:nvSpPr>
            <p:cNvPr id="16" name="TextBox 34"/>
            <p:cNvSpPr txBox="1">
              <a:spLocks noChangeArrowheads="1"/>
            </p:cNvSpPr>
            <p:nvPr/>
          </p:nvSpPr>
          <p:spPr bwMode="auto">
            <a:xfrm>
              <a:off x="3643307" y="4647115"/>
              <a:ext cx="1214446" cy="361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请求</a:t>
              </a:r>
            </a:p>
          </p:txBody>
        </p:sp>
        <p:sp>
          <p:nvSpPr>
            <p:cNvPr id="17" name="TextBox 35"/>
            <p:cNvSpPr txBox="1">
              <a:spLocks noChangeArrowheads="1"/>
            </p:cNvSpPr>
            <p:nvPr/>
          </p:nvSpPr>
          <p:spPr bwMode="auto">
            <a:xfrm rot="2533744">
              <a:off x="3950821" y="3617065"/>
              <a:ext cx="1178804" cy="361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进程调度</a:t>
              </a:r>
            </a:p>
          </p:txBody>
        </p:sp>
        <p:sp>
          <p:nvSpPr>
            <p:cNvPr id="18" name="TextBox 36"/>
            <p:cNvSpPr txBox="1">
              <a:spLocks noChangeArrowheads="1"/>
            </p:cNvSpPr>
            <p:nvPr/>
          </p:nvSpPr>
          <p:spPr bwMode="auto">
            <a:xfrm rot="2542726">
              <a:off x="4624216" y="3126083"/>
              <a:ext cx="1061641" cy="361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时间片完</a:t>
              </a:r>
            </a:p>
          </p:txBody>
        </p:sp>
        <p:sp>
          <p:nvSpPr>
            <p:cNvPr id="19" name="Line 11"/>
            <p:cNvSpPr>
              <a:spLocks noChangeShapeType="1"/>
            </p:cNvSpPr>
            <p:nvPr/>
          </p:nvSpPr>
          <p:spPr bwMode="auto">
            <a:xfrm flipV="1">
              <a:off x="6000760" y="4500456"/>
              <a:ext cx="1225153" cy="1"/>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21" name="TextBox 38"/>
            <p:cNvSpPr txBox="1">
              <a:spLocks noChangeArrowheads="1"/>
            </p:cNvSpPr>
            <p:nvPr/>
          </p:nvSpPr>
          <p:spPr bwMode="auto">
            <a:xfrm>
              <a:off x="6076542" y="4569820"/>
              <a:ext cx="857256" cy="361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终止</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24363"/>
            <a:ext cx="7026275" cy="523220"/>
          </a:xfrm>
          <a:prstGeom prst="rect">
            <a:avLst/>
          </a:prstGeom>
        </p:spPr>
        <p:txBody>
          <a:bodyPr wrap="square">
            <a:spAutoFit/>
          </a:bodyPr>
          <a:lstStyle/>
          <a:p>
            <a:r>
              <a:rPr lang="zh-CN" altLang="en-US" sz="2800" b="1" dirty="0">
                <a:solidFill>
                  <a:schemeClr val="bg1"/>
                </a:solidFill>
              </a:rPr>
              <a:t>创建状态和终止状态</a:t>
            </a:r>
          </a:p>
        </p:txBody>
      </p:sp>
      <p:sp>
        <p:nvSpPr>
          <p:cNvPr id="22" name="iśḷíḑe"/>
          <p:cNvSpPr/>
          <p:nvPr/>
        </p:nvSpPr>
        <p:spPr>
          <a:xfrm>
            <a:off x="795601" y="1340723"/>
            <a:ext cx="743949" cy="74394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23" name="ïś1ïḑè"/>
          <p:cNvSpPr/>
          <p:nvPr/>
        </p:nvSpPr>
        <p:spPr>
          <a:xfrm>
            <a:off x="795601" y="2826804"/>
            <a:ext cx="743949" cy="7439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24" name="内容占位符 2"/>
          <p:cNvSpPr txBox="1"/>
          <p:nvPr/>
        </p:nvSpPr>
        <p:spPr>
          <a:xfrm>
            <a:off x="1708458" y="1340724"/>
            <a:ext cx="9587368" cy="111675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0000FF"/>
                </a:solidFill>
              </a:rPr>
              <a:t>创建状态</a:t>
            </a:r>
          </a:p>
          <a:p>
            <a:pPr lvl="1">
              <a:lnSpc>
                <a:spcPct val="132000"/>
              </a:lnSpc>
              <a:buClr>
                <a:srgbClr val="0000FF"/>
              </a:buClr>
              <a:buFont typeface="Wingdings" panose="05000000000000000000" pitchFamily="2" charset="2"/>
              <a:buChar char="Ø"/>
            </a:pPr>
            <a:r>
              <a:rPr lang="zh-CN" altLang="en-US" sz="2200" dirty="0"/>
              <a:t>向系统申请一个空白</a:t>
            </a:r>
            <a:r>
              <a:rPr lang="en-US" altLang="zh-CN" sz="2200" dirty="0"/>
              <a:t>PCB</a:t>
            </a:r>
            <a:r>
              <a:rPr lang="zh-CN" altLang="en-US" sz="2200" dirty="0"/>
              <a:t>；填写</a:t>
            </a:r>
            <a:r>
              <a:rPr lang="en-US" altLang="zh-CN" sz="2200" dirty="0"/>
              <a:t>PCB</a:t>
            </a:r>
            <a:r>
              <a:rPr lang="zh-CN" altLang="en-US" sz="2200" dirty="0"/>
              <a:t>；分配资源；设置就绪状态插入就绪队列。</a:t>
            </a:r>
          </a:p>
        </p:txBody>
      </p:sp>
      <p:sp>
        <p:nvSpPr>
          <p:cNvPr id="25" name="内容占位符 2"/>
          <p:cNvSpPr txBox="1"/>
          <p:nvPr/>
        </p:nvSpPr>
        <p:spPr>
          <a:xfrm>
            <a:off x="1708459" y="2826805"/>
            <a:ext cx="2551950" cy="11320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终止状态</a:t>
            </a:r>
            <a:endParaRPr lang="en-US" altLang="zh-CN" sz="2400" dirty="0">
              <a:solidFill>
                <a:srgbClr val="0000FF"/>
              </a:solidFill>
            </a:endParaRPr>
          </a:p>
          <a:p>
            <a:pPr>
              <a:buFont typeface="Wingdings" panose="05000000000000000000" pitchFamily="2" charset="2"/>
              <a:buChar char="Ø"/>
            </a:pPr>
            <a:r>
              <a:rPr lang="zh-CN" altLang="en-US" sz="2400" dirty="0"/>
              <a:t>等待</a:t>
            </a:r>
            <a:r>
              <a:rPr lang="en-US" altLang="zh-CN" sz="2400" dirty="0"/>
              <a:t>OS</a:t>
            </a:r>
            <a:r>
              <a:rPr lang="zh-CN" altLang="en-US" sz="2400" dirty="0"/>
              <a:t>善后；</a:t>
            </a:r>
            <a:endParaRPr lang="en-US" altLang="zh-CN" sz="2400" dirty="0"/>
          </a:p>
          <a:p>
            <a:pPr>
              <a:buFont typeface="Wingdings" panose="05000000000000000000" pitchFamily="2" charset="2"/>
              <a:buChar char="Ø"/>
            </a:pPr>
            <a:r>
              <a:rPr lang="zh-CN" altLang="en-US" sz="2400" dirty="0"/>
              <a:t>收回</a:t>
            </a:r>
            <a:r>
              <a:rPr lang="en-US" altLang="zh-CN" sz="2400" dirty="0"/>
              <a:t>PCB</a:t>
            </a:r>
          </a:p>
        </p:txBody>
      </p:sp>
      <p:grpSp>
        <p:nvGrpSpPr>
          <p:cNvPr id="26" name="组合 32"/>
          <p:cNvGrpSpPr/>
          <p:nvPr/>
        </p:nvGrpSpPr>
        <p:grpSpPr bwMode="auto">
          <a:xfrm>
            <a:off x="4638855" y="2826805"/>
            <a:ext cx="6656971" cy="2688136"/>
            <a:chOff x="1643042" y="3074590"/>
            <a:chExt cx="5786477" cy="3117609"/>
          </a:xfrm>
        </p:grpSpPr>
        <p:sp>
          <p:nvSpPr>
            <p:cNvPr id="27" name="Oval 6"/>
            <p:cNvSpPr>
              <a:spLocks noChangeArrowheads="1"/>
            </p:cNvSpPr>
            <p:nvPr/>
          </p:nvSpPr>
          <p:spPr bwMode="auto">
            <a:xfrm>
              <a:off x="3428249" y="3286124"/>
              <a:ext cx="786561" cy="719691"/>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a:solidFill>
                    <a:schemeClr val="bg1"/>
                  </a:solidFill>
                </a:rPr>
                <a:t>就绪</a:t>
              </a:r>
            </a:p>
          </p:txBody>
        </p:sp>
        <p:sp>
          <p:nvSpPr>
            <p:cNvPr id="28" name="Oval 6"/>
            <p:cNvSpPr>
              <a:spLocks noChangeArrowheads="1"/>
            </p:cNvSpPr>
            <p:nvPr/>
          </p:nvSpPr>
          <p:spPr bwMode="auto">
            <a:xfrm>
              <a:off x="1643042" y="3286124"/>
              <a:ext cx="786560" cy="715234"/>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创建</a:t>
              </a:r>
            </a:p>
          </p:txBody>
        </p:sp>
        <p:sp>
          <p:nvSpPr>
            <p:cNvPr id="29" name="Oval 7"/>
            <p:cNvSpPr>
              <a:spLocks noChangeArrowheads="1"/>
            </p:cNvSpPr>
            <p:nvPr/>
          </p:nvSpPr>
          <p:spPr bwMode="auto">
            <a:xfrm>
              <a:off x="5001369" y="5213470"/>
              <a:ext cx="784890" cy="786537"/>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执行</a:t>
              </a:r>
            </a:p>
          </p:txBody>
        </p:sp>
        <p:sp>
          <p:nvSpPr>
            <p:cNvPr id="30" name="Oval 8"/>
            <p:cNvSpPr>
              <a:spLocks noChangeArrowheads="1"/>
            </p:cNvSpPr>
            <p:nvPr/>
          </p:nvSpPr>
          <p:spPr bwMode="auto">
            <a:xfrm>
              <a:off x="1928608" y="5213470"/>
              <a:ext cx="769861"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阻塞</a:t>
              </a:r>
            </a:p>
          </p:txBody>
        </p:sp>
        <p:sp>
          <p:nvSpPr>
            <p:cNvPr id="31" name="Line 9"/>
            <p:cNvSpPr>
              <a:spLocks noChangeShapeType="1"/>
            </p:cNvSpPr>
            <p:nvPr/>
          </p:nvSpPr>
          <p:spPr bwMode="auto">
            <a:xfrm flipH="1" flipV="1">
              <a:off x="4214810" y="3786190"/>
              <a:ext cx="1214444" cy="142876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2" name="Line 10"/>
            <p:cNvSpPr>
              <a:spLocks noChangeShapeType="1"/>
            </p:cNvSpPr>
            <p:nvPr/>
          </p:nvSpPr>
          <p:spPr bwMode="auto">
            <a:xfrm>
              <a:off x="4000497" y="4000503"/>
              <a:ext cx="1071012" cy="131808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3" name="Line 11"/>
            <p:cNvSpPr>
              <a:spLocks noChangeShapeType="1"/>
            </p:cNvSpPr>
            <p:nvPr/>
          </p:nvSpPr>
          <p:spPr bwMode="auto">
            <a:xfrm flipV="1">
              <a:off x="2485266" y="3857628"/>
              <a:ext cx="1015164" cy="135355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4" name="Line 12"/>
            <p:cNvSpPr>
              <a:spLocks noChangeShapeType="1"/>
            </p:cNvSpPr>
            <p:nvPr/>
          </p:nvSpPr>
          <p:spPr bwMode="auto">
            <a:xfrm flipH="1" flipV="1">
              <a:off x="2698469" y="5558620"/>
              <a:ext cx="2302899" cy="9815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5" name="TextBox 11"/>
            <p:cNvSpPr txBox="1">
              <a:spLocks noChangeArrowheads="1"/>
            </p:cNvSpPr>
            <p:nvPr/>
          </p:nvSpPr>
          <p:spPr bwMode="auto">
            <a:xfrm rot="18983600">
              <a:off x="2163233" y="4220524"/>
              <a:ext cx="1098184"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完成</a:t>
              </a:r>
            </a:p>
          </p:txBody>
        </p:sp>
        <p:sp>
          <p:nvSpPr>
            <p:cNvPr id="36" name="TextBox 12"/>
            <p:cNvSpPr txBox="1">
              <a:spLocks noChangeArrowheads="1"/>
            </p:cNvSpPr>
            <p:nvPr/>
          </p:nvSpPr>
          <p:spPr bwMode="auto">
            <a:xfrm>
              <a:off x="3286116" y="5643578"/>
              <a:ext cx="1214446"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请求</a:t>
              </a:r>
            </a:p>
          </p:txBody>
        </p:sp>
        <p:sp>
          <p:nvSpPr>
            <p:cNvPr id="37" name="TextBox 13"/>
            <p:cNvSpPr txBox="1">
              <a:spLocks noChangeArrowheads="1"/>
            </p:cNvSpPr>
            <p:nvPr/>
          </p:nvSpPr>
          <p:spPr bwMode="auto">
            <a:xfrm rot="2764970">
              <a:off x="3436927" y="4682466"/>
              <a:ext cx="1632476" cy="40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进程调度</a:t>
              </a:r>
            </a:p>
          </p:txBody>
        </p:sp>
        <p:sp>
          <p:nvSpPr>
            <p:cNvPr id="38" name="TextBox 14"/>
            <p:cNvSpPr txBox="1">
              <a:spLocks noChangeArrowheads="1"/>
            </p:cNvSpPr>
            <p:nvPr/>
          </p:nvSpPr>
          <p:spPr bwMode="auto">
            <a:xfrm rot="2446282">
              <a:off x="4360697" y="4046014"/>
              <a:ext cx="1276793"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时间片完</a:t>
              </a:r>
            </a:p>
          </p:txBody>
        </p:sp>
        <p:sp>
          <p:nvSpPr>
            <p:cNvPr id="39" name="TextBox 16"/>
            <p:cNvSpPr txBox="1">
              <a:spLocks noChangeArrowheads="1"/>
            </p:cNvSpPr>
            <p:nvPr/>
          </p:nvSpPr>
          <p:spPr bwMode="auto">
            <a:xfrm>
              <a:off x="5874084" y="5656776"/>
              <a:ext cx="857256"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释放</a:t>
              </a:r>
            </a:p>
          </p:txBody>
        </p:sp>
        <p:cxnSp>
          <p:nvCxnSpPr>
            <p:cNvPr id="40" name="直接箭头连接符 39"/>
            <p:cNvCxnSpPr>
              <a:stCxn id="29" idx="6"/>
              <a:endCxn id="41" idx="2"/>
            </p:cNvCxnSpPr>
            <p:nvPr/>
          </p:nvCxnSpPr>
          <p:spPr>
            <a:xfrm flipV="1">
              <a:off x="5786259" y="5571089"/>
              <a:ext cx="856700" cy="3565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1" name="Oval 6"/>
            <p:cNvSpPr>
              <a:spLocks noChangeArrowheads="1"/>
            </p:cNvSpPr>
            <p:nvPr/>
          </p:nvSpPr>
          <p:spPr bwMode="auto">
            <a:xfrm>
              <a:off x="6642959" y="5213470"/>
              <a:ext cx="786560"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终止</a:t>
              </a:r>
            </a:p>
          </p:txBody>
        </p:sp>
        <p:cxnSp>
          <p:nvCxnSpPr>
            <p:cNvPr id="42" name="直接箭头连接符 41"/>
            <p:cNvCxnSpPr>
              <a:stCxn id="28" idx="6"/>
              <a:endCxn id="27" idx="2"/>
            </p:cNvCxnSpPr>
            <p:nvPr/>
          </p:nvCxnSpPr>
          <p:spPr>
            <a:xfrm>
              <a:off x="2429602" y="3642627"/>
              <a:ext cx="998647" cy="222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 name="TextBox 25"/>
            <p:cNvSpPr txBox="1">
              <a:spLocks noChangeArrowheads="1"/>
            </p:cNvSpPr>
            <p:nvPr/>
          </p:nvSpPr>
          <p:spPr bwMode="auto">
            <a:xfrm>
              <a:off x="2560834" y="3074590"/>
              <a:ext cx="714380"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许可</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13485" y="2459990"/>
            <a:ext cx="9782810" cy="2306955"/>
          </a:xfrm>
          <a:prstGeom prst="rect">
            <a:avLst/>
          </a:prstGeom>
        </p:spPr>
        <p:txBody>
          <a:bodyPr wrap="square">
            <a:spAutoFit/>
          </a:bodyPr>
          <a:lstStyle/>
          <a:p>
            <a:pPr marL="266700" indent="-266700" algn="just" defTabSz="266700">
              <a:spcBef>
                <a:spcPct val="0"/>
              </a:spcBef>
              <a:spcAft>
                <a:spcPct val="0"/>
              </a:spcAft>
            </a:pPr>
            <a:r>
              <a:rPr lang="en-US" altLang="zh-CN" sz="2400" b="1">
                <a:latin typeface="宋体" panose="02010600030101010101" pitchFamily="2" charset="-122"/>
                <a:ea typeface="宋体" panose="02010600030101010101" pitchFamily="2" charset="-122"/>
              </a:rPr>
              <a:t>1. </a:t>
            </a:r>
            <a:r>
              <a:rPr lang="zh-CN" altLang="en-US" sz="2400" b="1">
                <a:latin typeface="宋体" panose="02010600030101010101" pitchFamily="2" charset="-122"/>
                <a:ea typeface="宋体" panose="02010600030101010101" pitchFamily="2" charset="-122"/>
              </a:rPr>
              <a:t>下列选项中，会导致进程从执行态变为就绪态的事件是</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2015</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A.</a:t>
            </a:r>
            <a:r>
              <a:rPr lang="zh-CN" altLang="en-US" sz="2400" b="1">
                <a:latin typeface="宋体" panose="02010600030101010101" pitchFamily="2" charset="-122"/>
                <a:ea typeface="宋体" panose="02010600030101010101" pitchFamily="2" charset="-122"/>
              </a:rPr>
              <a:t>执行</a:t>
            </a:r>
            <a:r>
              <a:rPr lang="en-US" altLang="zh-CN" sz="2400" b="1">
                <a:latin typeface="宋体" panose="02010600030101010101" pitchFamily="2" charset="-122"/>
                <a:ea typeface="宋体" panose="02010600030101010101" pitchFamily="2" charset="-122"/>
              </a:rPr>
              <a:t>P(wait)</a:t>
            </a:r>
            <a:r>
              <a:rPr lang="zh-CN" altLang="en-US" sz="2400" b="1">
                <a:latin typeface="宋体" panose="02010600030101010101" pitchFamily="2" charset="-122"/>
                <a:ea typeface="宋体" panose="02010600030101010101" pitchFamily="2" charset="-122"/>
              </a:rPr>
              <a:t>操作</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B.</a:t>
            </a:r>
            <a:r>
              <a:rPr lang="zh-CN" altLang="en-US" sz="2400" b="1">
                <a:latin typeface="宋体" panose="02010600030101010101" pitchFamily="2" charset="-122"/>
                <a:ea typeface="宋体" panose="02010600030101010101" pitchFamily="2" charset="-122"/>
              </a:rPr>
              <a:t>申请内存失败</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C.</a:t>
            </a:r>
            <a:r>
              <a:rPr lang="zh-CN" altLang="en-US" sz="2400" b="1">
                <a:latin typeface="宋体" panose="02010600030101010101" pitchFamily="2" charset="-122"/>
                <a:ea typeface="宋体" panose="02010600030101010101" pitchFamily="2" charset="-122"/>
              </a:rPr>
              <a:t>启动</a:t>
            </a:r>
            <a:r>
              <a:rPr lang="en-US" altLang="zh-CN" sz="2400" b="1">
                <a:latin typeface="宋体" panose="02010600030101010101" pitchFamily="2" charset="-122"/>
                <a:ea typeface="宋体" panose="02010600030101010101" pitchFamily="2" charset="-122"/>
              </a:rPr>
              <a:t>I/O</a:t>
            </a:r>
            <a:r>
              <a:rPr lang="zh-CN" altLang="en-US" sz="2400" b="1">
                <a:latin typeface="宋体" panose="02010600030101010101" pitchFamily="2" charset="-122"/>
                <a:ea typeface="宋体" panose="02010600030101010101" pitchFamily="2" charset="-122"/>
              </a:rPr>
              <a:t>设备</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D.</a:t>
            </a:r>
            <a:r>
              <a:rPr lang="zh-CN" altLang="en-US" sz="2400" b="1">
                <a:latin typeface="宋体" panose="02010600030101010101" pitchFamily="2" charset="-122"/>
                <a:ea typeface="宋体" panose="02010600030101010101" pitchFamily="2" charset="-122"/>
              </a:rPr>
              <a:t>被高优先级进程抢占</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24363"/>
            <a:ext cx="7026275" cy="523220"/>
          </a:xfrm>
          <a:prstGeom prst="rect">
            <a:avLst/>
          </a:prstGeom>
        </p:spPr>
        <p:txBody>
          <a:bodyPr wrap="square">
            <a:spAutoFit/>
          </a:bodyPr>
          <a:lstStyle/>
          <a:p>
            <a:r>
              <a:rPr lang="zh-CN" altLang="en-US" sz="2800" b="1" dirty="0">
                <a:solidFill>
                  <a:schemeClr val="bg1"/>
                </a:solidFill>
              </a:rPr>
              <a:t>引入挂起状态的状态转换</a:t>
            </a:r>
          </a:p>
        </p:txBody>
      </p:sp>
      <p:grpSp>
        <p:nvGrpSpPr>
          <p:cNvPr id="2" name="组合 1"/>
          <p:cNvGrpSpPr/>
          <p:nvPr/>
        </p:nvGrpSpPr>
        <p:grpSpPr>
          <a:xfrm>
            <a:off x="2505947" y="1201648"/>
            <a:ext cx="6706988" cy="4914617"/>
            <a:chOff x="2505947" y="1201648"/>
            <a:chExt cx="6706988" cy="4914617"/>
          </a:xfrm>
        </p:grpSpPr>
        <p:sp>
          <p:nvSpPr>
            <p:cNvPr id="45" name="Oval 23"/>
            <p:cNvSpPr>
              <a:spLocks noChangeArrowheads="1"/>
            </p:cNvSpPr>
            <p:nvPr/>
          </p:nvSpPr>
          <p:spPr bwMode="auto">
            <a:xfrm>
              <a:off x="2646979" y="4654385"/>
              <a:ext cx="1173391" cy="880109"/>
            </a:xfrm>
            <a:prstGeom prst="ellipse">
              <a:avLst/>
            </a:prstGeom>
            <a:solidFill>
              <a:srgbClr val="FFC000"/>
            </a:solidFill>
            <a:ln w="9525">
              <a:solidFill>
                <a:srgbClr val="E71101"/>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zh-CN" altLang="en-US" sz="2200">
                  <a:latin typeface="+mn-ea"/>
                  <a:ea typeface="+mn-ea"/>
                </a:rPr>
                <a:t>活动</a:t>
              </a:r>
            </a:p>
            <a:p>
              <a:pPr algn="ctr" eaLnBrk="1" hangingPunct="1">
                <a:spcBef>
                  <a:spcPct val="0"/>
                </a:spcBef>
                <a:buClrTx/>
                <a:buSzTx/>
                <a:buFont typeface="Monotype Sorts" pitchFamily="2" charset="2"/>
                <a:buNone/>
              </a:pPr>
              <a:r>
                <a:rPr lang="zh-CN" altLang="en-US" sz="2200">
                  <a:latin typeface="+mn-ea"/>
                  <a:ea typeface="+mn-ea"/>
                </a:rPr>
                <a:t>阻塞</a:t>
              </a:r>
            </a:p>
          </p:txBody>
        </p:sp>
        <p:sp>
          <p:nvSpPr>
            <p:cNvPr id="46" name="Oval 24"/>
            <p:cNvSpPr>
              <a:spLocks noChangeArrowheads="1"/>
            </p:cNvSpPr>
            <p:nvPr/>
          </p:nvSpPr>
          <p:spPr bwMode="auto">
            <a:xfrm>
              <a:off x="5986630" y="4654385"/>
              <a:ext cx="1173391" cy="880109"/>
            </a:xfrm>
            <a:prstGeom prst="ellipse">
              <a:avLst/>
            </a:prstGeom>
            <a:solidFill>
              <a:srgbClr val="FFC000"/>
            </a:solidFill>
            <a:ln w="9525">
              <a:solidFill>
                <a:srgbClr val="E71101"/>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zh-CN" altLang="en-US" sz="2200">
                  <a:latin typeface="+mn-ea"/>
                  <a:ea typeface="+mn-ea"/>
                </a:rPr>
                <a:t>静止</a:t>
              </a:r>
            </a:p>
            <a:p>
              <a:pPr algn="ctr" eaLnBrk="1" hangingPunct="1">
                <a:spcBef>
                  <a:spcPct val="0"/>
                </a:spcBef>
                <a:buClrTx/>
                <a:buSzTx/>
                <a:buFont typeface="Monotype Sorts" pitchFamily="2" charset="2"/>
                <a:buNone/>
              </a:pPr>
              <a:r>
                <a:rPr lang="zh-CN" altLang="en-US" sz="2200">
                  <a:latin typeface="+mn-ea"/>
                  <a:ea typeface="+mn-ea"/>
                </a:rPr>
                <a:t>阻塞</a:t>
              </a:r>
            </a:p>
          </p:txBody>
        </p:sp>
        <p:sp>
          <p:nvSpPr>
            <p:cNvPr id="47" name="Oval 30"/>
            <p:cNvSpPr>
              <a:spLocks noChangeArrowheads="1"/>
            </p:cNvSpPr>
            <p:nvPr/>
          </p:nvSpPr>
          <p:spPr bwMode="auto">
            <a:xfrm>
              <a:off x="7791847" y="2758765"/>
              <a:ext cx="1173391" cy="880109"/>
            </a:xfrm>
            <a:prstGeom prst="ellipse">
              <a:avLst/>
            </a:prstGeom>
            <a:solidFill>
              <a:srgbClr val="FFC000"/>
            </a:solidFill>
            <a:ln w="9525">
              <a:solidFill>
                <a:srgbClr val="E71101"/>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zh-CN" altLang="en-US" sz="2200">
                  <a:latin typeface="+mn-ea"/>
                  <a:ea typeface="+mn-ea"/>
                </a:rPr>
                <a:t>静止</a:t>
              </a:r>
            </a:p>
            <a:p>
              <a:pPr algn="ctr" eaLnBrk="1" hangingPunct="1">
                <a:spcBef>
                  <a:spcPct val="0"/>
                </a:spcBef>
                <a:buClrTx/>
                <a:buSzTx/>
                <a:buFont typeface="Monotype Sorts" pitchFamily="2" charset="2"/>
                <a:buNone/>
              </a:pPr>
              <a:r>
                <a:rPr lang="zh-CN" altLang="en-US" sz="2200">
                  <a:latin typeface="+mn-ea"/>
                  <a:ea typeface="+mn-ea"/>
                </a:rPr>
                <a:t>就绪</a:t>
              </a:r>
            </a:p>
          </p:txBody>
        </p:sp>
        <p:sp>
          <p:nvSpPr>
            <p:cNvPr id="48" name="Oval 31"/>
            <p:cNvSpPr>
              <a:spLocks noChangeArrowheads="1"/>
            </p:cNvSpPr>
            <p:nvPr/>
          </p:nvSpPr>
          <p:spPr bwMode="auto">
            <a:xfrm>
              <a:off x="6167152" y="1201648"/>
              <a:ext cx="1173391" cy="880109"/>
            </a:xfrm>
            <a:prstGeom prst="ellipse">
              <a:avLst/>
            </a:prstGeom>
            <a:solidFill>
              <a:srgbClr val="FFC000"/>
            </a:solidFill>
            <a:ln w="9525">
              <a:solidFill>
                <a:srgbClr val="E71101"/>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zh-CN" altLang="en-US" sz="2200">
                  <a:latin typeface="+mn-ea"/>
                  <a:ea typeface="+mn-ea"/>
                </a:rPr>
                <a:t>执行</a:t>
              </a:r>
            </a:p>
          </p:txBody>
        </p:sp>
        <p:sp>
          <p:nvSpPr>
            <p:cNvPr id="49" name="Oval 32"/>
            <p:cNvSpPr>
              <a:spLocks noChangeArrowheads="1"/>
            </p:cNvSpPr>
            <p:nvPr/>
          </p:nvSpPr>
          <p:spPr bwMode="auto">
            <a:xfrm>
              <a:off x="4452196" y="2826465"/>
              <a:ext cx="1173391" cy="880109"/>
            </a:xfrm>
            <a:prstGeom prst="ellipse">
              <a:avLst/>
            </a:prstGeom>
            <a:solidFill>
              <a:srgbClr val="FFC000"/>
            </a:solidFill>
            <a:ln w="9525">
              <a:solidFill>
                <a:srgbClr val="E71101"/>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zh-CN" altLang="en-US" sz="2200" dirty="0">
                  <a:latin typeface="+mn-ea"/>
                  <a:ea typeface="+mn-ea"/>
                </a:rPr>
                <a:t>活动</a:t>
              </a:r>
            </a:p>
            <a:p>
              <a:pPr algn="ctr" eaLnBrk="1" hangingPunct="1">
                <a:spcBef>
                  <a:spcPct val="0"/>
                </a:spcBef>
                <a:buClrTx/>
                <a:buSzTx/>
                <a:buFont typeface="Monotype Sorts" pitchFamily="2" charset="2"/>
                <a:buNone/>
              </a:pPr>
              <a:r>
                <a:rPr lang="zh-CN" altLang="en-US" sz="2200" dirty="0">
                  <a:latin typeface="+mn-ea"/>
                  <a:ea typeface="+mn-ea"/>
                </a:rPr>
                <a:t>就绪</a:t>
              </a:r>
            </a:p>
          </p:txBody>
        </p:sp>
        <p:sp>
          <p:nvSpPr>
            <p:cNvPr id="50" name="Freeform 34"/>
            <p:cNvSpPr/>
            <p:nvPr/>
          </p:nvSpPr>
          <p:spPr bwMode="auto">
            <a:xfrm>
              <a:off x="2505947" y="1607852"/>
              <a:ext cx="3661205" cy="3181934"/>
            </a:xfrm>
            <a:custGeom>
              <a:avLst/>
              <a:gdLst>
                <a:gd name="T0" fmla="*/ 2147483647 w 1947"/>
                <a:gd name="T1" fmla="*/ 2147483647 h 2256"/>
                <a:gd name="T2" fmla="*/ 2147483647 w 1947"/>
                <a:gd name="T3" fmla="*/ 2147483647 h 2256"/>
                <a:gd name="T4" fmla="*/ 2147483647 w 1947"/>
                <a:gd name="T5" fmla="*/ 0 h 2256"/>
                <a:gd name="T6" fmla="*/ 0 60000 65536"/>
                <a:gd name="T7" fmla="*/ 0 60000 65536"/>
                <a:gd name="T8" fmla="*/ 0 60000 65536"/>
                <a:gd name="T9" fmla="*/ 0 w 1947"/>
                <a:gd name="T10" fmla="*/ 0 h 2256"/>
                <a:gd name="T11" fmla="*/ 1947 w 1947"/>
                <a:gd name="T12" fmla="*/ 2256 h 2256"/>
              </a:gdLst>
              <a:ahLst/>
              <a:cxnLst>
                <a:cxn ang="T6">
                  <a:pos x="T0" y="T1"/>
                </a:cxn>
                <a:cxn ang="T7">
                  <a:pos x="T2" y="T3"/>
                </a:cxn>
                <a:cxn ang="T8">
                  <a:pos x="T4" y="T5"/>
                </a:cxn>
              </a:cxnLst>
              <a:rect l="T9" t="T10" r="T11" b="T12"/>
              <a:pathLst>
                <a:path w="1947" h="2256">
                  <a:moveTo>
                    <a:pt x="123" y="2256"/>
                  </a:moveTo>
                  <a:cubicBezTo>
                    <a:pt x="153" y="1977"/>
                    <a:pt x="0" y="960"/>
                    <a:pt x="304" y="584"/>
                  </a:cubicBezTo>
                  <a:cubicBezTo>
                    <a:pt x="608" y="208"/>
                    <a:pt x="1605" y="122"/>
                    <a:pt x="1947" y="0"/>
                  </a:cubicBezTo>
                </a:path>
              </a:pathLst>
            </a:custGeom>
            <a:noFill/>
            <a:ln w="28575">
              <a:solidFill>
                <a:srgbClr val="27FFB7"/>
              </a:solidFill>
              <a:round/>
              <a:head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51" name="Text Box 40"/>
            <p:cNvSpPr txBox="1">
              <a:spLocks noChangeArrowheads="1"/>
            </p:cNvSpPr>
            <p:nvPr/>
          </p:nvSpPr>
          <p:spPr bwMode="auto">
            <a:xfrm rot="2876825">
              <a:off x="8588967" y="1616955"/>
              <a:ext cx="816408"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200">
                  <a:solidFill>
                    <a:schemeClr val="tx2"/>
                  </a:solidFill>
                  <a:latin typeface="+mn-ea"/>
                  <a:ea typeface="+mn-ea"/>
                </a:rPr>
                <a:t>挂起</a:t>
              </a:r>
            </a:p>
          </p:txBody>
        </p:sp>
        <p:sp>
          <p:nvSpPr>
            <p:cNvPr id="52" name="Text Box 41"/>
            <p:cNvSpPr txBox="1">
              <a:spLocks noChangeArrowheads="1"/>
            </p:cNvSpPr>
            <p:nvPr/>
          </p:nvSpPr>
          <p:spPr bwMode="auto">
            <a:xfrm rot="18683492">
              <a:off x="2153097" y="2086318"/>
              <a:ext cx="1354015"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200" dirty="0">
                  <a:solidFill>
                    <a:schemeClr val="tx2"/>
                  </a:solidFill>
                  <a:latin typeface="+mn-ea"/>
                  <a:ea typeface="+mn-ea"/>
                </a:rPr>
                <a:t>请求</a:t>
              </a:r>
              <a:r>
                <a:rPr lang="en-US" altLang="zh-CN" sz="2200" dirty="0">
                  <a:solidFill>
                    <a:schemeClr val="tx2"/>
                  </a:solidFill>
                  <a:latin typeface="+mn-ea"/>
                  <a:ea typeface="+mn-ea"/>
                </a:rPr>
                <a:t>I/O</a:t>
              </a:r>
            </a:p>
          </p:txBody>
        </p:sp>
        <p:sp>
          <p:nvSpPr>
            <p:cNvPr id="53" name="Text Box 43"/>
            <p:cNvSpPr txBox="1">
              <a:spLocks noChangeArrowheads="1"/>
            </p:cNvSpPr>
            <p:nvPr/>
          </p:nvSpPr>
          <p:spPr bwMode="auto">
            <a:xfrm rot="100027">
              <a:off x="6595248" y="2353741"/>
              <a:ext cx="1173391"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200" dirty="0">
                  <a:solidFill>
                    <a:schemeClr val="tx2"/>
                  </a:solidFill>
                  <a:latin typeface="+mn-ea"/>
                  <a:ea typeface="+mn-ea"/>
                </a:rPr>
                <a:t>激活</a:t>
              </a:r>
            </a:p>
          </p:txBody>
        </p:sp>
        <p:sp>
          <p:nvSpPr>
            <p:cNvPr id="54" name="Freeform 44"/>
            <p:cNvSpPr/>
            <p:nvPr/>
          </p:nvSpPr>
          <p:spPr bwMode="auto">
            <a:xfrm>
              <a:off x="7340543" y="1472451"/>
              <a:ext cx="1513750" cy="1469670"/>
            </a:xfrm>
            <a:custGeom>
              <a:avLst/>
              <a:gdLst>
                <a:gd name="T0" fmla="*/ 2147483647 w 780"/>
                <a:gd name="T1" fmla="*/ 2147483647 h 971"/>
                <a:gd name="T2" fmla="*/ 2147483647 w 780"/>
                <a:gd name="T3" fmla="*/ 2147483647 h 971"/>
                <a:gd name="T4" fmla="*/ 0 w 780"/>
                <a:gd name="T5" fmla="*/ 0 h 971"/>
                <a:gd name="T6" fmla="*/ 0 60000 65536"/>
                <a:gd name="T7" fmla="*/ 0 60000 65536"/>
                <a:gd name="T8" fmla="*/ 0 60000 65536"/>
                <a:gd name="T9" fmla="*/ 0 w 780"/>
                <a:gd name="T10" fmla="*/ 0 h 971"/>
                <a:gd name="T11" fmla="*/ 780 w 780"/>
                <a:gd name="T12" fmla="*/ 971 h 971"/>
              </a:gdLst>
              <a:ahLst/>
              <a:cxnLst>
                <a:cxn ang="T6">
                  <a:pos x="T0" y="T1"/>
                </a:cxn>
                <a:cxn ang="T7">
                  <a:pos x="T2" y="T3"/>
                </a:cxn>
                <a:cxn ang="T8">
                  <a:pos x="T4" y="T5"/>
                </a:cxn>
              </a:cxnLst>
              <a:rect l="T9" t="T10" r="T11" b="T12"/>
              <a:pathLst>
                <a:path w="780" h="971">
                  <a:moveTo>
                    <a:pt x="780" y="971"/>
                  </a:moveTo>
                  <a:cubicBezTo>
                    <a:pt x="756" y="856"/>
                    <a:pt x="763" y="455"/>
                    <a:pt x="633" y="293"/>
                  </a:cubicBezTo>
                  <a:cubicBezTo>
                    <a:pt x="503" y="131"/>
                    <a:pt x="132" y="61"/>
                    <a:pt x="0" y="0"/>
                  </a:cubicBezTo>
                </a:path>
              </a:pathLst>
            </a:custGeom>
            <a:noFill/>
            <a:ln w="28575">
              <a:solidFill>
                <a:srgbClr val="27FFB7"/>
              </a:solidFill>
              <a:round/>
              <a:head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55" name="Freeform 45"/>
            <p:cNvSpPr/>
            <p:nvPr/>
          </p:nvSpPr>
          <p:spPr bwMode="auto">
            <a:xfrm>
              <a:off x="5433782" y="2788394"/>
              <a:ext cx="2506619" cy="153726"/>
            </a:xfrm>
            <a:custGeom>
              <a:avLst/>
              <a:gdLst>
                <a:gd name="T0" fmla="*/ 0 w 1333"/>
                <a:gd name="T1" fmla="*/ 2147483647 h 255"/>
                <a:gd name="T2" fmla="*/ 2147483647 w 1333"/>
                <a:gd name="T3" fmla="*/ 2147483647 h 255"/>
                <a:gd name="T4" fmla="*/ 2147483647 w 1333"/>
                <a:gd name="T5" fmla="*/ 2147483647 h 255"/>
                <a:gd name="T6" fmla="*/ 0 60000 65536"/>
                <a:gd name="T7" fmla="*/ 0 60000 65536"/>
                <a:gd name="T8" fmla="*/ 0 60000 65536"/>
                <a:gd name="T9" fmla="*/ 0 w 1333"/>
                <a:gd name="T10" fmla="*/ 0 h 255"/>
                <a:gd name="T11" fmla="*/ 1333 w 1333"/>
                <a:gd name="T12" fmla="*/ 255 h 255"/>
              </a:gdLst>
              <a:ahLst/>
              <a:cxnLst>
                <a:cxn ang="T6">
                  <a:pos x="T0" y="T1"/>
                </a:cxn>
                <a:cxn ang="T7">
                  <a:pos x="T2" y="T3"/>
                </a:cxn>
                <a:cxn ang="T8">
                  <a:pos x="T4" y="T5"/>
                </a:cxn>
              </a:cxnLst>
              <a:rect l="T9" t="T10" r="T11" b="T12"/>
              <a:pathLst>
                <a:path w="1333" h="255">
                  <a:moveTo>
                    <a:pt x="0" y="255"/>
                  </a:moveTo>
                  <a:cubicBezTo>
                    <a:pt x="100" y="215"/>
                    <a:pt x="377" y="12"/>
                    <a:pt x="599" y="6"/>
                  </a:cubicBezTo>
                  <a:cubicBezTo>
                    <a:pt x="821" y="0"/>
                    <a:pt x="1180" y="176"/>
                    <a:pt x="1333" y="221"/>
                  </a:cubicBezTo>
                </a:path>
              </a:pathLst>
            </a:custGeom>
            <a:noFill/>
            <a:ln w="28575">
              <a:solidFill>
                <a:srgbClr val="27FFB7"/>
              </a:solidFill>
              <a:round/>
              <a:head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56" name="Freeform 46"/>
            <p:cNvSpPr/>
            <p:nvPr/>
          </p:nvSpPr>
          <p:spPr bwMode="auto">
            <a:xfrm rot="7257582">
              <a:off x="6155681" y="2326551"/>
              <a:ext cx="1110243" cy="1814036"/>
            </a:xfrm>
            <a:custGeom>
              <a:avLst/>
              <a:gdLst>
                <a:gd name="T0" fmla="*/ 2147483647 w 780"/>
                <a:gd name="T1" fmla="*/ 2147483647 h 971"/>
                <a:gd name="T2" fmla="*/ 2147483647 w 780"/>
                <a:gd name="T3" fmla="*/ 2147483647 h 971"/>
                <a:gd name="T4" fmla="*/ 0 w 780"/>
                <a:gd name="T5" fmla="*/ 0 h 971"/>
                <a:gd name="T6" fmla="*/ 0 60000 65536"/>
                <a:gd name="T7" fmla="*/ 0 60000 65536"/>
                <a:gd name="T8" fmla="*/ 0 60000 65536"/>
                <a:gd name="T9" fmla="*/ 0 w 780"/>
                <a:gd name="T10" fmla="*/ 0 h 971"/>
                <a:gd name="T11" fmla="*/ 780 w 780"/>
                <a:gd name="T12" fmla="*/ 971 h 971"/>
              </a:gdLst>
              <a:ahLst/>
              <a:cxnLst>
                <a:cxn ang="T6">
                  <a:pos x="T0" y="T1"/>
                </a:cxn>
                <a:cxn ang="T7">
                  <a:pos x="T2" y="T3"/>
                </a:cxn>
                <a:cxn ang="T8">
                  <a:pos x="T4" y="T5"/>
                </a:cxn>
              </a:cxnLst>
              <a:rect l="T9" t="T10" r="T11" b="T12"/>
              <a:pathLst>
                <a:path w="780" h="971">
                  <a:moveTo>
                    <a:pt x="780" y="971"/>
                  </a:moveTo>
                  <a:cubicBezTo>
                    <a:pt x="756" y="856"/>
                    <a:pt x="763" y="455"/>
                    <a:pt x="633" y="293"/>
                  </a:cubicBezTo>
                  <a:cubicBezTo>
                    <a:pt x="503" y="131"/>
                    <a:pt x="132" y="61"/>
                    <a:pt x="0" y="0"/>
                  </a:cubicBezTo>
                </a:path>
              </a:pathLst>
            </a:custGeom>
            <a:noFill/>
            <a:ln w="28575">
              <a:solidFill>
                <a:srgbClr val="27FFB7"/>
              </a:solidFill>
              <a:rou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57" name="Text Box 47"/>
            <p:cNvSpPr txBox="1">
              <a:spLocks noChangeArrowheads="1"/>
            </p:cNvSpPr>
            <p:nvPr/>
          </p:nvSpPr>
          <p:spPr bwMode="auto">
            <a:xfrm rot="100027">
              <a:off x="6076891" y="3518314"/>
              <a:ext cx="1173391"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200">
                  <a:solidFill>
                    <a:schemeClr val="tx2"/>
                  </a:solidFill>
                  <a:latin typeface="+mn-ea"/>
                  <a:ea typeface="+mn-ea"/>
                </a:rPr>
                <a:t>挂起</a:t>
              </a:r>
            </a:p>
          </p:txBody>
        </p:sp>
        <p:sp>
          <p:nvSpPr>
            <p:cNvPr id="58" name="Freeform 48"/>
            <p:cNvSpPr/>
            <p:nvPr/>
          </p:nvSpPr>
          <p:spPr bwMode="auto">
            <a:xfrm>
              <a:off x="3226153" y="3339863"/>
              <a:ext cx="1231685" cy="1306060"/>
            </a:xfrm>
            <a:custGeom>
              <a:avLst/>
              <a:gdLst>
                <a:gd name="T0" fmla="*/ 0 w 655"/>
                <a:gd name="T1" fmla="*/ 2147483647 h 926"/>
                <a:gd name="T2" fmla="*/ 2147483647 w 655"/>
                <a:gd name="T3" fmla="*/ 2147483647 h 926"/>
                <a:gd name="T4" fmla="*/ 2147483647 w 655"/>
                <a:gd name="T5" fmla="*/ 0 h 926"/>
                <a:gd name="T6" fmla="*/ 0 60000 65536"/>
                <a:gd name="T7" fmla="*/ 0 60000 65536"/>
                <a:gd name="T8" fmla="*/ 0 60000 65536"/>
                <a:gd name="T9" fmla="*/ 0 w 655"/>
                <a:gd name="T10" fmla="*/ 0 h 926"/>
                <a:gd name="T11" fmla="*/ 655 w 655"/>
                <a:gd name="T12" fmla="*/ 926 h 926"/>
              </a:gdLst>
              <a:ahLst/>
              <a:cxnLst>
                <a:cxn ang="T6">
                  <a:pos x="T0" y="T1"/>
                </a:cxn>
                <a:cxn ang="T7">
                  <a:pos x="T2" y="T3"/>
                </a:cxn>
                <a:cxn ang="T8">
                  <a:pos x="T4" y="T5"/>
                </a:cxn>
              </a:cxnLst>
              <a:rect l="T9" t="T10" r="T11" b="T12"/>
              <a:pathLst>
                <a:path w="655" h="926">
                  <a:moveTo>
                    <a:pt x="0" y="926"/>
                  </a:moveTo>
                  <a:cubicBezTo>
                    <a:pt x="26" y="838"/>
                    <a:pt x="49" y="550"/>
                    <a:pt x="158" y="396"/>
                  </a:cubicBezTo>
                  <a:cubicBezTo>
                    <a:pt x="267" y="242"/>
                    <a:pt x="552" y="82"/>
                    <a:pt x="655" y="0"/>
                  </a:cubicBezTo>
                </a:path>
              </a:pathLst>
            </a:custGeom>
            <a:noFill/>
            <a:ln w="28575">
              <a:solidFill>
                <a:srgbClr val="27FFB7"/>
              </a:solidFill>
              <a:rou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59" name="Text Box 49"/>
            <p:cNvSpPr txBox="1">
              <a:spLocks noChangeArrowheads="1"/>
            </p:cNvSpPr>
            <p:nvPr/>
          </p:nvSpPr>
          <p:spPr bwMode="auto">
            <a:xfrm rot="18542781">
              <a:off x="3058973" y="3348398"/>
              <a:ext cx="880109"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200">
                  <a:solidFill>
                    <a:schemeClr val="tx2"/>
                  </a:solidFill>
                  <a:latin typeface="+mn-ea"/>
                  <a:ea typeface="+mn-ea"/>
                </a:rPr>
                <a:t>释放</a:t>
              </a:r>
            </a:p>
          </p:txBody>
        </p:sp>
        <p:sp>
          <p:nvSpPr>
            <p:cNvPr id="60" name="Text Box 50"/>
            <p:cNvSpPr txBox="1">
              <a:spLocks noChangeArrowheads="1"/>
            </p:cNvSpPr>
            <p:nvPr/>
          </p:nvSpPr>
          <p:spPr bwMode="auto">
            <a:xfrm rot="100027">
              <a:off x="4361935" y="4127620"/>
              <a:ext cx="1173391"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200">
                  <a:solidFill>
                    <a:schemeClr val="tx2"/>
                  </a:solidFill>
                  <a:latin typeface="+mn-ea"/>
                  <a:ea typeface="+mn-ea"/>
                </a:rPr>
                <a:t>激活</a:t>
              </a:r>
            </a:p>
          </p:txBody>
        </p:sp>
        <p:sp>
          <p:nvSpPr>
            <p:cNvPr id="61" name="Freeform 51"/>
            <p:cNvSpPr/>
            <p:nvPr/>
          </p:nvSpPr>
          <p:spPr bwMode="auto">
            <a:xfrm>
              <a:off x="3730110" y="4518984"/>
              <a:ext cx="2330377" cy="300432"/>
            </a:xfrm>
            <a:custGeom>
              <a:avLst/>
              <a:gdLst>
                <a:gd name="T0" fmla="*/ 0 w 1333"/>
                <a:gd name="T1" fmla="*/ 2147483647 h 255"/>
                <a:gd name="T2" fmla="*/ 2147483647 w 1333"/>
                <a:gd name="T3" fmla="*/ 2147483647 h 255"/>
                <a:gd name="T4" fmla="*/ 2147483647 w 1333"/>
                <a:gd name="T5" fmla="*/ 2147483647 h 255"/>
                <a:gd name="T6" fmla="*/ 0 60000 65536"/>
                <a:gd name="T7" fmla="*/ 0 60000 65536"/>
                <a:gd name="T8" fmla="*/ 0 60000 65536"/>
                <a:gd name="T9" fmla="*/ 0 w 1333"/>
                <a:gd name="T10" fmla="*/ 0 h 255"/>
                <a:gd name="T11" fmla="*/ 1333 w 1333"/>
                <a:gd name="T12" fmla="*/ 255 h 255"/>
              </a:gdLst>
              <a:ahLst/>
              <a:cxnLst>
                <a:cxn ang="T6">
                  <a:pos x="T0" y="T1"/>
                </a:cxn>
                <a:cxn ang="T7">
                  <a:pos x="T2" y="T3"/>
                </a:cxn>
                <a:cxn ang="T8">
                  <a:pos x="T4" y="T5"/>
                </a:cxn>
              </a:cxnLst>
              <a:rect l="T9" t="T10" r="T11" b="T12"/>
              <a:pathLst>
                <a:path w="1333" h="255">
                  <a:moveTo>
                    <a:pt x="0" y="255"/>
                  </a:moveTo>
                  <a:cubicBezTo>
                    <a:pt x="100" y="215"/>
                    <a:pt x="377" y="12"/>
                    <a:pt x="599" y="6"/>
                  </a:cubicBezTo>
                  <a:cubicBezTo>
                    <a:pt x="821" y="0"/>
                    <a:pt x="1180" y="176"/>
                    <a:pt x="1333" y="221"/>
                  </a:cubicBezTo>
                </a:path>
              </a:pathLst>
            </a:custGeom>
            <a:noFill/>
            <a:ln w="28575">
              <a:solidFill>
                <a:srgbClr val="27FFB7"/>
              </a:solidFill>
              <a:round/>
              <a:head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62" name="Text Box 52"/>
            <p:cNvSpPr txBox="1">
              <a:spLocks noChangeArrowheads="1"/>
            </p:cNvSpPr>
            <p:nvPr/>
          </p:nvSpPr>
          <p:spPr bwMode="auto">
            <a:xfrm rot="18542781">
              <a:off x="8206062" y="4370156"/>
              <a:ext cx="880109"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200" dirty="0">
                  <a:solidFill>
                    <a:schemeClr val="tx2"/>
                  </a:solidFill>
                  <a:latin typeface="+mn-ea"/>
                  <a:ea typeface="+mn-ea"/>
                </a:rPr>
                <a:t>释放</a:t>
              </a:r>
            </a:p>
          </p:txBody>
        </p:sp>
        <p:sp>
          <p:nvSpPr>
            <p:cNvPr id="63" name="Freeform 53"/>
            <p:cNvSpPr/>
            <p:nvPr/>
          </p:nvSpPr>
          <p:spPr bwMode="auto">
            <a:xfrm>
              <a:off x="7160021" y="3638874"/>
              <a:ext cx="1346391" cy="1306060"/>
            </a:xfrm>
            <a:custGeom>
              <a:avLst/>
              <a:gdLst>
                <a:gd name="T0" fmla="*/ 0 w 716"/>
                <a:gd name="T1" fmla="*/ 2147483647 h 926"/>
                <a:gd name="T2" fmla="*/ 2147483647 w 716"/>
                <a:gd name="T3" fmla="*/ 2147483647 h 926"/>
                <a:gd name="T4" fmla="*/ 2147483647 w 716"/>
                <a:gd name="T5" fmla="*/ 0 h 926"/>
                <a:gd name="T6" fmla="*/ 0 60000 65536"/>
                <a:gd name="T7" fmla="*/ 0 60000 65536"/>
                <a:gd name="T8" fmla="*/ 0 60000 65536"/>
                <a:gd name="T9" fmla="*/ 0 w 716"/>
                <a:gd name="T10" fmla="*/ 0 h 926"/>
                <a:gd name="T11" fmla="*/ 716 w 716"/>
                <a:gd name="T12" fmla="*/ 926 h 926"/>
              </a:gdLst>
              <a:ahLst/>
              <a:cxnLst>
                <a:cxn ang="T6">
                  <a:pos x="T0" y="T1"/>
                </a:cxn>
                <a:cxn ang="T7">
                  <a:pos x="T2" y="T3"/>
                </a:cxn>
                <a:cxn ang="T8">
                  <a:pos x="T4" y="T5"/>
                </a:cxn>
              </a:cxnLst>
              <a:rect l="T9" t="T10" r="T11" b="T12"/>
              <a:pathLst>
                <a:path w="716" h="926">
                  <a:moveTo>
                    <a:pt x="0" y="926"/>
                  </a:moveTo>
                  <a:cubicBezTo>
                    <a:pt x="101" y="881"/>
                    <a:pt x="498" y="812"/>
                    <a:pt x="607" y="658"/>
                  </a:cubicBezTo>
                  <a:cubicBezTo>
                    <a:pt x="716" y="504"/>
                    <a:pt x="645" y="137"/>
                    <a:pt x="655" y="0"/>
                  </a:cubicBezTo>
                </a:path>
              </a:pathLst>
            </a:custGeom>
            <a:noFill/>
            <a:ln w="28575">
              <a:solidFill>
                <a:srgbClr val="27FFB7"/>
              </a:solidFill>
              <a:rou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64" name="Text Box 54"/>
            <p:cNvSpPr txBox="1">
              <a:spLocks noChangeArrowheads="1"/>
            </p:cNvSpPr>
            <p:nvPr/>
          </p:nvSpPr>
          <p:spPr bwMode="auto">
            <a:xfrm rot="100027">
              <a:off x="4271674" y="5684736"/>
              <a:ext cx="1173391"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200">
                  <a:solidFill>
                    <a:schemeClr val="tx2"/>
                  </a:solidFill>
                  <a:latin typeface="+mn-ea"/>
                  <a:ea typeface="+mn-ea"/>
                </a:rPr>
                <a:t>挂起</a:t>
              </a:r>
            </a:p>
          </p:txBody>
        </p:sp>
        <p:sp>
          <p:nvSpPr>
            <p:cNvPr id="65" name="Freeform 55"/>
            <p:cNvSpPr/>
            <p:nvPr/>
          </p:nvSpPr>
          <p:spPr bwMode="auto">
            <a:xfrm>
              <a:off x="3771479" y="5342676"/>
              <a:ext cx="2299772" cy="338504"/>
            </a:xfrm>
            <a:custGeom>
              <a:avLst/>
              <a:gdLst>
                <a:gd name="T0" fmla="*/ 0 w 1223"/>
                <a:gd name="T1" fmla="*/ 0 h 240"/>
                <a:gd name="T2" fmla="*/ 2147483647 w 1223"/>
                <a:gd name="T3" fmla="*/ 2147483647 h 240"/>
                <a:gd name="T4" fmla="*/ 2147483647 w 1223"/>
                <a:gd name="T5" fmla="*/ 2147483647 h 240"/>
                <a:gd name="T6" fmla="*/ 0 60000 65536"/>
                <a:gd name="T7" fmla="*/ 0 60000 65536"/>
                <a:gd name="T8" fmla="*/ 0 60000 65536"/>
                <a:gd name="T9" fmla="*/ 0 w 1223"/>
                <a:gd name="T10" fmla="*/ 0 h 240"/>
                <a:gd name="T11" fmla="*/ 1223 w 1223"/>
                <a:gd name="T12" fmla="*/ 240 h 240"/>
              </a:gdLst>
              <a:ahLst/>
              <a:cxnLst>
                <a:cxn ang="T6">
                  <a:pos x="T0" y="T1"/>
                </a:cxn>
                <a:cxn ang="T7">
                  <a:pos x="T2" y="T3"/>
                </a:cxn>
                <a:cxn ang="T8">
                  <a:pos x="T4" y="T5"/>
                </a:cxn>
              </a:cxnLst>
              <a:rect l="T9" t="T10" r="T11" b="T12"/>
              <a:pathLst>
                <a:path w="1223" h="240">
                  <a:moveTo>
                    <a:pt x="0" y="0"/>
                  </a:moveTo>
                  <a:cubicBezTo>
                    <a:pt x="106" y="40"/>
                    <a:pt x="432" y="240"/>
                    <a:pt x="636" y="240"/>
                  </a:cubicBezTo>
                  <a:cubicBezTo>
                    <a:pt x="840" y="240"/>
                    <a:pt x="1101" y="52"/>
                    <a:pt x="1223" y="3"/>
                  </a:cubicBezTo>
                </a:path>
              </a:pathLst>
            </a:custGeom>
            <a:noFill/>
            <a:ln w="28575">
              <a:solidFill>
                <a:srgbClr val="27FFB7"/>
              </a:solidFill>
              <a:rou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66" name="Text Box 56"/>
            <p:cNvSpPr txBox="1">
              <a:spLocks noChangeArrowheads="1"/>
            </p:cNvSpPr>
            <p:nvPr/>
          </p:nvSpPr>
          <p:spPr bwMode="auto">
            <a:xfrm rot="18542781">
              <a:off x="4301456" y="2035245"/>
              <a:ext cx="1516584"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200" dirty="0">
                  <a:solidFill>
                    <a:schemeClr val="tx2"/>
                  </a:solidFill>
                  <a:latin typeface="+mn-ea"/>
                  <a:ea typeface="+mn-ea"/>
                </a:rPr>
                <a:t>调度</a:t>
              </a:r>
              <a:r>
                <a:rPr lang="en-US" altLang="zh-CN" sz="2200" dirty="0">
                  <a:solidFill>
                    <a:schemeClr val="tx2"/>
                  </a:solidFill>
                  <a:latin typeface="+mn-ea"/>
                  <a:ea typeface="+mn-ea"/>
                </a:rPr>
                <a:t>CPU</a:t>
              </a:r>
            </a:p>
          </p:txBody>
        </p:sp>
        <p:sp>
          <p:nvSpPr>
            <p:cNvPr id="67" name="Freeform 57"/>
            <p:cNvSpPr/>
            <p:nvPr/>
          </p:nvSpPr>
          <p:spPr bwMode="auto">
            <a:xfrm>
              <a:off x="5095304" y="1675553"/>
              <a:ext cx="1130142" cy="1170658"/>
            </a:xfrm>
            <a:custGeom>
              <a:avLst/>
              <a:gdLst>
                <a:gd name="T0" fmla="*/ 0 w 601"/>
                <a:gd name="T1" fmla="*/ 2147483647 h 830"/>
                <a:gd name="T2" fmla="*/ 2147483647 w 601"/>
                <a:gd name="T3" fmla="*/ 2147483647 h 830"/>
                <a:gd name="T4" fmla="*/ 2147483647 w 601"/>
                <a:gd name="T5" fmla="*/ 0 h 830"/>
                <a:gd name="T6" fmla="*/ 0 60000 65536"/>
                <a:gd name="T7" fmla="*/ 0 60000 65536"/>
                <a:gd name="T8" fmla="*/ 0 60000 65536"/>
                <a:gd name="T9" fmla="*/ 0 w 601"/>
                <a:gd name="T10" fmla="*/ 0 h 830"/>
                <a:gd name="T11" fmla="*/ 601 w 601"/>
                <a:gd name="T12" fmla="*/ 830 h 830"/>
              </a:gdLst>
              <a:ahLst/>
              <a:cxnLst>
                <a:cxn ang="T6">
                  <a:pos x="T0" y="T1"/>
                </a:cxn>
                <a:cxn ang="T7">
                  <a:pos x="T2" y="T3"/>
                </a:cxn>
                <a:cxn ang="T8">
                  <a:pos x="T4" y="T5"/>
                </a:cxn>
              </a:cxnLst>
              <a:rect l="T9" t="T10" r="T11" b="T12"/>
              <a:pathLst>
                <a:path w="601" h="830">
                  <a:moveTo>
                    <a:pt x="0" y="830"/>
                  </a:moveTo>
                  <a:cubicBezTo>
                    <a:pt x="24" y="745"/>
                    <a:pt x="46" y="460"/>
                    <a:pt x="146" y="322"/>
                  </a:cubicBezTo>
                  <a:cubicBezTo>
                    <a:pt x="246" y="184"/>
                    <a:pt x="506" y="67"/>
                    <a:pt x="601" y="0"/>
                  </a:cubicBezTo>
                </a:path>
              </a:pathLst>
            </a:custGeom>
            <a:noFill/>
            <a:ln w="28575">
              <a:solidFill>
                <a:srgbClr val="27FFB7"/>
              </a:solidFill>
              <a:rou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sz="2400">
                <a:latin typeface="+mn-ea"/>
              </a:endParaRPr>
            </a:p>
          </p:txBody>
        </p:sp>
        <p:sp>
          <p:nvSpPr>
            <p:cNvPr id="68" name="Freeform 57"/>
            <p:cNvSpPr/>
            <p:nvPr/>
          </p:nvSpPr>
          <p:spPr bwMode="auto">
            <a:xfrm flipH="1" flipV="1">
              <a:off x="5250955" y="1914924"/>
              <a:ext cx="1085088" cy="881911"/>
            </a:xfrm>
            <a:custGeom>
              <a:avLst/>
              <a:gdLst>
                <a:gd name="T0" fmla="*/ 0 w 601"/>
                <a:gd name="T1" fmla="*/ 2147483647 h 830"/>
                <a:gd name="T2" fmla="*/ 2147483647 w 601"/>
                <a:gd name="T3" fmla="*/ 2147483647 h 830"/>
                <a:gd name="T4" fmla="*/ 2147483647 w 601"/>
                <a:gd name="T5" fmla="*/ 0 h 830"/>
                <a:gd name="T6" fmla="*/ 0 60000 65536"/>
                <a:gd name="T7" fmla="*/ 0 60000 65536"/>
                <a:gd name="T8" fmla="*/ 0 60000 65536"/>
                <a:gd name="T9" fmla="*/ 0 w 601"/>
                <a:gd name="T10" fmla="*/ 0 h 830"/>
                <a:gd name="T11" fmla="*/ 601 w 601"/>
                <a:gd name="T12" fmla="*/ 830 h 830"/>
              </a:gdLst>
              <a:ahLst/>
              <a:cxnLst>
                <a:cxn ang="T6">
                  <a:pos x="T0" y="T1"/>
                </a:cxn>
                <a:cxn ang="T7">
                  <a:pos x="T2" y="T3"/>
                </a:cxn>
                <a:cxn ang="T8">
                  <a:pos x="T4" y="T5"/>
                </a:cxn>
              </a:cxnLst>
              <a:rect l="T9" t="T10" r="T11" b="T12"/>
              <a:pathLst>
                <a:path w="601" h="830">
                  <a:moveTo>
                    <a:pt x="0" y="830"/>
                  </a:moveTo>
                  <a:cubicBezTo>
                    <a:pt x="24" y="745"/>
                    <a:pt x="46" y="460"/>
                    <a:pt x="146" y="322"/>
                  </a:cubicBezTo>
                  <a:cubicBezTo>
                    <a:pt x="246" y="184"/>
                    <a:pt x="506" y="67"/>
                    <a:pt x="601" y="0"/>
                  </a:cubicBezTo>
                </a:path>
              </a:pathLst>
            </a:custGeom>
            <a:noFill/>
            <a:ln w="28575">
              <a:solidFill>
                <a:srgbClr val="27FFB7"/>
              </a:solidFill>
              <a:rou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a:p>
          </p:txBody>
        </p:sp>
        <p:sp>
          <p:nvSpPr>
            <p:cNvPr id="69" name="TextBox 32"/>
            <p:cNvSpPr txBox="1">
              <a:spLocks noChangeArrowheads="1"/>
            </p:cNvSpPr>
            <p:nvPr/>
          </p:nvSpPr>
          <p:spPr bwMode="auto">
            <a:xfrm rot="-2119218">
              <a:off x="5279338" y="2121322"/>
              <a:ext cx="172415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200" dirty="0">
                  <a:solidFill>
                    <a:schemeClr val="tx2"/>
                  </a:solidFill>
                  <a:latin typeface="+mn-ea"/>
                  <a:ea typeface="+mn-ea"/>
                </a:rPr>
                <a:t>时间片完</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81760" y="2459990"/>
            <a:ext cx="9311640" cy="2306955"/>
          </a:xfrm>
          <a:prstGeom prst="rect">
            <a:avLst/>
          </a:prstGeom>
        </p:spPr>
        <p:txBody>
          <a:bodyPr wrap="square">
            <a:spAutoFit/>
          </a:bodyPr>
          <a:lstStyle/>
          <a:p>
            <a:pPr marL="266700" indent="-266700" algn="just" defTabSz="266700">
              <a:spcBef>
                <a:spcPct val="0"/>
              </a:spcBef>
              <a:spcAft>
                <a:spcPct val="0"/>
              </a:spcAft>
            </a:pPr>
            <a:r>
              <a:rPr lang="en-US" altLang="zh-CN" sz="2400" b="1">
                <a:latin typeface="宋体" panose="02010600030101010101" pitchFamily="2" charset="-122"/>
                <a:ea typeface="宋体" panose="02010600030101010101" pitchFamily="2" charset="-122"/>
              </a:rPr>
              <a:t>1. </a:t>
            </a:r>
            <a:r>
              <a:rPr lang="zh-CN" altLang="en-US" sz="2400" b="1">
                <a:latin typeface="宋体" panose="02010600030101010101" pitchFamily="2" charset="-122"/>
                <a:ea typeface="宋体" panose="02010600030101010101" pitchFamily="2" charset="-122"/>
              </a:rPr>
              <a:t>进程的基本状态</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可以由其他两种基本状态转变而来。	</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电子科技大学</a:t>
            </a:r>
            <a:r>
              <a:rPr lang="en-US" altLang="zh-CN" sz="2400" b="1">
                <a:latin typeface="宋体" panose="02010600030101010101" pitchFamily="2" charset="-122"/>
                <a:ea typeface="宋体" panose="02010600030101010101" pitchFamily="2" charset="-122"/>
              </a:rPr>
              <a:t>2015</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p>
          <a:p>
            <a:pPr marL="0" indent="0" algn="just" defTabSz="266700">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rPr>
              <a:t>A.</a:t>
            </a:r>
            <a:r>
              <a:rPr lang="zh-CN" altLang="en-US" sz="2400" b="1">
                <a:latin typeface="宋体" panose="02010600030101010101" pitchFamily="2" charset="-122"/>
                <a:ea typeface="宋体" panose="02010600030101010101" pitchFamily="2" charset="-122"/>
              </a:rPr>
              <a:t>就绪状态</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B.</a:t>
            </a:r>
            <a:r>
              <a:rPr lang="zh-CN" altLang="en-US" sz="2400" b="1">
                <a:latin typeface="宋体" panose="02010600030101010101" pitchFamily="2" charset="-122"/>
                <a:ea typeface="宋体" panose="02010600030101010101" pitchFamily="2" charset="-122"/>
              </a:rPr>
              <a:t>执行状态</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C.</a:t>
            </a:r>
            <a:r>
              <a:rPr lang="zh-CN" altLang="en-US" sz="2400" b="1">
                <a:latin typeface="宋体" panose="02010600030101010101" pitchFamily="2" charset="-122"/>
                <a:ea typeface="宋体" panose="02010600030101010101" pitchFamily="2" charset="-122"/>
              </a:rPr>
              <a:t>阻塞状态</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D.</a:t>
            </a:r>
            <a:r>
              <a:rPr lang="zh-CN" altLang="en-US" sz="2400" b="1">
                <a:latin typeface="宋体" panose="02010600030101010101" pitchFamily="2" charset="-122"/>
                <a:ea typeface="宋体" panose="02010600030101010101" pitchFamily="2" charset="-122"/>
              </a:rPr>
              <a:t>新建状态</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9650" y="2459990"/>
            <a:ext cx="9883775" cy="2306955"/>
          </a:xfrm>
          <a:prstGeom prst="rect">
            <a:avLst/>
          </a:prstGeom>
        </p:spPr>
        <p:txBody>
          <a:bodyPr wrap="square">
            <a:spAutoFit/>
          </a:bodyPr>
          <a:lstStyle/>
          <a:p>
            <a:pPr marL="266700" indent="-266700" algn="just" defTabSz="266700">
              <a:spcBef>
                <a:spcPct val="0"/>
              </a:spcBef>
              <a:spcAft>
                <a:spcPct val="0"/>
              </a:spcAft>
            </a:pPr>
            <a:r>
              <a:rPr lang="en-US" altLang="zh-CN" sz="2400" b="1">
                <a:latin typeface="宋体" panose="02010600030101010101" pitchFamily="2" charset="-122"/>
                <a:ea typeface="宋体" panose="02010600030101010101" pitchFamily="2" charset="-122"/>
              </a:rPr>
              <a:t>1. </a:t>
            </a:r>
            <a:r>
              <a:rPr lang="zh-CN" altLang="en-US" sz="2400" b="1">
                <a:latin typeface="宋体" panose="02010600030101010101" pitchFamily="2" charset="-122"/>
                <a:ea typeface="宋体" panose="02010600030101010101" pitchFamily="2" charset="-122"/>
              </a:rPr>
              <a:t>当一个进程</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，就要退出等待队列而进入就绪队列。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广东工业大学</a:t>
            </a:r>
            <a:r>
              <a:rPr lang="en-US" altLang="zh-CN" sz="2400" b="1">
                <a:latin typeface="宋体" panose="02010600030101010101" pitchFamily="2" charset="-122"/>
                <a:ea typeface="宋体" panose="02010600030101010101" pitchFamily="2" charset="-122"/>
              </a:rPr>
              <a:t>2017</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	  </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A.</a:t>
            </a:r>
            <a:r>
              <a:rPr lang="zh-CN" altLang="en-US" sz="2400" b="1">
                <a:latin typeface="宋体" panose="02010600030101010101" pitchFamily="2" charset="-122"/>
                <a:ea typeface="宋体" panose="02010600030101010101" pitchFamily="2" charset="-122"/>
              </a:rPr>
              <a:t>启动了外设</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B.</a:t>
            </a:r>
            <a:r>
              <a:rPr lang="zh-CN" altLang="en-US" sz="2400" b="1">
                <a:latin typeface="宋体" panose="02010600030101010101" pitchFamily="2" charset="-122"/>
                <a:ea typeface="宋体" panose="02010600030101010101" pitchFamily="2" charset="-122"/>
              </a:rPr>
              <a:t>用完了规定的时间片</a:t>
            </a:r>
          </a:p>
          <a:p>
            <a:pPr marL="0" indent="0" algn="just" defTabSz="266700">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rPr>
              <a:t>C</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获得了所等待的资源</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D.</a:t>
            </a:r>
            <a:r>
              <a:rPr lang="zh-CN" altLang="en-US" sz="2400" b="1">
                <a:latin typeface="宋体" panose="02010600030101010101" pitchFamily="2" charset="-122"/>
                <a:ea typeface="宋体" panose="02010600030101010101" pitchFamily="2" charset="-122"/>
              </a:rPr>
              <a:t>能得到所等待的处理器</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15415" y="1721485"/>
            <a:ext cx="9311640" cy="3107690"/>
          </a:xfrm>
          <a:prstGeom prst="rect">
            <a:avLst/>
          </a:prstGeom>
        </p:spPr>
        <p:txBody>
          <a:bodyPr wrap="square">
            <a:spAutoFit/>
          </a:bodyPr>
          <a:lstStyle/>
          <a:p>
            <a:pPr marL="266700" indent="-266700" algn="just" defTabSz="266700">
              <a:spcBef>
                <a:spcPct val="0"/>
              </a:spcBef>
              <a:spcAft>
                <a:spcPct val="0"/>
              </a:spcAft>
            </a:pPr>
            <a:r>
              <a:rPr lang="en-US" altLang="zh-CN" sz="2000" b="1">
                <a:latin typeface="宋体" panose="02010600030101010101" pitchFamily="2" charset="-122"/>
                <a:ea typeface="宋体" panose="02010600030101010101" pitchFamily="2" charset="-122"/>
              </a:rPr>
              <a:t>1. </a:t>
            </a:r>
            <a:r>
              <a:rPr lang="zh-CN" altLang="en-US" sz="2000" b="1">
                <a:latin typeface="宋体" panose="02010600030101010101" pitchFamily="2" charset="-122"/>
                <a:ea typeface="宋体" panose="02010600030101010101" pitchFamily="2" charset="-122"/>
              </a:rPr>
              <a:t>下列事件或操作中，可能导致进程 </a:t>
            </a:r>
            <a:r>
              <a:rPr lang="en-US" altLang="zh-CN" sz="2000" b="1">
                <a:latin typeface="宋体" panose="02010600030101010101" pitchFamily="2" charset="-122"/>
                <a:ea typeface="宋体" panose="02010600030101010101" pitchFamily="2" charset="-122"/>
              </a:rPr>
              <a:t>P </a:t>
            </a:r>
            <a:r>
              <a:rPr lang="zh-CN" altLang="en-US" sz="2000" b="1">
                <a:latin typeface="宋体" panose="02010600030101010101" pitchFamily="2" charset="-122"/>
                <a:ea typeface="宋体" panose="02010600030101010101" pitchFamily="2" charset="-122"/>
              </a:rPr>
              <a:t>由执行态变为阻塞态的是（ </a:t>
            </a:r>
            <a:r>
              <a:rPr lang="en-US" altLang="zh-CN" sz="2000" b="1">
                <a:latin typeface="宋体" panose="02010600030101010101" pitchFamily="2" charset="-122"/>
                <a:ea typeface="宋体" panose="02010600030101010101" pitchFamily="2" charset="-122"/>
              </a:rPr>
              <a:t> </a:t>
            </a:r>
            <a:r>
              <a:rPr lang="zh-CN" altLang="en-US" sz="2000" b="1">
                <a:latin typeface="宋体" panose="02010600030101010101" pitchFamily="2" charset="-122"/>
                <a:ea typeface="宋体" panose="02010600030101010101" pitchFamily="2" charset="-122"/>
              </a:rPr>
              <a:t>）。</a:t>
            </a:r>
            <a:r>
              <a:rPr lang="en-US" altLang="zh-CN" sz="1600" b="1">
                <a:latin typeface="宋体" panose="02010600030101010101" pitchFamily="2" charset="-122"/>
                <a:ea typeface="宋体" panose="02010600030101010101" pitchFamily="2" charset="-122"/>
              </a:rPr>
              <a:t>[</a:t>
            </a:r>
            <a:r>
              <a:rPr lang="zh-CN" altLang="en-US" sz="1600" b="1">
                <a:latin typeface="宋体" panose="02010600030101010101" pitchFamily="2" charset="-122"/>
                <a:ea typeface="宋体" panose="02010600030101010101" pitchFamily="2" charset="-122"/>
              </a:rPr>
              <a:t>全国联考</a:t>
            </a:r>
            <a:r>
              <a:rPr lang="en-US" altLang="zh-CN" sz="1600" b="1">
                <a:latin typeface="宋体" panose="02010600030101010101" pitchFamily="2" charset="-122"/>
                <a:ea typeface="宋体" panose="02010600030101010101" pitchFamily="2" charset="-122"/>
              </a:rPr>
              <a:t>2022</a:t>
            </a:r>
            <a:r>
              <a:rPr lang="zh-CN" altLang="en-US" sz="1600" b="1">
                <a:latin typeface="宋体" panose="02010600030101010101" pitchFamily="2" charset="-122"/>
                <a:ea typeface="宋体" panose="02010600030101010101" pitchFamily="2" charset="-122"/>
              </a:rPr>
              <a:t>年</a:t>
            </a:r>
            <a:r>
              <a:rPr lang="en-US" altLang="zh-CN" sz="1600" b="1">
                <a:latin typeface="宋体" panose="02010600030101010101" pitchFamily="2" charset="-122"/>
                <a:ea typeface="宋体" panose="02010600030101010101" pitchFamily="2" charset="-122"/>
              </a:rPr>
              <a:t>]</a:t>
            </a:r>
          </a:p>
          <a:p>
            <a:pPr marL="0" indent="0" algn="just" defTabSz="266700">
              <a:spcBef>
                <a:spcPct val="0"/>
              </a:spcBef>
              <a:spcAft>
                <a:spcPct val="0"/>
              </a:spcAft>
              <a:tabLst>
                <a:tab pos="2637155" algn="l"/>
              </a:tabLst>
            </a:pPr>
            <a:r>
              <a:rPr lang="en-US" altLang="zh-CN" sz="2000" b="1">
                <a:latin typeface="宋体" panose="02010600030101010101" pitchFamily="2" charset="-122"/>
                <a:ea typeface="宋体" panose="02010600030101010101" pitchFamily="2" charset="-122"/>
              </a:rPr>
              <a:t>I.</a:t>
            </a:r>
            <a:r>
              <a:rPr lang="zh-CN" altLang="en-US" sz="2000" b="1">
                <a:latin typeface="宋体" panose="02010600030101010101" pitchFamily="2" charset="-122"/>
                <a:ea typeface="宋体" panose="02010600030101010101" pitchFamily="2" charset="-122"/>
              </a:rPr>
              <a:t>进程 </a:t>
            </a:r>
            <a:r>
              <a:rPr lang="en-US" altLang="zh-CN" sz="2000" b="1">
                <a:latin typeface="宋体" panose="02010600030101010101" pitchFamily="2" charset="-122"/>
                <a:ea typeface="宋体" panose="02010600030101010101" pitchFamily="2" charset="-122"/>
              </a:rPr>
              <a:t>P </a:t>
            </a:r>
            <a:r>
              <a:rPr lang="zh-CN" altLang="en-US" sz="2000" b="1">
                <a:latin typeface="宋体" panose="02010600030101010101" pitchFamily="2" charset="-122"/>
                <a:ea typeface="宋体" panose="02010600030101010101" pitchFamily="2" charset="-122"/>
              </a:rPr>
              <a:t>读文件</a:t>
            </a:r>
          </a:p>
          <a:p>
            <a:pPr marL="0" indent="0" algn="just" defTabSz="266700">
              <a:spcBef>
                <a:spcPct val="0"/>
              </a:spcBef>
              <a:spcAft>
                <a:spcPct val="0"/>
              </a:spcAft>
              <a:tabLst>
                <a:tab pos="2637155" algn="l"/>
              </a:tabLst>
            </a:pPr>
            <a:r>
              <a:rPr lang="en-US" altLang="zh-CN" sz="2000" b="1">
                <a:latin typeface="宋体" panose="02010600030101010101" pitchFamily="2" charset="-122"/>
                <a:ea typeface="宋体" panose="02010600030101010101" pitchFamily="2" charset="-122"/>
              </a:rPr>
              <a:t>Ⅱ.</a:t>
            </a:r>
            <a:r>
              <a:rPr lang="zh-CN" altLang="en-US" sz="2000" b="1">
                <a:latin typeface="宋体" panose="02010600030101010101" pitchFamily="2" charset="-122"/>
                <a:ea typeface="宋体" panose="02010600030101010101" pitchFamily="2" charset="-122"/>
              </a:rPr>
              <a:t>进程 </a:t>
            </a:r>
            <a:r>
              <a:rPr lang="en-US" altLang="zh-CN" sz="2000" b="1">
                <a:latin typeface="宋体" panose="02010600030101010101" pitchFamily="2" charset="-122"/>
                <a:ea typeface="宋体" panose="02010600030101010101" pitchFamily="2" charset="-122"/>
              </a:rPr>
              <a:t>P </a:t>
            </a:r>
            <a:r>
              <a:rPr lang="zh-CN" altLang="en-US" sz="2000" b="1">
                <a:latin typeface="宋体" panose="02010600030101010101" pitchFamily="2" charset="-122"/>
                <a:ea typeface="宋体" panose="02010600030101010101" pitchFamily="2" charset="-122"/>
              </a:rPr>
              <a:t>的时间片用完</a:t>
            </a:r>
          </a:p>
          <a:p>
            <a:pPr marL="0" indent="0" algn="just" defTabSz="266700">
              <a:spcBef>
                <a:spcPct val="0"/>
              </a:spcBef>
              <a:spcAft>
                <a:spcPct val="0"/>
              </a:spcAft>
              <a:tabLst>
                <a:tab pos="2637155" algn="l"/>
              </a:tabLst>
            </a:pPr>
            <a:r>
              <a:rPr lang="en-US" altLang="zh-CN" sz="2000" b="1">
                <a:latin typeface="宋体" panose="02010600030101010101" pitchFamily="2" charset="-122"/>
                <a:ea typeface="宋体" panose="02010600030101010101" pitchFamily="2" charset="-122"/>
              </a:rPr>
              <a:t>Ⅲ.</a:t>
            </a:r>
            <a:r>
              <a:rPr lang="zh-CN" altLang="en-US" sz="2000" b="1">
                <a:latin typeface="宋体" panose="02010600030101010101" pitchFamily="2" charset="-122"/>
                <a:ea typeface="宋体" panose="02010600030101010101" pitchFamily="2" charset="-122"/>
              </a:rPr>
              <a:t>进程 </a:t>
            </a:r>
            <a:r>
              <a:rPr lang="en-US" altLang="zh-CN" sz="2000" b="1">
                <a:latin typeface="宋体" panose="02010600030101010101" pitchFamily="2" charset="-122"/>
                <a:ea typeface="宋体" panose="02010600030101010101" pitchFamily="2" charset="-122"/>
              </a:rPr>
              <a:t>P </a:t>
            </a:r>
            <a:r>
              <a:rPr lang="zh-CN" altLang="en-US" sz="2000" b="1">
                <a:latin typeface="宋体" panose="02010600030101010101" pitchFamily="2" charset="-122"/>
                <a:ea typeface="宋体" panose="02010600030101010101" pitchFamily="2" charset="-122"/>
              </a:rPr>
              <a:t>申请外设</a:t>
            </a:r>
          </a:p>
          <a:p>
            <a:pPr marL="0" indent="0" algn="just" defTabSz="266700">
              <a:spcBef>
                <a:spcPct val="0"/>
              </a:spcBef>
              <a:spcAft>
                <a:spcPct val="0"/>
              </a:spcAft>
              <a:tabLst>
                <a:tab pos="2637155" algn="l"/>
              </a:tabLst>
            </a:pPr>
            <a:r>
              <a:rPr lang="en-US" altLang="zh-CN" sz="2000" b="1">
                <a:latin typeface="宋体" panose="02010600030101010101" pitchFamily="2" charset="-122"/>
                <a:ea typeface="宋体" panose="02010600030101010101" pitchFamily="2" charset="-122"/>
              </a:rPr>
              <a:t>Ⅳ.</a:t>
            </a:r>
            <a:r>
              <a:rPr lang="zh-CN" altLang="en-US" sz="2000" b="1">
                <a:latin typeface="宋体" panose="02010600030101010101" pitchFamily="2" charset="-122"/>
                <a:ea typeface="宋体" panose="02010600030101010101" pitchFamily="2" charset="-122"/>
              </a:rPr>
              <a:t>进程 </a:t>
            </a:r>
            <a:r>
              <a:rPr lang="en-US" altLang="zh-CN" sz="2000" b="1">
                <a:latin typeface="宋体" panose="02010600030101010101" pitchFamily="2" charset="-122"/>
                <a:ea typeface="宋体" panose="02010600030101010101" pitchFamily="2" charset="-122"/>
              </a:rPr>
              <a:t>P </a:t>
            </a:r>
            <a:r>
              <a:rPr lang="zh-CN" altLang="en-US" sz="2000" b="1">
                <a:latin typeface="宋体" panose="02010600030101010101" pitchFamily="2" charset="-122"/>
                <a:ea typeface="宋体" panose="02010600030101010101" pitchFamily="2" charset="-122"/>
              </a:rPr>
              <a:t>执行信号量的 </a:t>
            </a:r>
            <a:r>
              <a:rPr lang="en-US" altLang="zh-CN" sz="2000" b="1">
                <a:latin typeface="宋体" panose="02010600030101010101" pitchFamily="2" charset="-122"/>
                <a:ea typeface="宋体" panose="02010600030101010101" pitchFamily="2" charset="-122"/>
              </a:rPr>
              <a:t>wait()</a:t>
            </a:r>
            <a:r>
              <a:rPr lang="zh-CN" altLang="en-US" sz="2000" b="1">
                <a:latin typeface="宋体" panose="02010600030101010101" pitchFamily="2" charset="-122"/>
                <a:ea typeface="宋体" panose="02010600030101010101" pitchFamily="2" charset="-122"/>
              </a:rPr>
              <a:t>操作</a:t>
            </a:r>
          </a:p>
          <a:p>
            <a:pPr marL="0" indent="0" algn="just" defTabSz="266700">
              <a:spcBef>
                <a:spcPct val="0"/>
              </a:spcBef>
              <a:spcAft>
                <a:spcPct val="0"/>
              </a:spcAft>
              <a:tabLst>
                <a:tab pos="2637155" algn="l"/>
              </a:tabLst>
            </a:pPr>
            <a:r>
              <a:rPr lang="en-US" altLang="zh-CN" sz="2000" b="1">
                <a:latin typeface="宋体" panose="02010600030101010101" pitchFamily="2" charset="-122"/>
                <a:ea typeface="宋体" panose="02010600030101010101" pitchFamily="2" charset="-122"/>
              </a:rPr>
              <a:t>A.</a:t>
            </a:r>
            <a:r>
              <a:rPr lang="zh-CN" altLang="en-US" sz="2000" b="1">
                <a:latin typeface="宋体" panose="02010600030101010101" pitchFamily="2" charset="-122"/>
                <a:ea typeface="宋体" panose="02010600030101010101" pitchFamily="2" charset="-122"/>
              </a:rPr>
              <a:t>仅 </a:t>
            </a:r>
            <a:r>
              <a:rPr lang="en-US" altLang="zh-CN" sz="2000" b="1">
                <a:latin typeface="宋体" panose="02010600030101010101" pitchFamily="2" charset="-122"/>
                <a:ea typeface="宋体" panose="02010600030101010101" pitchFamily="2" charset="-122"/>
              </a:rPr>
              <a:t>I</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Ⅳ</a:t>
            </a:r>
          </a:p>
          <a:p>
            <a:pPr marL="0" indent="0" algn="just" defTabSz="266700">
              <a:spcBef>
                <a:spcPct val="0"/>
              </a:spcBef>
              <a:spcAft>
                <a:spcPct val="0"/>
              </a:spcAft>
              <a:tabLst>
                <a:tab pos="2637155" algn="l"/>
              </a:tabLst>
            </a:pPr>
            <a:r>
              <a:rPr lang="en-US" altLang="zh-CN" sz="2000" b="1">
                <a:latin typeface="宋体" panose="02010600030101010101" pitchFamily="2" charset="-122"/>
                <a:ea typeface="宋体" panose="02010600030101010101" pitchFamily="2" charset="-122"/>
              </a:rPr>
              <a:t>B.</a:t>
            </a:r>
            <a:r>
              <a:rPr lang="zh-CN" altLang="en-US" sz="2000" b="1">
                <a:latin typeface="宋体" panose="02010600030101010101" pitchFamily="2" charset="-122"/>
                <a:ea typeface="宋体" panose="02010600030101010101" pitchFamily="2" charset="-122"/>
              </a:rPr>
              <a:t>仅</a:t>
            </a:r>
            <a:r>
              <a:rPr lang="en-US" altLang="zh-CN" sz="2000" b="1">
                <a:latin typeface="宋体" panose="02010600030101010101" pitchFamily="2" charset="-122"/>
                <a:ea typeface="宋体" panose="02010600030101010101" pitchFamily="2" charset="-122"/>
              </a:rPr>
              <a:t>Ⅱ</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Ⅲ</a:t>
            </a:r>
          </a:p>
          <a:p>
            <a:pPr marL="0" indent="0" algn="just" defTabSz="266700">
              <a:spcBef>
                <a:spcPct val="0"/>
              </a:spcBef>
              <a:spcAft>
                <a:spcPct val="0"/>
              </a:spcAft>
              <a:tabLst>
                <a:tab pos="2637155" algn="l"/>
              </a:tabLst>
            </a:pPr>
            <a:r>
              <a:rPr lang="en-US" altLang="zh-CN" sz="2000" b="1">
                <a:latin typeface="宋体" panose="02010600030101010101" pitchFamily="2" charset="-122"/>
                <a:ea typeface="宋体" panose="02010600030101010101" pitchFamily="2" charset="-122"/>
              </a:rPr>
              <a:t>C.</a:t>
            </a:r>
            <a:r>
              <a:rPr lang="zh-CN" altLang="en-US" sz="2000" b="1">
                <a:latin typeface="宋体" panose="02010600030101010101" pitchFamily="2" charset="-122"/>
                <a:ea typeface="宋体" panose="02010600030101010101" pitchFamily="2" charset="-122"/>
              </a:rPr>
              <a:t>仅</a:t>
            </a:r>
            <a:r>
              <a:rPr lang="en-US" altLang="zh-CN" sz="2000" b="1">
                <a:latin typeface="宋体" panose="02010600030101010101" pitchFamily="2" charset="-122"/>
                <a:ea typeface="宋体" panose="02010600030101010101" pitchFamily="2" charset="-122"/>
              </a:rPr>
              <a:t>Ⅲ</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Ⅳ</a:t>
            </a:r>
          </a:p>
          <a:p>
            <a:pPr marL="0" indent="0" algn="just" defTabSz="266700">
              <a:spcBef>
                <a:spcPct val="0"/>
              </a:spcBef>
              <a:spcAft>
                <a:spcPct val="0"/>
              </a:spcAft>
              <a:tabLst>
                <a:tab pos="2637155" algn="l"/>
              </a:tabLst>
            </a:pPr>
            <a:r>
              <a:rPr lang="en-US" altLang="zh-CN" sz="2000" b="1">
                <a:solidFill>
                  <a:srgbClr val="FF0000"/>
                </a:solidFill>
                <a:latin typeface="宋体" panose="02010600030101010101" pitchFamily="2" charset="-122"/>
                <a:ea typeface="宋体" panose="02010600030101010101" pitchFamily="2" charset="-122"/>
              </a:rPr>
              <a:t>D</a:t>
            </a:r>
            <a:r>
              <a:rPr lang="en-US" altLang="zh-CN" sz="2000" b="1">
                <a:latin typeface="宋体" panose="02010600030101010101" pitchFamily="2" charset="-122"/>
                <a:ea typeface="宋体" panose="02010600030101010101" pitchFamily="2" charset="-122"/>
              </a:rPr>
              <a:t>.</a:t>
            </a:r>
            <a:r>
              <a:rPr lang="zh-CN" altLang="en-US" sz="2000" b="1">
                <a:latin typeface="宋体" panose="02010600030101010101" pitchFamily="2" charset="-122"/>
                <a:ea typeface="宋体" panose="02010600030101010101" pitchFamily="2" charset="-122"/>
              </a:rPr>
              <a:t>仅 </a:t>
            </a:r>
            <a:r>
              <a:rPr lang="en-US" altLang="zh-CN" sz="2000" b="1">
                <a:latin typeface="宋体" panose="02010600030101010101" pitchFamily="2" charset="-122"/>
                <a:ea typeface="宋体" panose="02010600030101010101" pitchFamily="2" charset="-122"/>
              </a:rPr>
              <a:t>I</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Ⅲ</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Ⅳ</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31925" y="1998345"/>
            <a:ext cx="9058910" cy="2676525"/>
          </a:xfrm>
          <a:prstGeom prst="rect">
            <a:avLst/>
          </a:prstGeom>
        </p:spPr>
        <p:txBody>
          <a:bodyPr wrap="square">
            <a:spAutoFit/>
          </a:bodyPr>
          <a:lstStyle/>
          <a:p>
            <a:pPr marL="266700" indent="-266700" algn="just" defTabSz="266700">
              <a:spcBef>
                <a:spcPct val="0"/>
              </a:spcBef>
              <a:spcAft>
                <a:spcPct val="0"/>
              </a:spcAft>
            </a:pPr>
            <a:r>
              <a:rPr lang="en-US" altLang="zh-CN" sz="2400" b="1">
                <a:latin typeface="宋体" panose="02010600030101010101" pitchFamily="2" charset="-122"/>
                <a:ea typeface="宋体" panose="02010600030101010101" pitchFamily="2" charset="-122"/>
              </a:rPr>
              <a:t>1. </a:t>
            </a:r>
            <a:r>
              <a:rPr lang="zh-CN" altLang="en-US" sz="2400" b="1">
                <a:latin typeface="宋体" panose="02010600030101010101" pitchFamily="2" charset="-122"/>
                <a:ea typeface="宋体" panose="02010600030101010101" pitchFamily="2" charset="-122"/>
              </a:rPr>
              <a:t>下列由当前线程引起的事件或执行的操作中，可能导致该线程由执行态变为就绪态的是</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2023</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                                         </a:t>
            </a:r>
          </a:p>
          <a:p>
            <a:pPr marL="0" indent="0" algn="just" defTabSz="266700">
              <a:spcBef>
                <a:spcPct val="0"/>
              </a:spcBef>
              <a:spcAft>
                <a:spcPct val="0"/>
              </a:spcAft>
              <a:tabLst>
                <a:tab pos="2637155" algn="l"/>
              </a:tabLst>
            </a:pPr>
            <a:r>
              <a:rPr lang="en-US" altLang="zh-CN" sz="2400" b="1">
                <a:latin typeface="宋体" panose="02010600030101010101" pitchFamily="2" charset="-122"/>
                <a:ea typeface="宋体" panose="02010600030101010101" pitchFamily="2" charset="-122"/>
              </a:rPr>
              <a:t>A.</a:t>
            </a:r>
            <a:r>
              <a:rPr lang="zh-CN" altLang="en-US" sz="2400" b="1">
                <a:latin typeface="宋体" panose="02010600030101010101" pitchFamily="2" charset="-122"/>
                <a:ea typeface="宋体" panose="02010600030101010101" pitchFamily="2" charset="-122"/>
              </a:rPr>
              <a:t>键盘输入</a:t>
            </a:r>
          </a:p>
          <a:p>
            <a:pPr marL="0" indent="0" algn="just" defTabSz="266700">
              <a:spcBef>
                <a:spcPct val="0"/>
              </a:spcBef>
              <a:spcAft>
                <a:spcPct val="0"/>
              </a:spcAft>
              <a:tabLst>
                <a:tab pos="2637155" algn="l"/>
              </a:tabLst>
            </a:pPr>
            <a:r>
              <a:rPr lang="en-US" altLang="zh-CN" sz="2400" b="1">
                <a:latin typeface="宋体" panose="02010600030101010101" pitchFamily="2" charset="-122"/>
                <a:ea typeface="宋体" panose="02010600030101010101" pitchFamily="2" charset="-122"/>
              </a:rPr>
              <a:t>B.</a:t>
            </a:r>
            <a:r>
              <a:rPr lang="zh-CN" altLang="en-US" sz="2400" b="1">
                <a:latin typeface="宋体" panose="02010600030101010101" pitchFamily="2" charset="-122"/>
                <a:ea typeface="宋体" panose="02010600030101010101" pitchFamily="2" charset="-122"/>
              </a:rPr>
              <a:t>缺页异常</a:t>
            </a:r>
          </a:p>
          <a:p>
            <a:pPr marL="0" indent="0" algn="just" defTabSz="266700">
              <a:spcBef>
                <a:spcPct val="0"/>
              </a:spcBef>
              <a:spcAft>
                <a:spcPct val="0"/>
              </a:spcAft>
              <a:tabLst>
                <a:tab pos="2637155" algn="l"/>
              </a:tabLst>
            </a:pPr>
            <a:r>
              <a:rPr lang="en-US" altLang="zh-CN" sz="2400" b="1">
                <a:solidFill>
                  <a:srgbClr val="FF0000"/>
                </a:solidFill>
                <a:latin typeface="宋体" panose="02010600030101010101" pitchFamily="2" charset="-122"/>
                <a:ea typeface="宋体" panose="02010600030101010101" pitchFamily="2" charset="-122"/>
              </a:rPr>
              <a:t>C</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主动出让 </a:t>
            </a:r>
            <a:r>
              <a:rPr lang="en-US" altLang="zh-CN" sz="2400" b="1">
                <a:latin typeface="宋体" panose="02010600030101010101" pitchFamily="2" charset="-122"/>
                <a:ea typeface="宋体" panose="02010600030101010101" pitchFamily="2" charset="-122"/>
              </a:rPr>
              <a:t>CPU</a:t>
            </a:r>
          </a:p>
          <a:p>
            <a:pPr marL="0" indent="0" algn="just" defTabSz="266700">
              <a:spcBef>
                <a:spcPct val="0"/>
              </a:spcBef>
              <a:spcAft>
                <a:spcPct val="0"/>
              </a:spcAft>
              <a:tabLst>
                <a:tab pos="2637155" algn="l"/>
              </a:tabLst>
            </a:pPr>
            <a:r>
              <a:rPr lang="en-US" altLang="zh-CN" sz="2400" b="1">
                <a:latin typeface="宋体" panose="02010600030101010101" pitchFamily="2" charset="-122"/>
                <a:ea typeface="宋体" panose="02010600030101010101" pitchFamily="2" charset="-122"/>
              </a:rPr>
              <a:t>D.</a:t>
            </a:r>
            <a:r>
              <a:rPr lang="zh-CN" altLang="en-US" sz="2400" b="1">
                <a:latin typeface="宋体" panose="02010600030101010101" pitchFamily="2" charset="-122"/>
                <a:ea typeface="宋体" panose="02010600030101010101" pitchFamily="2" charset="-122"/>
              </a:rPr>
              <a:t>执行信号量的</a:t>
            </a:r>
            <a:r>
              <a:rPr lang="en-US" altLang="zh-CN" sz="2400" b="1">
                <a:latin typeface="宋体" panose="02010600030101010101" pitchFamily="2" charset="-122"/>
                <a:ea typeface="宋体" panose="02010600030101010101" pitchFamily="2" charset="-122"/>
              </a:rPr>
              <a:t>wait()</a:t>
            </a:r>
            <a:r>
              <a:rPr lang="zh-CN" altLang="en-US" sz="2400" b="1">
                <a:latin typeface="宋体" panose="02010600030101010101" pitchFamily="2" charset="-122"/>
                <a:ea typeface="宋体" panose="02010600030101010101" pitchFamily="2" charset="-122"/>
              </a:rPr>
              <a:t>操作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17980" y="1998345"/>
            <a:ext cx="9023985" cy="3415030"/>
          </a:xfrm>
          <a:prstGeom prst="rect">
            <a:avLst/>
          </a:prstGeom>
        </p:spPr>
        <p:txBody>
          <a:bodyPr wrap="square">
            <a:spAutoFit/>
          </a:bodyPr>
          <a:lstStyle/>
          <a:p>
            <a:pPr marL="266700" indent="-266700" algn="just" defTabSz="266700">
              <a:spcBef>
                <a:spcPct val="0"/>
              </a:spcBef>
              <a:spcAft>
                <a:spcPct val="0"/>
              </a:spcAft>
            </a:pPr>
            <a:r>
              <a:rPr lang="en-US" altLang="zh-CN" sz="2400" b="1">
                <a:latin typeface="宋体" panose="02010600030101010101" pitchFamily="2" charset="-122"/>
                <a:ea typeface="宋体" panose="02010600030101010101" pitchFamily="2" charset="-122"/>
              </a:rPr>
              <a:t>1. </a:t>
            </a:r>
            <a:r>
              <a:rPr lang="zh-CN" altLang="en-US" sz="2400" b="1">
                <a:latin typeface="宋体" panose="02010600030101010101" pitchFamily="2" charset="-122"/>
                <a:ea typeface="宋体" panose="02010600030101010101" pitchFamily="2" charset="-122"/>
              </a:rPr>
              <a:t>下列选项中，可能导致当前进程</a:t>
            </a:r>
            <a:r>
              <a:rPr lang="en-US" altLang="zh-CN" sz="2400" b="1">
                <a:latin typeface="宋体" panose="02010600030101010101" pitchFamily="2" charset="-122"/>
                <a:ea typeface="宋体" panose="02010600030101010101" pitchFamily="2" charset="-122"/>
              </a:rPr>
              <a:t>P</a:t>
            </a:r>
            <a:r>
              <a:rPr lang="zh-CN" altLang="en-US" sz="2400" b="1">
                <a:latin typeface="宋体" panose="02010600030101010101" pitchFamily="2" charset="-122"/>
                <a:ea typeface="宋体" panose="02010600030101010101" pitchFamily="2" charset="-122"/>
              </a:rPr>
              <a:t>阻塞的事件是</a:t>
            </a:r>
            <a:r>
              <a:rPr lang="en-US" altLang="zh-CN" sz="2400" b="1">
                <a:latin typeface="宋体" panose="02010600030101010101" pitchFamily="2" charset="-122"/>
                <a:ea typeface="宋体" panose="02010600030101010101" pitchFamily="2" charset="-122"/>
              </a:rPr>
              <a:t>(   ) </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2018</a:t>
            </a:r>
            <a:r>
              <a:rPr lang="zh-CN" altLang="en-US" sz="2400" b="1">
                <a:latin typeface="宋体" panose="02010600030101010101" pitchFamily="2" charset="-122"/>
                <a:ea typeface="宋体" panose="02010600030101010101" pitchFamily="2" charset="-122"/>
              </a:rPr>
              <a:t>年</a:t>
            </a:r>
            <a:r>
              <a:rPr lang="en-US" altLang="zh-CN" sz="2400">
                <a:latin typeface="宋体" panose="02010600030101010101" pitchFamily="2" charset="-122"/>
                <a:ea typeface="宋体" panose="02010600030101010101" pitchFamily="2" charset="-122"/>
              </a:rPr>
              <a:t>]</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I.</a:t>
            </a:r>
            <a:r>
              <a:rPr lang="zh-CN" altLang="en-US" sz="2400" b="1">
                <a:latin typeface="宋体" panose="02010600030101010101" pitchFamily="2" charset="-122"/>
                <a:ea typeface="宋体" panose="02010600030101010101" pitchFamily="2" charset="-122"/>
              </a:rPr>
              <a:t>进程</a:t>
            </a:r>
            <a:r>
              <a:rPr lang="en-US" altLang="zh-CN" sz="2400" b="1">
                <a:latin typeface="宋体" panose="02010600030101010101" pitchFamily="2" charset="-122"/>
                <a:ea typeface="宋体" panose="02010600030101010101" pitchFamily="2" charset="-122"/>
              </a:rPr>
              <a:t>P</a:t>
            </a:r>
            <a:r>
              <a:rPr lang="zh-CN" altLang="en-US" sz="2400" b="1">
                <a:latin typeface="宋体" panose="02010600030101010101" pitchFamily="2" charset="-122"/>
                <a:ea typeface="宋体" panose="02010600030101010101" pitchFamily="2" charset="-122"/>
              </a:rPr>
              <a:t>申请临界资源</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II.</a:t>
            </a:r>
            <a:r>
              <a:rPr lang="zh-CN" altLang="en-US" sz="2400" b="1">
                <a:latin typeface="宋体" panose="02010600030101010101" pitchFamily="2" charset="-122"/>
                <a:ea typeface="宋体" panose="02010600030101010101" pitchFamily="2" charset="-122"/>
              </a:rPr>
              <a:t>进程</a:t>
            </a:r>
            <a:r>
              <a:rPr lang="en-US" altLang="zh-CN" sz="2400" b="1">
                <a:latin typeface="宋体" panose="02010600030101010101" pitchFamily="2" charset="-122"/>
                <a:ea typeface="宋体" panose="02010600030101010101" pitchFamily="2" charset="-122"/>
              </a:rPr>
              <a:t>P</a:t>
            </a:r>
            <a:r>
              <a:rPr lang="zh-CN" altLang="en-US" sz="2400" b="1">
                <a:latin typeface="宋体" panose="02010600030101010101" pitchFamily="2" charset="-122"/>
                <a:ea typeface="宋体" panose="02010600030101010101" pitchFamily="2" charset="-122"/>
              </a:rPr>
              <a:t>从磁盘读数据</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III.</a:t>
            </a:r>
            <a:r>
              <a:rPr lang="zh-CN" altLang="en-US" sz="2400" b="1">
                <a:latin typeface="宋体" panose="02010600030101010101" pitchFamily="2" charset="-122"/>
                <a:ea typeface="宋体" panose="02010600030101010101" pitchFamily="2" charset="-122"/>
              </a:rPr>
              <a:t>系统将</a:t>
            </a:r>
            <a:r>
              <a:rPr lang="en-US" altLang="zh-CN" sz="2400" b="1">
                <a:latin typeface="宋体" panose="02010600030101010101" pitchFamily="2" charset="-122"/>
                <a:ea typeface="宋体" panose="02010600030101010101" pitchFamily="2" charset="-122"/>
              </a:rPr>
              <a:t>CPU</a:t>
            </a:r>
            <a:r>
              <a:rPr lang="zh-CN" altLang="en-US" sz="2400" b="1">
                <a:latin typeface="宋体" panose="02010600030101010101" pitchFamily="2" charset="-122"/>
                <a:ea typeface="宋体" panose="02010600030101010101" pitchFamily="2" charset="-122"/>
              </a:rPr>
              <a:t>分配给高优先权的进程</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A.</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I</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B.</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II</a:t>
            </a:r>
          </a:p>
          <a:p>
            <a:pPr marL="0" indent="0" algn="just" defTabSz="266700">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rPr>
              <a:t>C.</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I</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II</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D.I</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II</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III</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98270" y="1998345"/>
            <a:ext cx="9395460" cy="3415030"/>
          </a:xfrm>
          <a:prstGeom prst="rect">
            <a:avLst/>
          </a:prstGeom>
        </p:spPr>
        <p:txBody>
          <a:bodyPr wrap="square">
            <a:spAutoFit/>
          </a:bodyPr>
          <a:lstStyle/>
          <a:p>
            <a:pPr marL="266700" indent="-266700" algn="just" defTabSz="266700">
              <a:spcBef>
                <a:spcPct val="0"/>
              </a:spcBef>
              <a:spcAft>
                <a:spcPct val="0"/>
              </a:spcAft>
            </a:pPr>
            <a:r>
              <a:rPr lang="en-US" altLang="zh-CN" sz="2400" b="1">
                <a:latin typeface="宋体" panose="02010600030101010101" pitchFamily="2" charset="-122"/>
                <a:ea typeface="宋体" panose="02010600030101010101" pitchFamily="2" charset="-122"/>
              </a:rPr>
              <a:t>1. </a:t>
            </a:r>
            <a:r>
              <a:rPr lang="zh-CN" altLang="en-US" sz="2400" b="1">
                <a:latin typeface="宋体" panose="02010600030101010101" pitchFamily="2" charset="-122"/>
                <a:ea typeface="宋体" panose="02010600030101010101" pitchFamily="2" charset="-122"/>
              </a:rPr>
              <a:t>下列选项中，可能将进程唤醒的事件是</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2019</a:t>
            </a:r>
            <a:r>
              <a:rPr lang="zh-CN" altLang="en-US" sz="2400" b="1">
                <a:latin typeface="宋体" panose="02010600030101010101" pitchFamily="2" charset="-122"/>
                <a:ea typeface="宋体" panose="02010600030101010101" pitchFamily="2" charset="-122"/>
              </a:rPr>
              <a:t>年</a:t>
            </a:r>
            <a:r>
              <a:rPr lang="en-US" altLang="zh-CN" sz="2400">
                <a:latin typeface="宋体" panose="02010600030101010101" pitchFamily="2" charset="-122"/>
                <a:ea typeface="宋体" panose="02010600030101010101" pitchFamily="2" charset="-122"/>
              </a:rPr>
              <a:t>]</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I. I/O</a:t>
            </a:r>
            <a:r>
              <a:rPr lang="zh-CN" altLang="en-US" sz="2400" b="1">
                <a:latin typeface="宋体" panose="02010600030101010101" pitchFamily="2" charset="-122"/>
                <a:ea typeface="宋体" panose="02010600030101010101" pitchFamily="2" charset="-122"/>
              </a:rPr>
              <a:t>结束</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II.</a:t>
            </a:r>
            <a:r>
              <a:rPr lang="zh-CN" altLang="en-US" sz="2400" b="1">
                <a:latin typeface="宋体" panose="02010600030101010101" pitchFamily="2" charset="-122"/>
                <a:ea typeface="宋体" panose="02010600030101010101" pitchFamily="2" charset="-122"/>
              </a:rPr>
              <a:t>某进程退出临界区</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Ⅲ.</a:t>
            </a:r>
            <a:r>
              <a:rPr lang="zh-CN" altLang="en-US" sz="2400" b="1">
                <a:latin typeface="宋体" panose="02010600030101010101" pitchFamily="2" charset="-122"/>
                <a:ea typeface="宋体" panose="02010600030101010101" pitchFamily="2" charset="-122"/>
              </a:rPr>
              <a:t>当前进程的时间片用完</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A.</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I</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B.</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Ⅲ</a:t>
            </a:r>
          </a:p>
          <a:p>
            <a:pPr marL="0" indent="0" algn="just" defTabSz="266700">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rPr>
              <a:t>C</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I</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II</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D.I</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Ⅱ</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Ⅲ</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91548"/>
            <a:ext cx="7026275" cy="523220"/>
          </a:xfrm>
          <a:prstGeom prst="rect">
            <a:avLst/>
          </a:prstGeom>
        </p:spPr>
        <p:txBody>
          <a:bodyPr wrap="square">
            <a:spAutoFit/>
          </a:bodyPr>
          <a:lstStyle/>
          <a:p>
            <a:r>
              <a:rPr lang="zh-CN" altLang="en-US" sz="2800" b="1" dirty="0">
                <a:solidFill>
                  <a:schemeClr val="bg1"/>
                </a:solidFill>
              </a:rPr>
              <a:t>进程控制块</a:t>
            </a:r>
            <a:r>
              <a:rPr lang="en-US" altLang="zh-CN" sz="2800" b="1" dirty="0">
                <a:solidFill>
                  <a:schemeClr val="bg1"/>
                </a:solidFill>
              </a:rPr>
              <a:t>PCB(1)</a:t>
            </a:r>
            <a:endParaRPr lang="zh-CN" altLang="en-US" sz="2800" b="1" dirty="0">
              <a:solidFill>
                <a:schemeClr val="bg1"/>
              </a:solidFill>
            </a:endParaRPr>
          </a:p>
        </p:txBody>
      </p:sp>
      <p:sp>
        <p:nvSpPr>
          <p:cNvPr id="29" name="íSľïdé"/>
          <p:cNvSpPr/>
          <p:nvPr/>
        </p:nvSpPr>
        <p:spPr>
          <a:xfrm>
            <a:off x="1713745" y="1641494"/>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30" name="ïŝļíḓê"/>
          <p:cNvSpPr/>
          <p:nvPr/>
        </p:nvSpPr>
        <p:spPr bwMode="auto">
          <a:xfrm>
            <a:off x="8083985" y="2273342"/>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31" name="îṧľîdé"/>
          <p:cNvSpPr/>
          <p:nvPr/>
        </p:nvSpPr>
        <p:spPr>
          <a:xfrm>
            <a:off x="3845354" y="1379182"/>
            <a:ext cx="3145810" cy="2188265"/>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2" name="内容占位符 2"/>
          <p:cNvSpPr txBox="1"/>
          <p:nvPr/>
        </p:nvSpPr>
        <p:spPr>
          <a:xfrm>
            <a:off x="701522" y="2273342"/>
            <a:ext cx="3419720"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PCB</a:t>
            </a:r>
            <a:r>
              <a:rPr lang="zh-CN" altLang="en-US" sz="2400" dirty="0"/>
              <a:t>是进程的一部分，是操作系统中最重要的</a:t>
            </a:r>
            <a:r>
              <a:rPr lang="zh-CN" altLang="en-US" sz="2400" dirty="0">
                <a:solidFill>
                  <a:srgbClr val="FF0000"/>
                </a:solidFill>
              </a:rPr>
              <a:t>记录型数据结构，</a:t>
            </a:r>
            <a:r>
              <a:rPr lang="zh-CN" altLang="en-US" sz="2400" dirty="0"/>
              <a:t>是进程存在的</a:t>
            </a:r>
            <a:r>
              <a:rPr lang="zh-CN" altLang="en-US" sz="2400" dirty="0">
                <a:solidFill>
                  <a:srgbClr val="FF0000"/>
                </a:solidFill>
              </a:rPr>
              <a:t>唯一标志</a:t>
            </a:r>
            <a:r>
              <a:rPr lang="zh-CN" altLang="en-US" sz="2400" dirty="0"/>
              <a:t>，常驻内存。</a:t>
            </a:r>
          </a:p>
          <a:p>
            <a:pPr marL="0" indent="0">
              <a:lnSpc>
                <a:spcPct val="132000"/>
              </a:lnSpc>
              <a:spcBef>
                <a:spcPts val="580"/>
              </a:spcBef>
              <a:buNone/>
              <a:defRPr/>
            </a:pPr>
            <a:r>
              <a:rPr lang="zh-CN" altLang="en-US" sz="2400" dirty="0">
                <a:solidFill>
                  <a:srgbClr val="FF0000"/>
                </a:solidFill>
              </a:rPr>
              <a:t>进程的户口本。</a:t>
            </a:r>
          </a:p>
        </p:txBody>
      </p:sp>
      <p:sp>
        <p:nvSpPr>
          <p:cNvPr id="33" name="内容占位符 2"/>
          <p:cNvSpPr txBox="1"/>
          <p:nvPr/>
        </p:nvSpPr>
        <p:spPr>
          <a:xfrm>
            <a:off x="6753073" y="3090140"/>
            <a:ext cx="4495800"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PCB</a:t>
            </a:r>
            <a:r>
              <a:rPr lang="zh-CN" altLang="en-US" sz="2400" dirty="0"/>
              <a:t>的</a:t>
            </a:r>
            <a:r>
              <a:rPr lang="zh-CN" altLang="en-US" sz="2400" dirty="0">
                <a:solidFill>
                  <a:srgbClr val="0000FF"/>
                </a:solidFill>
              </a:rPr>
              <a:t>作用：</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作为独立运行基本单位的标志；</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能实现间断性运行方式；</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提供进程管理所需要的信息；</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提供进程调度所需要的信息；</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实现与其他进程的同步与通信。</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91548"/>
            <a:ext cx="7026275" cy="523220"/>
          </a:xfrm>
          <a:prstGeom prst="rect">
            <a:avLst/>
          </a:prstGeom>
        </p:spPr>
        <p:txBody>
          <a:bodyPr wrap="square">
            <a:spAutoFit/>
          </a:bodyPr>
          <a:lstStyle/>
          <a:p>
            <a:r>
              <a:rPr lang="zh-CN" altLang="en-US" sz="2800" b="1" dirty="0">
                <a:solidFill>
                  <a:schemeClr val="bg1"/>
                </a:solidFill>
              </a:rPr>
              <a:t>进程控制块</a:t>
            </a:r>
            <a:r>
              <a:rPr lang="en-US" altLang="zh-CN" sz="2800" b="1" dirty="0">
                <a:solidFill>
                  <a:schemeClr val="bg1"/>
                </a:solidFill>
              </a:rPr>
              <a:t>PCB(2)</a:t>
            </a:r>
            <a:endParaRPr lang="zh-CN" altLang="en-US" sz="2800" b="1" dirty="0">
              <a:solidFill>
                <a:schemeClr val="bg1"/>
              </a:solidFill>
            </a:endParaRPr>
          </a:p>
        </p:txBody>
      </p:sp>
      <p:sp>
        <p:nvSpPr>
          <p:cNvPr id="9" name="iṥlídè"/>
          <p:cNvSpPr/>
          <p:nvPr/>
        </p:nvSpPr>
        <p:spPr>
          <a:xfrm>
            <a:off x="5902178" y="1153815"/>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10" name="iṡļiḓe"/>
          <p:cNvGrpSpPr/>
          <p:nvPr/>
        </p:nvGrpSpPr>
        <p:grpSpPr>
          <a:xfrm>
            <a:off x="1510406" y="1318926"/>
            <a:ext cx="6654800" cy="2325795"/>
            <a:chOff x="660400" y="1293168"/>
            <a:chExt cx="6654800" cy="2325795"/>
          </a:xfrm>
        </p:grpSpPr>
        <p:grpSp>
          <p:nvGrpSpPr>
            <p:cNvPr id="19" name="iSḻíḓè"/>
            <p:cNvGrpSpPr/>
            <p:nvPr/>
          </p:nvGrpSpPr>
          <p:grpSpPr>
            <a:xfrm>
              <a:off x="1309446" y="1293168"/>
              <a:ext cx="6005754" cy="2325795"/>
              <a:chOff x="1312811" y="1293168"/>
              <a:chExt cx="7574760" cy="2325795"/>
            </a:xfrm>
          </p:grpSpPr>
          <p:sp>
            <p:nvSpPr>
              <p:cNvPr id="24" name="îṧľîḋé"/>
              <p:cNvSpPr txBox="1"/>
              <p:nvPr/>
            </p:nvSpPr>
            <p:spPr>
              <a:xfrm>
                <a:off x="1312811" y="1293168"/>
                <a:ext cx="6293556"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2800" dirty="0">
                    <a:solidFill>
                      <a:srgbClr val="0000FF"/>
                    </a:solidFill>
                  </a:rPr>
                  <a:t>PCB</a:t>
                </a:r>
                <a:r>
                  <a:rPr lang="zh-CN" altLang="en-US" sz="2800" dirty="0">
                    <a:solidFill>
                      <a:srgbClr val="0000FF"/>
                    </a:solidFill>
                  </a:rPr>
                  <a:t>的信息</a:t>
                </a:r>
              </a:p>
            </p:txBody>
          </p:sp>
          <p:sp>
            <p:nvSpPr>
              <p:cNvPr id="25" name="íşļîḓé"/>
              <p:cNvSpPr/>
              <p:nvPr/>
            </p:nvSpPr>
            <p:spPr bwMode="auto">
              <a:xfrm>
                <a:off x="1312811" y="1736891"/>
                <a:ext cx="7574760" cy="1882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进程标识符</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处理机状态</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进程调度信息</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进程控制信息</a:t>
                </a:r>
              </a:p>
            </p:txBody>
          </p:sp>
        </p:grpSp>
        <p:grpSp>
          <p:nvGrpSpPr>
            <p:cNvPr id="21" name="ïS1íḋé"/>
            <p:cNvGrpSpPr/>
            <p:nvPr/>
          </p:nvGrpSpPr>
          <p:grpSpPr>
            <a:xfrm>
              <a:off x="660400" y="2096245"/>
              <a:ext cx="497734" cy="497734"/>
              <a:chOff x="660400" y="2096245"/>
              <a:chExt cx="497734" cy="497734"/>
            </a:xfrm>
          </p:grpSpPr>
          <p:sp>
            <p:nvSpPr>
              <p:cNvPr id="22" name="islîḋe"/>
              <p:cNvSpPr/>
              <p:nvPr/>
            </p:nvSpPr>
            <p:spPr>
              <a:xfrm>
                <a:off x="660400" y="2096245"/>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23" name="îŝlîď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 name="iŝļïḓê"/>
          <p:cNvGrpSpPr/>
          <p:nvPr/>
        </p:nvGrpSpPr>
        <p:grpSpPr>
          <a:xfrm>
            <a:off x="1510406" y="4513347"/>
            <a:ext cx="5638979" cy="1735667"/>
            <a:chOff x="660400" y="2096245"/>
            <a:chExt cx="5638979" cy="1735667"/>
          </a:xfrm>
        </p:grpSpPr>
        <p:sp>
          <p:nvSpPr>
            <p:cNvPr id="18" name="íşľíḑè"/>
            <p:cNvSpPr/>
            <p:nvPr/>
          </p:nvSpPr>
          <p:spPr bwMode="auto">
            <a:xfrm>
              <a:off x="1309446" y="2330593"/>
              <a:ext cx="4989933" cy="150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50000"/>
                </a:lnSpc>
                <a:buFont typeface="Wingdings" panose="05000000000000000000" pitchFamily="2" charset="2"/>
                <a:buChar char="Ø"/>
              </a:pPr>
              <a:endParaRPr lang="zh-CN" altLang="en-US" sz="2200" dirty="0"/>
            </a:p>
          </p:txBody>
        </p:sp>
        <p:grpSp>
          <p:nvGrpSpPr>
            <p:cNvPr id="14" name="ïŝľídè"/>
            <p:cNvGrpSpPr/>
            <p:nvPr/>
          </p:nvGrpSpPr>
          <p:grpSpPr>
            <a:xfrm>
              <a:off x="660400" y="2096245"/>
              <a:ext cx="497734" cy="497734"/>
              <a:chOff x="660400" y="2096245"/>
              <a:chExt cx="497734" cy="497734"/>
            </a:xfrm>
          </p:grpSpPr>
          <p:sp>
            <p:nvSpPr>
              <p:cNvPr id="15"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6"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12" name="直接连接符 11"/>
          <p:cNvCxnSpPr/>
          <p:nvPr/>
        </p:nvCxnSpPr>
        <p:spPr>
          <a:xfrm>
            <a:off x="1519931" y="3941294"/>
            <a:ext cx="336116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文本框 24577"/>
          <p:cNvSpPr txBox="1"/>
          <p:nvPr/>
        </p:nvSpPr>
        <p:spPr>
          <a:xfrm>
            <a:off x="2711450" y="714375"/>
            <a:ext cx="4425950" cy="891540"/>
          </a:xfrm>
          <a:prstGeom prst="rect">
            <a:avLst/>
          </a:prstGeom>
          <a:noFill/>
          <a:ln w="9525">
            <a:noFill/>
          </a:ln>
        </p:spPr>
        <p:txBody>
          <a:bodyPr wrap="none" anchor="t" anchorCtr="0">
            <a:spAutoFit/>
          </a:bodyPr>
          <a:lstStyle/>
          <a:p>
            <a:r>
              <a:rPr lang="en-US" altLang="zh-CN" sz="2800" b="1">
                <a:latin typeface="Times New Roman" panose="02020603050405020304" pitchFamily="18" charset="0"/>
                <a:ea typeface="宋体" panose="02010600030101010101" pitchFamily="2" charset="-122"/>
              </a:rPr>
              <a:t>2. </a:t>
            </a:r>
            <a:r>
              <a:rPr lang="zh-CN" altLang="en-US" sz="2800" b="1">
                <a:latin typeface="Times New Roman" panose="02020603050405020304" pitchFamily="18" charset="0"/>
                <a:ea typeface="宋体" panose="02010600030101010101" pitchFamily="2" charset="-122"/>
              </a:rPr>
              <a:t>进程控制块中的信息</a:t>
            </a:r>
            <a:r>
              <a:rPr lang="en-US" altLang="zh-CN" sz="2800" b="1">
                <a:latin typeface="Times New Roman" panose="02020603050405020304" pitchFamily="18" charset="0"/>
                <a:ea typeface="宋体" panose="02010600030101010101" pitchFamily="2" charset="-122"/>
              </a:rPr>
              <a:t>(</a:t>
            </a:r>
            <a:r>
              <a:rPr lang="zh-CN" altLang="en-US" sz="2800" b="1">
                <a:latin typeface="Times New Roman" panose="02020603050405020304" pitchFamily="18" charset="0"/>
                <a:ea typeface="宋体" panose="02010600030101010101" pitchFamily="2" charset="-122"/>
              </a:rPr>
              <a:t>增</a:t>
            </a:r>
            <a:r>
              <a:rPr lang="en-US" altLang="zh-CN" sz="2800" b="1">
                <a:latin typeface="Times New Roman" panose="02020603050405020304" pitchFamily="18" charset="0"/>
                <a:ea typeface="宋体" panose="02010600030101010101" pitchFamily="2" charset="-122"/>
              </a:rPr>
              <a:t>)</a:t>
            </a:r>
            <a:r>
              <a:rPr lang="en-US" altLang="zh-CN" sz="2400" b="1">
                <a:latin typeface="Times New Roman" panose="02020603050405020304" pitchFamily="18" charset="0"/>
                <a:ea typeface="宋体" panose="02010600030101010101" pitchFamily="2" charset="-122"/>
              </a:rPr>
              <a:t> </a:t>
            </a:r>
          </a:p>
          <a:p>
            <a:r>
              <a:rPr lang="en-US" altLang="zh-CN">
                <a:latin typeface="Tahoma" panose="020B0604030504040204" pitchFamily="2" charset="0"/>
                <a:ea typeface="宋体" panose="02010600030101010101" pitchFamily="2" charset="-122"/>
              </a:rPr>
              <a:t> </a:t>
            </a:r>
            <a:r>
              <a:rPr lang="en-US" altLang="zh-CN" sz="2400" b="1">
                <a:latin typeface="Tahoma" panose="020B0604030504040204" pitchFamily="2" charset="0"/>
                <a:ea typeface="宋体" panose="02010600030101010101" pitchFamily="2" charset="-122"/>
              </a:rPr>
              <a:t>1) </a:t>
            </a:r>
            <a:r>
              <a:rPr lang="zh-CN" altLang="en-US" sz="2400" b="1">
                <a:solidFill>
                  <a:srgbClr val="FF0000"/>
                </a:solidFill>
                <a:latin typeface="Tahoma" panose="020B0604030504040204" pitchFamily="2" charset="0"/>
                <a:ea typeface="宋体" panose="02010600030101010101" pitchFamily="2" charset="-122"/>
              </a:rPr>
              <a:t>进程标识符</a:t>
            </a:r>
          </a:p>
        </p:txBody>
      </p:sp>
      <p:sp>
        <p:nvSpPr>
          <p:cNvPr id="23554" name="文本框 24578"/>
          <p:cNvSpPr txBox="1"/>
          <p:nvPr/>
        </p:nvSpPr>
        <p:spPr>
          <a:xfrm>
            <a:off x="1919288" y="1773238"/>
            <a:ext cx="7924800" cy="3784600"/>
          </a:xfrm>
          <a:prstGeom prst="rect">
            <a:avLst/>
          </a:prstGeom>
          <a:noFill/>
          <a:ln w="9525">
            <a:noFill/>
          </a:ln>
        </p:spPr>
        <p:txBody>
          <a:bodyPr anchor="t" anchorCtr="0">
            <a:spAutoFit/>
          </a:bodyPr>
          <a:lstStyle/>
          <a:p>
            <a:pPr algn="just"/>
            <a:r>
              <a:rPr lang="en-US" altLang="zh-CN" sz="2400" b="1">
                <a:latin typeface="Times New Roman" panose="02020603050405020304" pitchFamily="18" charset="0"/>
                <a:ea typeface="宋体" panose="02010600030101010101" pitchFamily="2" charset="-122"/>
              </a:rPr>
              <a:t>       </a:t>
            </a:r>
          </a:p>
          <a:p>
            <a:pPr algn="just"/>
            <a:r>
              <a:rPr lang="en-US" altLang="zh-CN" sz="2400" b="1">
                <a:latin typeface="Times New Roman" panose="02020603050405020304" pitchFamily="18" charset="0"/>
                <a:ea typeface="宋体" panose="02010600030101010101" pitchFamily="2" charset="-122"/>
              </a:rPr>
              <a:t>        </a:t>
            </a:r>
            <a:r>
              <a:rPr lang="zh-CN" altLang="en-US" sz="2400" b="1">
                <a:latin typeface="Times New Roman" panose="02020603050405020304" pitchFamily="18" charset="0"/>
                <a:ea typeface="宋体" panose="02010600030101010101" pitchFamily="2" charset="-122"/>
              </a:rPr>
              <a:t>进程标识符用于</a:t>
            </a:r>
            <a:r>
              <a:rPr lang="zh-CN" altLang="en-US" sz="2400" b="1">
                <a:solidFill>
                  <a:srgbClr val="FF0000"/>
                </a:solidFill>
                <a:latin typeface="Times New Roman" panose="02020603050405020304" pitchFamily="18" charset="0"/>
                <a:ea typeface="宋体" panose="02010600030101010101" pitchFamily="2" charset="-122"/>
              </a:rPr>
              <a:t>惟一地标识</a:t>
            </a:r>
            <a:r>
              <a:rPr lang="zh-CN" altLang="en-US" sz="2400" b="1">
                <a:latin typeface="Times New Roman" panose="02020603050405020304" pitchFamily="18" charset="0"/>
                <a:ea typeface="宋体" panose="02010600030101010101" pitchFamily="2" charset="-122"/>
              </a:rPr>
              <a:t>一个进程。一个进程通常有两种标识符：</a:t>
            </a:r>
          </a:p>
          <a:p>
            <a:pPr algn="just"/>
            <a:r>
              <a:rPr lang="zh-CN" altLang="en-US"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(1) </a:t>
            </a:r>
            <a:r>
              <a:rPr lang="zh-CN" altLang="en-US" sz="2400" b="1">
                <a:solidFill>
                  <a:srgbClr val="FF0000"/>
                </a:solidFill>
                <a:latin typeface="Times New Roman" panose="02020603050405020304" pitchFamily="18" charset="0"/>
                <a:ea typeface="宋体" panose="02010600030101010101" pitchFamily="2" charset="-122"/>
              </a:rPr>
              <a:t>内部标识符</a:t>
            </a:r>
            <a:r>
              <a:rPr lang="zh-CN" altLang="en-US" sz="2400" b="1">
                <a:latin typeface="Times New Roman" panose="02020603050405020304" pitchFamily="18" charset="0"/>
                <a:ea typeface="宋体" panose="02010600030101010101" pitchFamily="2" charset="-122"/>
              </a:rPr>
              <a:t>。在所有的操作系统中，都为每一个进程赋予一个惟一的</a:t>
            </a:r>
            <a:r>
              <a:rPr lang="zh-CN" altLang="en-US" sz="2400" b="1">
                <a:solidFill>
                  <a:schemeClr val="hlink"/>
                </a:solidFill>
                <a:latin typeface="Times New Roman" panose="02020603050405020304" pitchFamily="18" charset="0"/>
                <a:ea typeface="宋体" panose="02010600030101010101" pitchFamily="2" charset="-122"/>
              </a:rPr>
              <a:t>数字</a:t>
            </a:r>
            <a:r>
              <a:rPr lang="zh-CN" altLang="en-US" sz="2400" b="1">
                <a:latin typeface="Times New Roman" panose="02020603050405020304" pitchFamily="18" charset="0"/>
                <a:ea typeface="宋体" panose="02010600030101010101" pitchFamily="2" charset="-122"/>
              </a:rPr>
              <a:t>标识符，它通常是一个进程的序号。 设置内部标识符主要是为了方便</a:t>
            </a:r>
            <a:r>
              <a:rPr lang="zh-CN" altLang="en-US" sz="2400" b="1">
                <a:solidFill>
                  <a:srgbClr val="FF0000"/>
                </a:solidFill>
                <a:latin typeface="Times New Roman" panose="02020603050405020304" pitchFamily="18" charset="0"/>
                <a:ea typeface="宋体" panose="02010600030101010101" pitchFamily="2" charset="-122"/>
              </a:rPr>
              <a:t>系统使用</a:t>
            </a:r>
            <a:r>
              <a:rPr lang="zh-CN" altLang="en-US" sz="2400" b="1">
                <a:latin typeface="Times New Roman" panose="02020603050405020304" pitchFamily="18" charset="0"/>
                <a:ea typeface="宋体" panose="02010600030101010101" pitchFamily="2" charset="-122"/>
              </a:rPr>
              <a:t>。</a:t>
            </a:r>
          </a:p>
          <a:p>
            <a:pPr algn="just"/>
            <a:r>
              <a:rPr lang="zh-CN" altLang="en-US"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(2) </a:t>
            </a:r>
            <a:r>
              <a:rPr lang="zh-CN" altLang="en-US" sz="2400" b="1">
                <a:solidFill>
                  <a:srgbClr val="FF0000"/>
                </a:solidFill>
                <a:latin typeface="Times New Roman" panose="02020603050405020304" pitchFamily="18" charset="0"/>
                <a:ea typeface="宋体" panose="02010600030101010101" pitchFamily="2" charset="-122"/>
              </a:rPr>
              <a:t>外部标识符</a:t>
            </a:r>
            <a:r>
              <a:rPr lang="zh-CN" altLang="en-US" sz="2400" b="1">
                <a:latin typeface="Times New Roman" panose="02020603050405020304" pitchFamily="18" charset="0"/>
                <a:ea typeface="宋体" panose="02010600030101010101" pitchFamily="2" charset="-122"/>
              </a:rPr>
              <a:t>。它由创建者提供，通常是由字母、数字组成，往往是由用户</a:t>
            </a:r>
            <a:r>
              <a:rPr lang="en-US" altLang="zh-CN" sz="2400" b="1">
                <a:latin typeface="Times New Roman" panose="02020603050405020304" pitchFamily="18" charset="0"/>
                <a:ea typeface="宋体" panose="02010600030101010101" pitchFamily="2" charset="-122"/>
              </a:rPr>
              <a:t>(</a:t>
            </a:r>
            <a:r>
              <a:rPr lang="zh-CN" altLang="en-US" sz="2400" b="1">
                <a:latin typeface="Times New Roman" panose="02020603050405020304" pitchFamily="18" charset="0"/>
                <a:ea typeface="宋体" panose="02010600030101010101" pitchFamily="2" charset="-122"/>
              </a:rPr>
              <a:t>进程</a:t>
            </a:r>
            <a:r>
              <a:rPr lang="en-US" altLang="zh-CN" sz="2400" b="1">
                <a:latin typeface="Times New Roman" panose="02020603050405020304" pitchFamily="18" charset="0"/>
                <a:ea typeface="宋体" panose="02010600030101010101" pitchFamily="2" charset="-122"/>
              </a:rPr>
              <a:t>)</a:t>
            </a:r>
            <a:r>
              <a:rPr lang="zh-CN" altLang="en-US" sz="2400" b="1">
                <a:latin typeface="Times New Roman" panose="02020603050405020304" pitchFamily="18" charset="0"/>
                <a:ea typeface="宋体" panose="02010600030101010101" pitchFamily="2" charset="-122"/>
              </a:rPr>
              <a:t>在访问该进程时使用。为了描述进程的家族关系，还应设置父进程标识及子进程标识。此外，还可设置用户标识，以指示拥有该进程的</a:t>
            </a:r>
            <a:r>
              <a:rPr lang="zh-CN" altLang="en-US" sz="2400" b="1">
                <a:solidFill>
                  <a:srgbClr val="FF0000"/>
                </a:solidFill>
                <a:latin typeface="Times New Roman" panose="02020603050405020304" pitchFamily="18" charset="0"/>
                <a:ea typeface="宋体" panose="02010600030101010101" pitchFamily="2" charset="-122"/>
              </a:rPr>
              <a:t>用户</a:t>
            </a:r>
            <a:r>
              <a:rPr lang="zh-CN" altLang="en-US" sz="2400" b="1">
                <a:latin typeface="Times New Roman" panose="02020603050405020304" pitchFamily="18" charset="0"/>
                <a:ea typeface="宋体" panose="02010600030101010101" pitchFamily="2" charset="-122"/>
              </a:rPr>
              <a:t>。</a:t>
            </a:r>
            <a:r>
              <a:rPr lang="zh-CN" altLang="en-US" sz="2400">
                <a:latin typeface="Times New Roman" panose="02020603050405020304" pitchFamily="18" charset="0"/>
                <a:ea typeface="宋体" panose="02010600030101010101" pitchFamily="2" charset="-122"/>
              </a:rPr>
              <a:t> </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文本框 25601"/>
          <p:cNvSpPr txBox="1"/>
          <p:nvPr/>
        </p:nvSpPr>
        <p:spPr>
          <a:xfrm>
            <a:off x="2057400" y="762000"/>
            <a:ext cx="8153400" cy="5147945"/>
          </a:xfrm>
          <a:prstGeom prst="rect">
            <a:avLst/>
          </a:prstGeom>
          <a:noFill/>
          <a:ln w="9525">
            <a:noFill/>
          </a:ln>
        </p:spPr>
        <p:txBody>
          <a:bodyPr anchor="t" anchorCtr="0">
            <a:spAutoFit/>
          </a:bodyPr>
          <a:lstStyle/>
          <a:p>
            <a:pPr algn="just">
              <a:lnSpc>
                <a:spcPct val="145000"/>
              </a:lnSpc>
              <a:spcBef>
                <a:spcPct val="50000"/>
              </a:spcBef>
            </a:pPr>
            <a:r>
              <a:rPr lang="en-US" altLang="zh-CN" sz="2400" b="1">
                <a:latin typeface="Times New Roman" panose="02020603050405020304" pitchFamily="18" charset="0"/>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2) </a:t>
            </a:r>
            <a:r>
              <a:rPr lang="zh-CN" altLang="en-US" sz="2800" b="1">
                <a:latin typeface="Times New Roman" panose="02020603050405020304" pitchFamily="18" charset="0"/>
                <a:ea typeface="宋体" panose="02010600030101010101" pitchFamily="2" charset="-122"/>
              </a:rPr>
              <a:t>处理机状态</a:t>
            </a:r>
          </a:p>
          <a:p>
            <a:pPr algn="just"/>
            <a:r>
              <a:rPr lang="zh-CN" altLang="en-US" sz="2400" b="1">
                <a:latin typeface="Times New Roman" panose="02020603050405020304" pitchFamily="18" charset="0"/>
                <a:ea typeface="宋体" panose="02010600030101010101" pitchFamily="2" charset="-122"/>
              </a:rPr>
              <a:t>       </a:t>
            </a:r>
          </a:p>
          <a:p>
            <a:pPr algn="just"/>
            <a:r>
              <a:rPr lang="zh-CN" altLang="en-US" sz="2400" b="1">
                <a:latin typeface="Times New Roman" panose="02020603050405020304" pitchFamily="18" charset="0"/>
                <a:ea typeface="宋体" panose="02010600030101010101" pitchFamily="2" charset="-122"/>
              </a:rPr>
              <a:t>        处理机状态信息主要是由处理机的各种</a:t>
            </a:r>
            <a:r>
              <a:rPr lang="zh-CN" altLang="en-US" sz="2400" b="1">
                <a:solidFill>
                  <a:srgbClr val="FF0000"/>
                </a:solidFill>
                <a:latin typeface="Times New Roman" panose="02020603050405020304" pitchFamily="18" charset="0"/>
                <a:ea typeface="宋体" panose="02010600030101010101" pitchFamily="2" charset="-122"/>
              </a:rPr>
              <a:t>寄存器</a:t>
            </a:r>
            <a:r>
              <a:rPr lang="zh-CN" altLang="en-US" sz="2400" b="1">
                <a:latin typeface="Times New Roman" panose="02020603050405020304" pitchFamily="18" charset="0"/>
                <a:ea typeface="宋体" panose="02010600030101010101" pitchFamily="2" charset="-122"/>
              </a:rPr>
              <a:t>中的内容组成的。 </a:t>
            </a:r>
          </a:p>
          <a:p>
            <a:pPr algn="just"/>
            <a:r>
              <a:rPr lang="zh-CN" altLang="en-US"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①</a:t>
            </a:r>
            <a:r>
              <a:rPr lang="en-US" altLang="zh-CN" sz="2400" b="1">
                <a:solidFill>
                  <a:srgbClr val="FF0000"/>
                </a:solidFill>
                <a:latin typeface="Times New Roman" panose="02020603050405020304" pitchFamily="18" charset="0"/>
                <a:ea typeface="宋体" panose="02010600030101010101" pitchFamily="2" charset="-122"/>
              </a:rPr>
              <a:t> </a:t>
            </a:r>
            <a:r>
              <a:rPr lang="zh-CN" altLang="en-US" sz="2400" b="1">
                <a:solidFill>
                  <a:srgbClr val="FF0000"/>
                </a:solidFill>
                <a:latin typeface="Times New Roman" panose="02020603050405020304" pitchFamily="18" charset="0"/>
                <a:ea typeface="宋体" panose="02010600030101010101" pitchFamily="2" charset="-122"/>
              </a:rPr>
              <a:t>通用寄存器</a:t>
            </a:r>
            <a:r>
              <a:rPr lang="zh-CN" altLang="en-US" sz="2400" b="1">
                <a:latin typeface="Times New Roman" panose="02020603050405020304" pitchFamily="18" charset="0"/>
                <a:ea typeface="宋体" panose="02010600030101010101" pitchFamily="2" charset="-122"/>
              </a:rPr>
              <a:t>，又称为</a:t>
            </a:r>
            <a:r>
              <a:rPr lang="zh-CN" altLang="en-US" sz="2400" b="1">
                <a:solidFill>
                  <a:srgbClr val="FF0000"/>
                </a:solidFill>
                <a:latin typeface="Times New Roman" panose="02020603050405020304" pitchFamily="18" charset="0"/>
                <a:ea typeface="宋体" panose="02010600030101010101" pitchFamily="2" charset="-122"/>
              </a:rPr>
              <a:t>用户</a:t>
            </a:r>
            <a:r>
              <a:rPr lang="zh-CN" altLang="en-US" sz="2400" b="1">
                <a:latin typeface="Times New Roman" panose="02020603050405020304" pitchFamily="18" charset="0"/>
                <a:ea typeface="宋体" panose="02010600030101010101" pitchFamily="2" charset="-122"/>
              </a:rPr>
              <a:t>可视寄存器，它们是用户程序可以访问的，用于暂存信息，在大多数处理机中，有 </a:t>
            </a:r>
            <a:r>
              <a:rPr lang="en-US" altLang="zh-CN" sz="2400" b="1">
                <a:latin typeface="Times New Roman" panose="02020603050405020304" pitchFamily="18" charset="0"/>
                <a:ea typeface="宋体" panose="02010600030101010101" pitchFamily="2" charset="-122"/>
              </a:rPr>
              <a:t>8~32 </a:t>
            </a:r>
            <a:r>
              <a:rPr lang="zh-CN" altLang="en-US" sz="2400" b="1">
                <a:latin typeface="Times New Roman" panose="02020603050405020304" pitchFamily="18" charset="0"/>
                <a:ea typeface="宋体" panose="02010600030101010101" pitchFamily="2" charset="-122"/>
              </a:rPr>
              <a:t>个通用寄存器，有的甚至可超过 </a:t>
            </a:r>
            <a:r>
              <a:rPr lang="en-US" altLang="zh-CN" sz="2400" b="1">
                <a:latin typeface="Times New Roman" panose="02020603050405020304" pitchFamily="18" charset="0"/>
                <a:ea typeface="宋体" panose="02010600030101010101" pitchFamily="2" charset="-122"/>
              </a:rPr>
              <a:t>100 </a:t>
            </a:r>
            <a:r>
              <a:rPr lang="zh-CN" altLang="en-US" sz="2400" b="1">
                <a:latin typeface="Times New Roman" panose="02020603050405020304" pitchFamily="18" charset="0"/>
                <a:ea typeface="宋体" panose="02010600030101010101" pitchFamily="2" charset="-122"/>
              </a:rPr>
              <a:t>个；</a:t>
            </a:r>
          </a:p>
          <a:p>
            <a:pPr algn="just"/>
            <a:r>
              <a:rPr lang="en-US" altLang="zh-CN" sz="2400" b="1">
                <a:latin typeface="Times New Roman" panose="02020603050405020304" pitchFamily="18" charset="0"/>
                <a:ea typeface="宋体" panose="02010600030101010101" pitchFamily="2" charset="-122"/>
              </a:rPr>
              <a:t>② </a:t>
            </a:r>
            <a:r>
              <a:rPr lang="zh-CN" altLang="en-US" sz="2400" b="1">
                <a:solidFill>
                  <a:srgbClr val="FF0000"/>
                </a:solidFill>
                <a:latin typeface="Times New Roman" panose="02020603050405020304" pitchFamily="18" charset="0"/>
                <a:ea typeface="宋体" panose="02010600030101010101" pitchFamily="2" charset="-122"/>
              </a:rPr>
              <a:t>指令计数器</a:t>
            </a:r>
            <a:r>
              <a:rPr lang="zh-CN" altLang="en-US" sz="2400" b="1">
                <a:latin typeface="Times New Roman" panose="02020603050405020304" pitchFamily="18" charset="0"/>
                <a:ea typeface="宋体" panose="02010600030101010101" pitchFamily="2" charset="-122"/>
              </a:rPr>
              <a:t>，其中存放了要访问的</a:t>
            </a:r>
            <a:r>
              <a:rPr lang="zh-CN" altLang="en-US" sz="2400" b="1">
                <a:solidFill>
                  <a:srgbClr val="FF0000"/>
                </a:solidFill>
                <a:latin typeface="Times New Roman" panose="02020603050405020304" pitchFamily="18" charset="0"/>
                <a:ea typeface="宋体" panose="02010600030101010101" pitchFamily="2" charset="-122"/>
              </a:rPr>
              <a:t>下一条指令的地址</a:t>
            </a:r>
            <a:r>
              <a:rPr lang="zh-CN" altLang="en-US" sz="2400" b="1">
                <a:latin typeface="Times New Roman" panose="02020603050405020304" pitchFamily="18" charset="0"/>
                <a:ea typeface="宋体" panose="02010600030101010101" pitchFamily="2" charset="-122"/>
              </a:rPr>
              <a:t>；</a:t>
            </a:r>
            <a:r>
              <a:rPr lang="en-US" altLang="zh-CN" sz="2400" b="1">
                <a:latin typeface="Times New Roman" panose="02020603050405020304" pitchFamily="18" charset="0"/>
                <a:ea typeface="宋体" panose="02010600030101010101" pitchFamily="2" charset="-122"/>
              </a:rPr>
              <a:t>③ </a:t>
            </a:r>
            <a:r>
              <a:rPr lang="zh-CN" altLang="en-US" sz="2400" b="1">
                <a:solidFill>
                  <a:srgbClr val="FF0000"/>
                </a:solidFill>
                <a:latin typeface="Times New Roman" panose="02020603050405020304" pitchFamily="18" charset="0"/>
                <a:ea typeface="宋体" panose="02010600030101010101" pitchFamily="2" charset="-122"/>
              </a:rPr>
              <a:t>程序状态字</a:t>
            </a:r>
            <a:r>
              <a:rPr lang="en-US" altLang="zh-CN" sz="2400" b="1">
                <a:solidFill>
                  <a:srgbClr val="FF0000"/>
                </a:solidFill>
                <a:latin typeface="Times New Roman" panose="02020603050405020304" pitchFamily="18" charset="0"/>
                <a:ea typeface="宋体" panose="02010600030101010101" pitchFamily="2" charset="-122"/>
              </a:rPr>
              <a:t>PSW</a:t>
            </a:r>
            <a:r>
              <a:rPr lang="zh-CN" altLang="en-US" sz="2400" b="1">
                <a:solidFill>
                  <a:srgbClr val="FF0000"/>
                </a:solidFill>
                <a:latin typeface="Times New Roman" panose="02020603050405020304" pitchFamily="18" charset="0"/>
                <a:ea typeface="宋体" panose="02010600030101010101" pitchFamily="2" charset="-122"/>
              </a:rPr>
              <a:t>，</a:t>
            </a:r>
            <a:r>
              <a:rPr lang="zh-CN" altLang="en-US" sz="2400" b="1">
                <a:latin typeface="Times New Roman" panose="02020603050405020304" pitchFamily="18" charset="0"/>
                <a:ea typeface="宋体" panose="02010600030101010101" pitchFamily="2" charset="-122"/>
              </a:rPr>
              <a:t>其中含有</a:t>
            </a:r>
            <a:r>
              <a:rPr lang="zh-CN" altLang="en-US" sz="2400" b="1">
                <a:solidFill>
                  <a:srgbClr val="FF0000"/>
                </a:solidFill>
                <a:latin typeface="Times New Roman" panose="02020603050405020304" pitchFamily="18" charset="0"/>
                <a:ea typeface="宋体" panose="02010600030101010101" pitchFamily="2" charset="-122"/>
              </a:rPr>
              <a:t>状态信息</a:t>
            </a:r>
            <a:r>
              <a:rPr lang="zh-CN" altLang="en-US" sz="2400" b="1">
                <a:latin typeface="Times New Roman" panose="02020603050405020304" pitchFamily="18" charset="0"/>
                <a:ea typeface="宋体" panose="02010600030101010101" pitchFamily="2" charset="-122"/>
              </a:rPr>
              <a:t>，如条件码（最近一次指令执行的结构状态）、执行方式、 中断屏蔽标志等；</a:t>
            </a:r>
          </a:p>
          <a:p>
            <a:pPr algn="just"/>
            <a:r>
              <a:rPr lang="zh-CN" altLang="en-US"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④ </a:t>
            </a:r>
            <a:r>
              <a:rPr lang="zh-CN" altLang="en-US" sz="2400" b="1">
                <a:solidFill>
                  <a:srgbClr val="FF0000"/>
                </a:solidFill>
                <a:latin typeface="Times New Roman" panose="02020603050405020304" pitchFamily="18" charset="0"/>
                <a:ea typeface="宋体" panose="02010600030101010101" pitchFamily="2" charset="-122"/>
              </a:rPr>
              <a:t>用户栈指针</a:t>
            </a:r>
            <a:r>
              <a:rPr lang="zh-CN" altLang="en-US" sz="2400" b="1">
                <a:latin typeface="Times New Roman" panose="02020603050405020304" pitchFamily="18" charset="0"/>
                <a:ea typeface="宋体" panose="02010600030101010101" pitchFamily="2" charset="-122"/>
              </a:rPr>
              <a:t>，指</a:t>
            </a:r>
            <a:r>
              <a:rPr lang="zh-CN" altLang="en-US" sz="2400" b="1">
                <a:solidFill>
                  <a:srgbClr val="FF0000"/>
                </a:solidFill>
                <a:latin typeface="Times New Roman" panose="02020603050405020304" pitchFamily="18" charset="0"/>
                <a:ea typeface="宋体" panose="02010600030101010101" pitchFamily="2" charset="-122"/>
              </a:rPr>
              <a:t>每个用户进程</a:t>
            </a:r>
            <a:r>
              <a:rPr lang="zh-CN" altLang="en-US" sz="2400" b="1">
                <a:latin typeface="Times New Roman" panose="02020603050405020304" pitchFamily="18" charset="0"/>
                <a:ea typeface="宋体" panose="02010600030101010101" pitchFamily="2" charset="-122"/>
              </a:rPr>
              <a:t>都有一个或若干个与之相关的系统栈，用于存放过程和系统调用参数及调用地址。栈指针指向该栈的栈顶。 </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文本框 26625"/>
          <p:cNvSpPr txBox="1"/>
          <p:nvPr/>
        </p:nvSpPr>
        <p:spPr>
          <a:xfrm>
            <a:off x="2424113" y="981075"/>
            <a:ext cx="7634287" cy="4954270"/>
          </a:xfrm>
          <a:prstGeom prst="rect">
            <a:avLst/>
          </a:prstGeom>
          <a:noFill/>
          <a:ln w="9525">
            <a:noFill/>
          </a:ln>
        </p:spPr>
        <p:txBody>
          <a:bodyPr anchor="t" anchorCtr="0">
            <a:spAutoFit/>
          </a:bodyPr>
          <a:lstStyle/>
          <a:p>
            <a:pPr algn="just"/>
            <a:r>
              <a:rPr lang="en-US" altLang="zh-CN" sz="2800" b="1">
                <a:latin typeface="Times New Roman" panose="02020603050405020304" pitchFamily="18" charset="0"/>
                <a:ea typeface="宋体" panose="02010600030101010101" pitchFamily="2" charset="-122"/>
              </a:rPr>
              <a:t>       3) </a:t>
            </a:r>
            <a:r>
              <a:rPr lang="zh-CN" altLang="en-US" sz="2800" b="1">
                <a:latin typeface="Times New Roman" panose="02020603050405020304" pitchFamily="18" charset="0"/>
                <a:ea typeface="宋体" panose="02010600030101010101" pitchFamily="2" charset="-122"/>
              </a:rPr>
              <a:t>进程调度信息</a:t>
            </a:r>
          </a:p>
          <a:p>
            <a:pPr algn="just"/>
            <a:endParaRPr lang="zh-CN" altLang="en-US" sz="2400" b="1">
              <a:latin typeface="Times New Roman" panose="02020603050405020304" pitchFamily="18" charset="0"/>
              <a:ea typeface="宋体" panose="02010600030101010101" pitchFamily="2" charset="-122"/>
            </a:endParaRPr>
          </a:p>
          <a:p>
            <a:pPr algn="just"/>
            <a:r>
              <a:rPr lang="zh-CN" altLang="en-US" sz="2400" b="1">
                <a:latin typeface="Times New Roman" panose="02020603050405020304" pitchFamily="18" charset="0"/>
                <a:ea typeface="宋体" panose="02010600030101010101" pitchFamily="2" charset="-122"/>
              </a:rPr>
              <a:t>       在</a:t>
            </a:r>
            <a:r>
              <a:rPr lang="en-US" altLang="zh-CN" sz="2400" b="1">
                <a:latin typeface="Times New Roman" panose="02020603050405020304" pitchFamily="18" charset="0"/>
                <a:ea typeface="宋体" panose="02010600030101010101" pitchFamily="2" charset="-122"/>
              </a:rPr>
              <a:t>PCB</a:t>
            </a:r>
            <a:r>
              <a:rPr lang="zh-CN" altLang="en-US" sz="2400" b="1">
                <a:latin typeface="Times New Roman" panose="02020603050405020304" pitchFamily="18" charset="0"/>
                <a:ea typeface="宋体" panose="02010600030101010101" pitchFamily="2" charset="-122"/>
              </a:rPr>
              <a:t>中还存放一些与进程调度和进程对换有关的信息，包括：</a:t>
            </a:r>
          </a:p>
          <a:p>
            <a:pPr algn="just"/>
            <a:r>
              <a:rPr lang="zh-CN" altLang="en-US"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①</a:t>
            </a:r>
            <a:r>
              <a:rPr lang="en-US" altLang="zh-CN" sz="2400" b="1">
                <a:solidFill>
                  <a:srgbClr val="FF0000"/>
                </a:solidFill>
                <a:latin typeface="Times New Roman" panose="02020603050405020304" pitchFamily="18" charset="0"/>
                <a:ea typeface="宋体" panose="02010600030101010101" pitchFamily="2" charset="-122"/>
              </a:rPr>
              <a:t> </a:t>
            </a:r>
            <a:r>
              <a:rPr lang="zh-CN" altLang="en-US" sz="2400" b="1">
                <a:solidFill>
                  <a:srgbClr val="FF0000"/>
                </a:solidFill>
                <a:latin typeface="Times New Roman" panose="02020603050405020304" pitchFamily="18" charset="0"/>
                <a:ea typeface="宋体" panose="02010600030101010101" pitchFamily="2" charset="-122"/>
              </a:rPr>
              <a:t>进程状态</a:t>
            </a:r>
            <a:r>
              <a:rPr lang="zh-CN" altLang="en-US" sz="2400" b="1">
                <a:latin typeface="Times New Roman" panose="02020603050405020304" pitchFamily="18" charset="0"/>
                <a:ea typeface="宋体" panose="02010600030101010101" pitchFamily="2" charset="-122"/>
              </a:rPr>
              <a:t>，指明进程的当前状态，作为进程调度和对换时的依据；</a:t>
            </a:r>
          </a:p>
          <a:p>
            <a:pPr algn="just"/>
            <a:r>
              <a:rPr lang="en-US" altLang="zh-CN" sz="2400" b="1">
                <a:latin typeface="Times New Roman" panose="02020603050405020304" pitchFamily="18" charset="0"/>
                <a:ea typeface="宋体" panose="02010600030101010101" pitchFamily="2" charset="-122"/>
              </a:rPr>
              <a:t>② </a:t>
            </a:r>
            <a:r>
              <a:rPr lang="zh-CN" altLang="en-US" sz="2400" b="1">
                <a:solidFill>
                  <a:srgbClr val="FF0000"/>
                </a:solidFill>
                <a:latin typeface="Times New Roman" panose="02020603050405020304" pitchFamily="18" charset="0"/>
                <a:ea typeface="宋体" panose="02010600030101010101" pitchFamily="2" charset="-122"/>
              </a:rPr>
              <a:t>进程优先级</a:t>
            </a:r>
            <a:r>
              <a:rPr lang="zh-CN" altLang="en-US" sz="2400" b="1">
                <a:latin typeface="Times New Roman" panose="02020603050405020304" pitchFamily="18" charset="0"/>
                <a:ea typeface="宋体" panose="02010600030101010101" pitchFamily="2" charset="-122"/>
              </a:rPr>
              <a:t>，用于描述进程使用处理机的优先级别的一个整数， 优先级高的进程应优先获得处理机； </a:t>
            </a:r>
          </a:p>
          <a:p>
            <a:pPr algn="just"/>
            <a:r>
              <a:rPr lang="en-US" altLang="zh-CN" sz="2400" b="1">
                <a:latin typeface="Times New Roman" panose="02020603050405020304" pitchFamily="18" charset="0"/>
                <a:ea typeface="宋体" panose="02010600030101010101" pitchFamily="2" charset="-122"/>
              </a:rPr>
              <a:t>③</a:t>
            </a:r>
            <a:r>
              <a:rPr lang="en-US" altLang="zh-CN" sz="2400" b="1">
                <a:solidFill>
                  <a:srgbClr val="FF0000"/>
                </a:solidFill>
                <a:latin typeface="Times New Roman" panose="02020603050405020304" pitchFamily="18" charset="0"/>
                <a:ea typeface="宋体" panose="02010600030101010101" pitchFamily="2" charset="-122"/>
              </a:rPr>
              <a:t> </a:t>
            </a:r>
            <a:r>
              <a:rPr lang="zh-CN" altLang="en-US" sz="2400" b="1">
                <a:solidFill>
                  <a:srgbClr val="FF0000"/>
                </a:solidFill>
                <a:latin typeface="Times New Roman" panose="02020603050405020304" pitchFamily="18" charset="0"/>
                <a:ea typeface="宋体" panose="02010600030101010101" pitchFamily="2" charset="-122"/>
              </a:rPr>
              <a:t>进程调度所需的其它信息</a:t>
            </a:r>
            <a:r>
              <a:rPr lang="zh-CN" altLang="en-US" sz="2400" b="1">
                <a:latin typeface="Times New Roman" panose="02020603050405020304" pitchFamily="18" charset="0"/>
                <a:ea typeface="宋体" panose="02010600030101010101" pitchFamily="2" charset="-122"/>
              </a:rPr>
              <a:t>，它们与所采用的进程调度算法有关，比如，进程已等待</a:t>
            </a:r>
            <a:r>
              <a:rPr lang="en-US" altLang="zh-CN" sz="2400" b="1">
                <a:latin typeface="Times New Roman" panose="02020603050405020304" pitchFamily="18" charset="0"/>
                <a:ea typeface="宋体" panose="02010600030101010101" pitchFamily="2" charset="-122"/>
              </a:rPr>
              <a:t>CPU</a:t>
            </a:r>
            <a:r>
              <a:rPr lang="zh-CN" altLang="en-US" sz="2400" b="1">
                <a:latin typeface="Times New Roman" panose="02020603050405020304" pitchFamily="18" charset="0"/>
                <a:ea typeface="宋体" panose="02010600030101010101" pitchFamily="2" charset="-122"/>
              </a:rPr>
              <a:t>的时间总和、 进程已执行的时间总和等；</a:t>
            </a:r>
          </a:p>
          <a:p>
            <a:pPr algn="just"/>
            <a:r>
              <a:rPr lang="en-US" altLang="zh-CN" sz="2400" b="1">
                <a:latin typeface="Times New Roman" panose="02020603050405020304" pitchFamily="18" charset="0"/>
                <a:ea typeface="宋体" panose="02010600030101010101" pitchFamily="2" charset="-122"/>
              </a:rPr>
              <a:t>④ </a:t>
            </a:r>
            <a:r>
              <a:rPr lang="zh-CN" altLang="en-US" sz="2400" b="1">
                <a:solidFill>
                  <a:srgbClr val="FF0000"/>
                </a:solidFill>
                <a:latin typeface="Times New Roman" panose="02020603050405020304" pitchFamily="18" charset="0"/>
                <a:ea typeface="宋体" panose="02010600030101010101" pitchFamily="2" charset="-122"/>
              </a:rPr>
              <a:t>事件</a:t>
            </a:r>
            <a:r>
              <a:rPr lang="zh-CN" altLang="en-US" sz="2400" b="1">
                <a:latin typeface="Times New Roman" panose="02020603050405020304" pitchFamily="18" charset="0"/>
                <a:ea typeface="宋体" panose="02010600030101010101" pitchFamily="2" charset="-122"/>
              </a:rPr>
              <a:t>，是指进程由执行状态转变为阻塞状态所等待发生的事件，即</a:t>
            </a:r>
            <a:r>
              <a:rPr lang="zh-CN" altLang="en-US" sz="2400" b="1">
                <a:solidFill>
                  <a:srgbClr val="FF0000"/>
                </a:solidFill>
                <a:latin typeface="Times New Roman" panose="02020603050405020304" pitchFamily="18" charset="0"/>
                <a:ea typeface="宋体" panose="02010600030101010101" pitchFamily="2" charset="-122"/>
              </a:rPr>
              <a:t>阻塞原因</a:t>
            </a:r>
            <a:r>
              <a:rPr lang="zh-CN" altLang="en-US" sz="2400" b="1">
                <a:latin typeface="Times New Roman" panose="02020603050405020304" pitchFamily="18" charset="0"/>
                <a:ea typeface="宋体" panose="02010600030101010101" pitchFamily="2" charset="-122"/>
              </a:rPr>
              <a:t>。 </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文本框 27649"/>
          <p:cNvSpPr txBox="1"/>
          <p:nvPr/>
        </p:nvSpPr>
        <p:spPr>
          <a:xfrm>
            <a:off x="2351088" y="765175"/>
            <a:ext cx="7637462" cy="4954270"/>
          </a:xfrm>
          <a:prstGeom prst="rect">
            <a:avLst/>
          </a:prstGeom>
          <a:noFill/>
          <a:ln w="9525">
            <a:noFill/>
          </a:ln>
        </p:spPr>
        <p:txBody>
          <a:bodyPr anchor="t" anchorCtr="0">
            <a:spAutoFit/>
          </a:bodyPr>
          <a:lstStyle/>
          <a:p>
            <a:pPr algn="just"/>
            <a:r>
              <a:rPr lang="en-US" altLang="zh-CN" sz="2800" b="1">
                <a:latin typeface="Times New Roman" panose="02020603050405020304" pitchFamily="18" charset="0"/>
                <a:ea typeface="宋体" panose="02010600030101010101" pitchFamily="2" charset="-122"/>
              </a:rPr>
              <a:t>        4) </a:t>
            </a:r>
            <a:r>
              <a:rPr lang="zh-CN" altLang="en-US" sz="2800" b="1">
                <a:latin typeface="Times New Roman" panose="02020603050405020304" pitchFamily="18" charset="0"/>
                <a:ea typeface="宋体" panose="02010600030101010101" pitchFamily="2" charset="-122"/>
              </a:rPr>
              <a:t>进程控制信息</a:t>
            </a:r>
            <a:endParaRPr lang="zh-CN" altLang="en-US" sz="2400" b="1">
              <a:latin typeface="Times New Roman" panose="02020603050405020304" pitchFamily="18" charset="0"/>
              <a:ea typeface="宋体" panose="02010600030101010101" pitchFamily="2" charset="-122"/>
            </a:endParaRPr>
          </a:p>
          <a:p>
            <a:pPr algn="just"/>
            <a:r>
              <a:rPr lang="zh-CN" altLang="en-US" sz="2400" b="1">
                <a:latin typeface="Times New Roman" panose="02020603050405020304" pitchFamily="18" charset="0"/>
                <a:ea typeface="宋体" panose="02010600030101010101" pitchFamily="2" charset="-122"/>
              </a:rPr>
              <a:t>       </a:t>
            </a:r>
          </a:p>
          <a:p>
            <a:pPr algn="just"/>
            <a:endParaRPr lang="zh-CN" altLang="en-US" sz="2400" b="1">
              <a:latin typeface="Times New Roman" panose="02020603050405020304" pitchFamily="18" charset="0"/>
              <a:ea typeface="宋体" panose="02010600030101010101" pitchFamily="2" charset="-122"/>
            </a:endParaRPr>
          </a:p>
          <a:p>
            <a:pPr algn="just"/>
            <a:r>
              <a:rPr lang="en-US" altLang="zh-CN" sz="2400" b="1">
                <a:latin typeface="Times New Roman" panose="02020603050405020304" pitchFamily="18" charset="0"/>
                <a:ea typeface="宋体" panose="02010600030101010101" pitchFamily="2" charset="-122"/>
              </a:rPr>
              <a:t>① </a:t>
            </a:r>
            <a:r>
              <a:rPr lang="zh-CN" altLang="en-US" sz="2400" b="1">
                <a:solidFill>
                  <a:srgbClr val="FF0000"/>
                </a:solidFill>
                <a:latin typeface="Times New Roman" panose="02020603050405020304" pitchFamily="18" charset="0"/>
                <a:ea typeface="宋体" panose="02010600030101010101" pitchFamily="2" charset="-122"/>
              </a:rPr>
              <a:t>程序和数据的地址</a:t>
            </a:r>
            <a:r>
              <a:rPr lang="zh-CN" altLang="en-US" sz="2400" b="1">
                <a:latin typeface="Times New Roman" panose="02020603050405020304" pitchFamily="18" charset="0"/>
                <a:ea typeface="宋体" panose="02010600030101010101" pitchFamily="2" charset="-122"/>
              </a:rPr>
              <a:t>，是指进程的程序和数据所在的</a:t>
            </a:r>
            <a:r>
              <a:rPr lang="zh-CN" altLang="en-US" sz="2400" b="1">
                <a:solidFill>
                  <a:srgbClr val="FF0000"/>
                </a:solidFill>
                <a:latin typeface="Times New Roman" panose="02020603050405020304" pitchFamily="18" charset="0"/>
                <a:ea typeface="宋体" panose="02010600030101010101" pitchFamily="2" charset="-122"/>
              </a:rPr>
              <a:t>内存或外存地</a:t>
            </a:r>
            <a:r>
              <a:rPr lang="en-US" altLang="zh-CN" sz="2400" b="1">
                <a:solidFill>
                  <a:srgbClr val="FF0000"/>
                </a:solidFill>
                <a:latin typeface="Times New Roman" panose="02020603050405020304" pitchFamily="18" charset="0"/>
                <a:ea typeface="宋体" panose="02010600030101010101" pitchFamily="2" charset="-122"/>
              </a:rPr>
              <a:t>(</a:t>
            </a:r>
            <a:r>
              <a:rPr lang="zh-CN" altLang="en-US" sz="2400" b="1">
                <a:solidFill>
                  <a:srgbClr val="FF0000"/>
                </a:solidFill>
                <a:latin typeface="Times New Roman" panose="02020603050405020304" pitchFamily="18" charset="0"/>
                <a:ea typeface="宋体" panose="02010600030101010101" pitchFamily="2" charset="-122"/>
              </a:rPr>
              <a:t>首</a:t>
            </a:r>
            <a:r>
              <a:rPr lang="en-US" altLang="zh-CN" sz="2400" b="1">
                <a:solidFill>
                  <a:srgbClr val="FF0000"/>
                </a:solidFill>
                <a:latin typeface="Times New Roman" panose="02020603050405020304" pitchFamily="18" charset="0"/>
                <a:ea typeface="宋体" panose="02010600030101010101" pitchFamily="2" charset="-122"/>
              </a:rPr>
              <a:t>)</a:t>
            </a:r>
            <a:r>
              <a:rPr lang="zh-CN" altLang="en-US" sz="2400" b="1">
                <a:solidFill>
                  <a:srgbClr val="FF0000"/>
                </a:solidFill>
                <a:latin typeface="Times New Roman" panose="02020603050405020304" pitchFamily="18" charset="0"/>
                <a:ea typeface="宋体" panose="02010600030101010101" pitchFamily="2" charset="-122"/>
              </a:rPr>
              <a:t>址</a:t>
            </a:r>
            <a:r>
              <a:rPr lang="zh-CN" altLang="en-US" sz="2400" b="1">
                <a:latin typeface="Times New Roman" panose="02020603050405020304" pitchFamily="18" charset="0"/>
                <a:ea typeface="宋体" panose="02010600030101010101" pitchFamily="2" charset="-122"/>
              </a:rPr>
              <a:t>，以便再调度到该进程执行时，能从</a:t>
            </a:r>
            <a:r>
              <a:rPr lang="en-US" altLang="zh-CN" sz="2400" b="1">
                <a:latin typeface="Times New Roman" panose="02020603050405020304" pitchFamily="18" charset="0"/>
                <a:ea typeface="宋体" panose="02010600030101010101" pitchFamily="2" charset="-122"/>
              </a:rPr>
              <a:t>PCB</a:t>
            </a:r>
            <a:r>
              <a:rPr lang="zh-CN" altLang="en-US" sz="2400" b="1">
                <a:latin typeface="Times New Roman" panose="02020603050405020304" pitchFamily="18" charset="0"/>
                <a:ea typeface="宋体" panose="02010600030101010101" pitchFamily="2" charset="-122"/>
              </a:rPr>
              <a:t>中找到其程序和数据；</a:t>
            </a:r>
          </a:p>
          <a:p>
            <a:pPr algn="just"/>
            <a:r>
              <a:rPr lang="en-US" altLang="zh-CN" sz="2400" b="1">
                <a:latin typeface="Times New Roman" panose="02020603050405020304" pitchFamily="18" charset="0"/>
                <a:ea typeface="宋体" panose="02010600030101010101" pitchFamily="2" charset="-122"/>
              </a:rPr>
              <a:t>② </a:t>
            </a:r>
            <a:r>
              <a:rPr lang="zh-CN" altLang="en-US" sz="2400" b="1">
                <a:solidFill>
                  <a:srgbClr val="FF0000"/>
                </a:solidFill>
                <a:latin typeface="Times New Roman" panose="02020603050405020304" pitchFamily="18" charset="0"/>
                <a:ea typeface="宋体" panose="02010600030101010101" pitchFamily="2" charset="-122"/>
              </a:rPr>
              <a:t>进程同步和通信机制</a:t>
            </a:r>
            <a:r>
              <a:rPr lang="zh-CN" altLang="en-US" sz="2400" b="1">
                <a:latin typeface="Times New Roman" panose="02020603050405020304" pitchFamily="18" charset="0"/>
                <a:ea typeface="宋体" panose="02010600030101010101" pitchFamily="2" charset="-122"/>
              </a:rPr>
              <a:t>，指实现进程同步和进程通信时必需的机制， 如消息队列指针、信号量等，它们可能全部或部分地放在</a:t>
            </a:r>
            <a:r>
              <a:rPr lang="en-US" altLang="zh-CN" sz="2400" b="1">
                <a:latin typeface="Times New Roman" panose="02020603050405020304" pitchFamily="18" charset="0"/>
                <a:ea typeface="宋体" panose="02010600030101010101" pitchFamily="2" charset="-122"/>
              </a:rPr>
              <a:t>PCB</a:t>
            </a:r>
            <a:r>
              <a:rPr lang="zh-CN" altLang="en-US" sz="2400" b="1">
                <a:latin typeface="Times New Roman" panose="02020603050405020304" pitchFamily="18" charset="0"/>
                <a:ea typeface="宋体" panose="02010600030101010101" pitchFamily="2" charset="-122"/>
              </a:rPr>
              <a:t>中；</a:t>
            </a:r>
          </a:p>
          <a:p>
            <a:pPr algn="just"/>
            <a:r>
              <a:rPr lang="zh-CN" altLang="en-US"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③ </a:t>
            </a:r>
            <a:r>
              <a:rPr lang="zh-CN" altLang="en-US" sz="2400" b="1">
                <a:solidFill>
                  <a:srgbClr val="FF0000"/>
                </a:solidFill>
                <a:latin typeface="Times New Roman" panose="02020603050405020304" pitchFamily="18" charset="0"/>
                <a:ea typeface="宋体" panose="02010600030101010101" pitchFamily="2" charset="-122"/>
              </a:rPr>
              <a:t>资源清单</a:t>
            </a:r>
            <a:r>
              <a:rPr lang="zh-CN" altLang="en-US" sz="2400" b="1">
                <a:latin typeface="Times New Roman" panose="02020603050405020304" pitchFamily="18" charset="0"/>
                <a:ea typeface="宋体" panose="02010600030101010101" pitchFamily="2" charset="-122"/>
              </a:rPr>
              <a:t>，是一张列出了</a:t>
            </a:r>
            <a:r>
              <a:rPr lang="zh-CN" altLang="en-US" sz="2400" b="1">
                <a:solidFill>
                  <a:srgbClr val="FF0000"/>
                </a:solidFill>
                <a:latin typeface="Times New Roman" panose="02020603050405020304" pitchFamily="18" charset="0"/>
                <a:ea typeface="宋体" panose="02010600030101010101" pitchFamily="2" charset="-122"/>
              </a:rPr>
              <a:t>除</a:t>
            </a:r>
            <a:r>
              <a:rPr lang="en-US" altLang="zh-CN" sz="2400" b="1">
                <a:solidFill>
                  <a:srgbClr val="FF0000"/>
                </a:solidFill>
                <a:latin typeface="Times New Roman" panose="02020603050405020304" pitchFamily="18" charset="0"/>
                <a:ea typeface="宋体" panose="02010600030101010101" pitchFamily="2" charset="-122"/>
              </a:rPr>
              <a:t>CPU</a:t>
            </a:r>
            <a:r>
              <a:rPr lang="zh-CN" altLang="en-US" sz="2400" b="1">
                <a:solidFill>
                  <a:srgbClr val="FF0000"/>
                </a:solidFill>
                <a:latin typeface="Times New Roman" panose="02020603050405020304" pitchFamily="18" charset="0"/>
                <a:ea typeface="宋体" panose="02010600030101010101" pitchFamily="2" charset="-122"/>
              </a:rPr>
              <a:t>以外</a:t>
            </a:r>
            <a:r>
              <a:rPr lang="zh-CN" altLang="en-US" sz="2400" b="1">
                <a:latin typeface="Times New Roman" panose="02020603050405020304" pitchFamily="18" charset="0"/>
                <a:ea typeface="宋体" panose="02010600030101010101" pitchFamily="2" charset="-122"/>
              </a:rPr>
              <a:t>的、进程所需的全部资源及已经分配到该进程的资源的清单；</a:t>
            </a:r>
          </a:p>
          <a:p>
            <a:pPr algn="just"/>
            <a:r>
              <a:rPr lang="en-US" altLang="zh-CN" sz="2400" b="1">
                <a:latin typeface="Times New Roman" panose="02020603050405020304" pitchFamily="18" charset="0"/>
                <a:ea typeface="宋体" panose="02010600030101010101" pitchFamily="2" charset="-122"/>
              </a:rPr>
              <a:t>④</a:t>
            </a:r>
            <a:r>
              <a:rPr lang="en-US" altLang="zh-CN" sz="2400" b="1">
                <a:solidFill>
                  <a:srgbClr val="FF0000"/>
                </a:solidFill>
                <a:latin typeface="Times New Roman" panose="02020603050405020304" pitchFamily="18" charset="0"/>
                <a:ea typeface="宋体" panose="02010600030101010101" pitchFamily="2" charset="-122"/>
              </a:rPr>
              <a:t> </a:t>
            </a:r>
            <a:r>
              <a:rPr lang="zh-CN" altLang="en-US" sz="2400" b="1">
                <a:solidFill>
                  <a:srgbClr val="FF0000"/>
                </a:solidFill>
                <a:latin typeface="Times New Roman" panose="02020603050405020304" pitchFamily="18" charset="0"/>
                <a:ea typeface="宋体" panose="02010600030101010101" pitchFamily="2" charset="-122"/>
              </a:rPr>
              <a:t>链接指针</a:t>
            </a:r>
            <a:r>
              <a:rPr lang="zh-CN" altLang="en-US" sz="2400" b="1">
                <a:latin typeface="Times New Roman" panose="02020603050405020304" pitchFamily="18" charset="0"/>
                <a:ea typeface="宋体" panose="02010600030101010101" pitchFamily="2" charset="-122"/>
              </a:rPr>
              <a:t>， 它给出了本进程</a:t>
            </a:r>
            <a:r>
              <a:rPr lang="en-US" altLang="zh-CN" sz="2400" b="1">
                <a:latin typeface="Times New Roman" panose="02020603050405020304" pitchFamily="18" charset="0"/>
                <a:ea typeface="宋体" panose="02010600030101010101" pitchFamily="2" charset="-122"/>
              </a:rPr>
              <a:t>(PCB)</a:t>
            </a:r>
            <a:r>
              <a:rPr lang="zh-CN" altLang="en-US" sz="2400" b="1">
                <a:latin typeface="Times New Roman" panose="02020603050405020304" pitchFamily="18" charset="0"/>
                <a:ea typeface="宋体" panose="02010600030101010101" pitchFamily="2" charset="-122"/>
              </a:rPr>
              <a:t>所在队列中的下一个进程的</a:t>
            </a:r>
            <a:r>
              <a:rPr lang="en-US" altLang="zh-CN" sz="2400" b="1">
                <a:solidFill>
                  <a:srgbClr val="FF0000"/>
                </a:solidFill>
                <a:latin typeface="Times New Roman" panose="02020603050405020304" pitchFamily="18" charset="0"/>
                <a:ea typeface="宋体" panose="02010600030101010101" pitchFamily="2" charset="-122"/>
              </a:rPr>
              <a:t>PCB</a:t>
            </a:r>
            <a:r>
              <a:rPr lang="zh-CN" altLang="en-US" sz="2400" b="1">
                <a:solidFill>
                  <a:srgbClr val="FF0000"/>
                </a:solidFill>
                <a:latin typeface="Times New Roman" panose="02020603050405020304" pitchFamily="18" charset="0"/>
                <a:ea typeface="宋体" panose="02010600030101010101" pitchFamily="2" charset="-122"/>
              </a:rPr>
              <a:t>的首地址</a:t>
            </a:r>
            <a:r>
              <a:rPr lang="zh-CN" altLang="en-US" sz="2400" b="1">
                <a:latin typeface="Times New Roman" panose="02020603050405020304" pitchFamily="18" charset="0"/>
                <a:ea typeface="宋体" panose="02010600030101010101" pitchFamily="2" charset="-122"/>
              </a:rPr>
              <a:t>。 </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27225" y="2621280"/>
            <a:ext cx="6310630" cy="2244090"/>
          </a:xfrm>
          <a:prstGeom prst="rect">
            <a:avLst/>
          </a:prstGeom>
          <a:noFill/>
        </p:spPr>
        <p:txBody>
          <a:bodyPr wrap="square" rtlCol="0" anchor="t">
            <a:noAutofit/>
          </a:bodyPr>
          <a:lstStyle/>
          <a:p>
            <a:pPr marL="342900" lvl="1" indent="-342900">
              <a:lnSpc>
                <a:spcPct val="150000"/>
              </a:lnSpc>
              <a:buFont typeface="Wingdings" panose="05000000000000000000" pitchFamily="2" charset="2"/>
              <a:buChar char="Ø"/>
            </a:pPr>
            <a:r>
              <a:rPr lang="zh-CN" altLang="en-US" sz="2800" dirty="0">
                <a:sym typeface="+mn-ea"/>
              </a:rPr>
              <a:t>线性方式</a:t>
            </a:r>
            <a:endParaRPr lang="zh-CN" altLang="en-US" sz="2800" dirty="0"/>
          </a:p>
          <a:p>
            <a:pPr marL="342900" lvl="1" indent="-342900">
              <a:lnSpc>
                <a:spcPct val="150000"/>
              </a:lnSpc>
              <a:buFont typeface="Wingdings" panose="05000000000000000000" pitchFamily="2" charset="2"/>
              <a:buChar char="Ø"/>
            </a:pPr>
            <a:r>
              <a:rPr lang="zh-CN" altLang="en-US" sz="2800" dirty="0">
                <a:sym typeface="+mn-ea"/>
              </a:rPr>
              <a:t>链接方式</a:t>
            </a:r>
            <a:endParaRPr lang="zh-CN" altLang="en-US" sz="2800" dirty="0"/>
          </a:p>
          <a:p>
            <a:pPr marL="342900" lvl="1" indent="-342900">
              <a:lnSpc>
                <a:spcPct val="150000"/>
              </a:lnSpc>
              <a:buFont typeface="Wingdings" panose="05000000000000000000" pitchFamily="2" charset="2"/>
              <a:buChar char="Ø"/>
            </a:pPr>
            <a:r>
              <a:rPr lang="zh-CN" altLang="en-US" sz="2800" dirty="0">
                <a:sym typeface="+mn-ea"/>
              </a:rPr>
              <a:t>索引方式</a:t>
            </a:r>
          </a:p>
        </p:txBody>
      </p:sp>
      <p:sp>
        <p:nvSpPr>
          <p:cNvPr id="17" name="ïšļíďè"/>
          <p:cNvSpPr txBox="1"/>
          <p:nvPr/>
        </p:nvSpPr>
        <p:spPr>
          <a:xfrm>
            <a:off x="1927042" y="1988269"/>
            <a:ext cx="4989933"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2800" dirty="0">
                <a:solidFill>
                  <a:srgbClr val="0000FF"/>
                </a:solidFill>
              </a:rPr>
              <a:t>PCB</a:t>
            </a:r>
            <a:r>
              <a:rPr lang="zh-CN" altLang="en-US" sz="2800" dirty="0">
                <a:solidFill>
                  <a:srgbClr val="0000FF"/>
                </a:solidFill>
              </a:rPr>
              <a:t>的组织方式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65790"/>
            <a:ext cx="7026275" cy="523220"/>
          </a:xfrm>
          <a:prstGeom prst="rect">
            <a:avLst/>
          </a:prstGeom>
        </p:spPr>
        <p:txBody>
          <a:bodyPr wrap="square">
            <a:spAutoFit/>
          </a:bodyPr>
          <a:lstStyle/>
          <a:p>
            <a:r>
              <a:rPr lang="en-US" altLang="zh-CN" sz="2800" b="1" dirty="0">
                <a:solidFill>
                  <a:schemeClr val="bg1"/>
                </a:solidFill>
              </a:rPr>
              <a:t>PCB</a:t>
            </a:r>
            <a:r>
              <a:rPr lang="zh-CN" altLang="en-US" sz="2800" b="1" dirty="0">
                <a:solidFill>
                  <a:schemeClr val="bg1"/>
                </a:solidFill>
              </a:rPr>
              <a:t>线性组织方式</a:t>
            </a:r>
          </a:p>
        </p:txBody>
      </p:sp>
      <p:graphicFrame>
        <p:nvGraphicFramePr>
          <p:cNvPr id="4" name="Group 75"/>
          <p:cNvGraphicFramePr>
            <a:graphicFrameLocks noGrp="1"/>
          </p:cNvGraphicFramePr>
          <p:nvPr/>
        </p:nvGraphicFramePr>
        <p:xfrm>
          <a:off x="4619693" y="1625981"/>
          <a:ext cx="2824296" cy="4235937"/>
        </p:xfrm>
        <a:graphic>
          <a:graphicData uri="http://schemas.openxmlformats.org/drawingml/2006/table">
            <a:tbl>
              <a:tblPr/>
              <a:tblGrid>
                <a:gridCol w="2824296">
                  <a:extLst>
                    <a:ext uri="{9D8B030D-6E8A-4147-A177-3AD203B41FA5}">
                      <a16:colId xmlns:a16="http://schemas.microsoft.com/office/drawing/2014/main" val="20000"/>
                    </a:ext>
                  </a:extLst>
                </a:gridCol>
              </a:tblGrid>
              <a:tr h="625314">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1</a:t>
                      </a: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625314">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PCB 2</a:t>
                      </a: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625314">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PCB 3</a:t>
                      </a: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1734681">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625314">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a:t>
                      </a:r>
                      <a:r>
                        <a:rPr kumimoji="1" lang="en-US" altLang="zh-CN" sz="28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65790"/>
            <a:ext cx="7026275" cy="523220"/>
          </a:xfrm>
          <a:prstGeom prst="rect">
            <a:avLst/>
          </a:prstGeom>
        </p:spPr>
        <p:txBody>
          <a:bodyPr wrap="square">
            <a:spAutoFit/>
          </a:bodyPr>
          <a:lstStyle/>
          <a:p>
            <a:r>
              <a:rPr lang="en-US" altLang="zh-CN" sz="2800" b="1" dirty="0">
                <a:solidFill>
                  <a:schemeClr val="bg1"/>
                </a:solidFill>
              </a:rPr>
              <a:t>PCB</a:t>
            </a:r>
            <a:r>
              <a:rPr lang="zh-CN" altLang="en-US" sz="2800" b="1" dirty="0">
                <a:solidFill>
                  <a:schemeClr val="bg1"/>
                </a:solidFill>
              </a:rPr>
              <a:t>链接组织方式</a:t>
            </a:r>
          </a:p>
        </p:txBody>
      </p:sp>
      <p:sp>
        <p:nvSpPr>
          <p:cNvPr id="4" name="Rectangle 5"/>
          <p:cNvSpPr>
            <a:spLocks noChangeArrowheads="1"/>
          </p:cNvSpPr>
          <p:nvPr/>
        </p:nvSpPr>
        <p:spPr bwMode="auto">
          <a:xfrm>
            <a:off x="2640170" y="2555652"/>
            <a:ext cx="2076718" cy="45720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a:latin typeface="+mn-ea"/>
                <a:ea typeface="+mn-ea"/>
              </a:rPr>
              <a:t>执行指针</a:t>
            </a:r>
          </a:p>
        </p:txBody>
      </p:sp>
      <p:sp>
        <p:nvSpPr>
          <p:cNvPr id="5" name="Rectangle 6"/>
          <p:cNvSpPr>
            <a:spLocks noChangeArrowheads="1"/>
          </p:cNvSpPr>
          <p:nvPr/>
        </p:nvSpPr>
        <p:spPr bwMode="auto">
          <a:xfrm>
            <a:off x="2640170" y="3298602"/>
            <a:ext cx="2076718" cy="45720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a:latin typeface="+mn-ea"/>
                <a:ea typeface="+mn-ea"/>
              </a:rPr>
              <a:t>就绪队列指针</a:t>
            </a:r>
          </a:p>
        </p:txBody>
      </p:sp>
      <p:sp>
        <p:nvSpPr>
          <p:cNvPr id="6" name="Rectangle 7"/>
          <p:cNvSpPr>
            <a:spLocks noChangeArrowheads="1"/>
          </p:cNvSpPr>
          <p:nvPr/>
        </p:nvSpPr>
        <p:spPr bwMode="auto">
          <a:xfrm>
            <a:off x="2640170" y="4041552"/>
            <a:ext cx="2076718" cy="45720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dirty="0">
                <a:latin typeface="+mn-ea"/>
                <a:ea typeface="+mn-ea"/>
              </a:rPr>
              <a:t>阻塞队列指针</a:t>
            </a:r>
          </a:p>
        </p:txBody>
      </p:sp>
      <p:sp>
        <p:nvSpPr>
          <p:cNvPr id="7" name="Rectangle 8"/>
          <p:cNvSpPr>
            <a:spLocks noChangeArrowheads="1"/>
          </p:cNvSpPr>
          <p:nvPr/>
        </p:nvSpPr>
        <p:spPr bwMode="auto">
          <a:xfrm>
            <a:off x="2640170" y="4784502"/>
            <a:ext cx="2076718" cy="45720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dirty="0">
                <a:latin typeface="+mn-ea"/>
                <a:ea typeface="+mn-ea"/>
              </a:rPr>
              <a:t>空闲队列指针</a:t>
            </a:r>
          </a:p>
        </p:txBody>
      </p:sp>
      <p:graphicFrame>
        <p:nvGraphicFramePr>
          <p:cNvPr id="8" name="Group 84"/>
          <p:cNvGraphicFramePr>
            <a:graphicFrameLocks noGrp="1"/>
          </p:cNvGraphicFramePr>
          <p:nvPr>
            <p:custDataLst>
              <p:tags r:id="rId1"/>
            </p:custDataLst>
          </p:nvPr>
        </p:nvGraphicFramePr>
        <p:xfrm>
          <a:off x="7383888" y="1717452"/>
          <a:ext cx="1524000" cy="3433780"/>
        </p:xfrm>
        <a:graphic>
          <a:graphicData uri="http://schemas.openxmlformats.org/drawingml/2006/table">
            <a:tbl>
              <a:tblPr/>
              <a:tblGrid>
                <a:gridCol w="1042988">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tblGrid>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1</a:t>
                      </a: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a:t>
                      </a: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2</a:t>
                      </a: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a:t>
                      </a: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3</a:t>
                      </a: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2"/>
                  </a:ext>
                </a:extLst>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4</a:t>
                      </a: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a:t>
                      </a: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3"/>
                  </a:ext>
                </a:extLst>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5</a:t>
                      </a: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4"/>
                  </a:ext>
                </a:extLst>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6</a:t>
                      </a: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5"/>
                  </a:ext>
                </a:extLst>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7</a:t>
                      </a: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6"/>
                  </a:ext>
                </a:extLst>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8</a:t>
                      </a: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7"/>
                  </a:ext>
                </a:extLst>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9</a:t>
                      </a: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11</a:t>
                      </a: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8"/>
                  </a:ext>
                </a:extLst>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09"/>
                  </a:ext>
                </a:extLst>
              </a:tr>
            </a:tbl>
          </a:graphicData>
        </a:graphic>
      </p:graphicFrame>
      <p:sp>
        <p:nvSpPr>
          <p:cNvPr id="9" name="Line 55"/>
          <p:cNvSpPr>
            <a:spLocks noChangeShapeType="1"/>
          </p:cNvSpPr>
          <p:nvPr/>
        </p:nvSpPr>
        <p:spPr bwMode="auto">
          <a:xfrm>
            <a:off x="4716886" y="2841402"/>
            <a:ext cx="2705101" cy="45720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0" name="Line 56"/>
          <p:cNvSpPr>
            <a:spLocks noChangeShapeType="1"/>
          </p:cNvSpPr>
          <p:nvPr/>
        </p:nvSpPr>
        <p:spPr bwMode="auto">
          <a:xfrm flipV="1">
            <a:off x="4716886" y="1927002"/>
            <a:ext cx="2667001" cy="165735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1" name="Line 57"/>
          <p:cNvSpPr>
            <a:spLocks noChangeShapeType="1"/>
          </p:cNvSpPr>
          <p:nvPr/>
        </p:nvSpPr>
        <p:spPr bwMode="auto">
          <a:xfrm flipV="1">
            <a:off x="4716887" y="2327052"/>
            <a:ext cx="2667001" cy="200025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2" name="Line 58"/>
          <p:cNvSpPr>
            <a:spLocks noChangeShapeType="1"/>
          </p:cNvSpPr>
          <p:nvPr/>
        </p:nvSpPr>
        <p:spPr bwMode="auto">
          <a:xfrm flipV="1">
            <a:off x="4716888" y="3641502"/>
            <a:ext cx="2667000" cy="138741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3" name="Line 60"/>
          <p:cNvSpPr>
            <a:spLocks noChangeShapeType="1"/>
          </p:cNvSpPr>
          <p:nvPr/>
        </p:nvSpPr>
        <p:spPr bwMode="auto">
          <a:xfrm>
            <a:off x="8907888" y="1927002"/>
            <a:ext cx="457200"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4" name="Line 61"/>
          <p:cNvSpPr>
            <a:spLocks noChangeShapeType="1"/>
          </p:cNvSpPr>
          <p:nvPr/>
        </p:nvSpPr>
        <p:spPr bwMode="auto">
          <a:xfrm>
            <a:off x="9365088" y="1927002"/>
            <a:ext cx="0" cy="91440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5" name="Line 62"/>
          <p:cNvSpPr>
            <a:spLocks noChangeShapeType="1"/>
          </p:cNvSpPr>
          <p:nvPr/>
        </p:nvSpPr>
        <p:spPr bwMode="auto">
          <a:xfrm flipH="1">
            <a:off x="8907888" y="2841402"/>
            <a:ext cx="457200"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nvGrpSpPr>
          <p:cNvPr id="16" name="Group 69"/>
          <p:cNvGrpSpPr/>
          <p:nvPr/>
        </p:nvGrpSpPr>
        <p:grpSpPr bwMode="auto">
          <a:xfrm>
            <a:off x="8907888" y="2212752"/>
            <a:ext cx="304800" cy="400050"/>
            <a:chOff x="4800" y="1296"/>
            <a:chExt cx="192" cy="336"/>
          </a:xfrm>
        </p:grpSpPr>
        <p:sp>
          <p:nvSpPr>
            <p:cNvPr id="17" name="Line 63"/>
            <p:cNvSpPr>
              <a:spLocks noChangeShapeType="1"/>
            </p:cNvSpPr>
            <p:nvPr/>
          </p:nvSpPr>
          <p:spPr bwMode="auto">
            <a:xfrm>
              <a:off x="4800" y="1296"/>
              <a:ext cx="192"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8" name="Line 64"/>
            <p:cNvSpPr>
              <a:spLocks noChangeShapeType="1"/>
            </p:cNvSpPr>
            <p:nvPr/>
          </p:nvSpPr>
          <p:spPr bwMode="auto">
            <a:xfrm>
              <a:off x="4992" y="1296"/>
              <a:ext cx="0" cy="336"/>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9" name="Line 65"/>
            <p:cNvSpPr>
              <a:spLocks noChangeShapeType="1"/>
            </p:cNvSpPr>
            <p:nvPr/>
          </p:nvSpPr>
          <p:spPr bwMode="auto">
            <a:xfrm flipH="1">
              <a:off x="4800" y="1632"/>
              <a:ext cx="192"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sp>
        <p:nvSpPr>
          <p:cNvPr id="21" name="Line 66"/>
          <p:cNvSpPr>
            <a:spLocks noChangeShapeType="1"/>
          </p:cNvSpPr>
          <p:nvPr/>
        </p:nvSpPr>
        <p:spPr bwMode="auto">
          <a:xfrm>
            <a:off x="8907888" y="2955702"/>
            <a:ext cx="457200"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2" name="Line 67"/>
          <p:cNvSpPr>
            <a:spLocks noChangeShapeType="1"/>
          </p:cNvSpPr>
          <p:nvPr/>
        </p:nvSpPr>
        <p:spPr bwMode="auto">
          <a:xfrm>
            <a:off x="9365088" y="2955702"/>
            <a:ext cx="0" cy="137160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3" name="Line 68"/>
          <p:cNvSpPr>
            <a:spLocks noChangeShapeType="1"/>
          </p:cNvSpPr>
          <p:nvPr/>
        </p:nvSpPr>
        <p:spPr bwMode="auto">
          <a:xfrm flipH="1">
            <a:off x="8907888" y="4327302"/>
            <a:ext cx="457200"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nvGrpSpPr>
          <p:cNvPr id="24" name="Group 70"/>
          <p:cNvGrpSpPr/>
          <p:nvPr/>
        </p:nvGrpSpPr>
        <p:grpSpPr bwMode="auto">
          <a:xfrm>
            <a:off x="8907888" y="3527202"/>
            <a:ext cx="304800" cy="400050"/>
            <a:chOff x="4800" y="1296"/>
            <a:chExt cx="192" cy="336"/>
          </a:xfrm>
        </p:grpSpPr>
        <p:sp>
          <p:nvSpPr>
            <p:cNvPr id="25" name="Line 71"/>
            <p:cNvSpPr>
              <a:spLocks noChangeShapeType="1"/>
            </p:cNvSpPr>
            <p:nvPr/>
          </p:nvSpPr>
          <p:spPr bwMode="auto">
            <a:xfrm>
              <a:off x="4800" y="1296"/>
              <a:ext cx="192"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7" name="Line 72"/>
            <p:cNvSpPr>
              <a:spLocks noChangeShapeType="1"/>
            </p:cNvSpPr>
            <p:nvPr/>
          </p:nvSpPr>
          <p:spPr bwMode="auto">
            <a:xfrm>
              <a:off x="4992" y="1296"/>
              <a:ext cx="0" cy="336"/>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8" name="Line 73"/>
            <p:cNvSpPr>
              <a:spLocks noChangeShapeType="1"/>
            </p:cNvSpPr>
            <p:nvPr/>
          </p:nvSpPr>
          <p:spPr bwMode="auto">
            <a:xfrm flipH="1">
              <a:off x="4800" y="1632"/>
              <a:ext cx="192"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grpSp>
        <p:nvGrpSpPr>
          <p:cNvPr id="29" name="Group 74"/>
          <p:cNvGrpSpPr/>
          <p:nvPr/>
        </p:nvGrpSpPr>
        <p:grpSpPr bwMode="auto">
          <a:xfrm>
            <a:off x="8907888" y="4041552"/>
            <a:ext cx="304800" cy="571500"/>
            <a:chOff x="4800" y="1296"/>
            <a:chExt cx="192" cy="336"/>
          </a:xfrm>
        </p:grpSpPr>
        <p:sp>
          <p:nvSpPr>
            <p:cNvPr id="30" name="Line 75"/>
            <p:cNvSpPr>
              <a:spLocks noChangeShapeType="1"/>
            </p:cNvSpPr>
            <p:nvPr/>
          </p:nvSpPr>
          <p:spPr bwMode="auto">
            <a:xfrm>
              <a:off x="4800" y="1296"/>
              <a:ext cx="192"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31" name="Line 76"/>
            <p:cNvSpPr>
              <a:spLocks noChangeShapeType="1"/>
            </p:cNvSpPr>
            <p:nvPr/>
          </p:nvSpPr>
          <p:spPr bwMode="auto">
            <a:xfrm>
              <a:off x="4992" y="1296"/>
              <a:ext cx="0" cy="336"/>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32" name="Line 77"/>
            <p:cNvSpPr>
              <a:spLocks noChangeShapeType="1"/>
            </p:cNvSpPr>
            <p:nvPr/>
          </p:nvSpPr>
          <p:spPr bwMode="auto">
            <a:xfrm flipH="1">
              <a:off x="4800" y="1632"/>
              <a:ext cx="192"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sp>
        <p:nvSpPr>
          <p:cNvPr id="33" name="Line 79"/>
          <p:cNvSpPr>
            <a:spLocks noChangeShapeType="1"/>
          </p:cNvSpPr>
          <p:nvPr/>
        </p:nvSpPr>
        <p:spPr bwMode="auto">
          <a:xfrm>
            <a:off x="8907888" y="4727352"/>
            <a:ext cx="304800"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34" name="Line 80"/>
          <p:cNvSpPr>
            <a:spLocks noChangeShapeType="1"/>
          </p:cNvSpPr>
          <p:nvPr/>
        </p:nvSpPr>
        <p:spPr bwMode="auto">
          <a:xfrm>
            <a:off x="9212688" y="4727352"/>
            <a:ext cx="0" cy="40005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65790"/>
            <a:ext cx="7026275" cy="523220"/>
          </a:xfrm>
          <a:prstGeom prst="rect">
            <a:avLst/>
          </a:prstGeom>
        </p:spPr>
        <p:txBody>
          <a:bodyPr wrap="square">
            <a:spAutoFit/>
          </a:bodyPr>
          <a:lstStyle/>
          <a:p>
            <a:r>
              <a:rPr lang="en-US" altLang="zh-CN" sz="2800" b="1" dirty="0">
                <a:solidFill>
                  <a:schemeClr val="bg1"/>
                </a:solidFill>
              </a:rPr>
              <a:t>PCB</a:t>
            </a:r>
            <a:r>
              <a:rPr lang="zh-CN" altLang="en-US" sz="2800" b="1" dirty="0">
                <a:solidFill>
                  <a:schemeClr val="bg1"/>
                </a:solidFill>
              </a:rPr>
              <a:t>索引组织方式</a:t>
            </a:r>
          </a:p>
        </p:txBody>
      </p:sp>
      <p:sp>
        <p:nvSpPr>
          <p:cNvPr id="35" name="Rectangle 5"/>
          <p:cNvSpPr>
            <a:spLocks noChangeArrowheads="1"/>
          </p:cNvSpPr>
          <p:nvPr/>
        </p:nvSpPr>
        <p:spPr bwMode="auto">
          <a:xfrm>
            <a:off x="2021983" y="1730500"/>
            <a:ext cx="1881389" cy="51435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a:latin typeface="+mn-ea"/>
                <a:ea typeface="+mn-ea"/>
              </a:rPr>
              <a:t>执行指针</a:t>
            </a:r>
          </a:p>
        </p:txBody>
      </p:sp>
      <p:sp>
        <p:nvSpPr>
          <p:cNvPr id="36" name="Rectangle 6"/>
          <p:cNvSpPr>
            <a:spLocks noChangeArrowheads="1"/>
          </p:cNvSpPr>
          <p:nvPr/>
        </p:nvSpPr>
        <p:spPr bwMode="auto">
          <a:xfrm>
            <a:off x="2021983" y="2587750"/>
            <a:ext cx="1881389" cy="51435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a:solidFill>
                  <a:srgbClr val="FF0000"/>
                </a:solidFill>
                <a:latin typeface="+mn-ea"/>
                <a:ea typeface="+mn-ea"/>
              </a:rPr>
              <a:t>就绪</a:t>
            </a:r>
            <a:r>
              <a:rPr lang="zh-CN" altLang="en-US" sz="2400">
                <a:latin typeface="+mn-ea"/>
                <a:ea typeface="+mn-ea"/>
              </a:rPr>
              <a:t>表指针</a:t>
            </a:r>
          </a:p>
        </p:txBody>
      </p:sp>
      <p:sp>
        <p:nvSpPr>
          <p:cNvPr id="37" name="Rectangle 7"/>
          <p:cNvSpPr>
            <a:spLocks noChangeArrowheads="1"/>
          </p:cNvSpPr>
          <p:nvPr/>
        </p:nvSpPr>
        <p:spPr bwMode="auto">
          <a:xfrm>
            <a:off x="2021983" y="3445000"/>
            <a:ext cx="1881389" cy="51435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dirty="0">
                <a:solidFill>
                  <a:srgbClr val="0000FF"/>
                </a:solidFill>
                <a:latin typeface="+mn-ea"/>
                <a:ea typeface="+mn-ea"/>
              </a:rPr>
              <a:t>阻塞</a:t>
            </a:r>
            <a:r>
              <a:rPr lang="zh-CN" altLang="en-US" sz="2400" dirty="0">
                <a:latin typeface="+mn-ea"/>
                <a:ea typeface="+mn-ea"/>
              </a:rPr>
              <a:t>表指针</a:t>
            </a:r>
          </a:p>
        </p:txBody>
      </p:sp>
      <p:graphicFrame>
        <p:nvGraphicFramePr>
          <p:cNvPr id="38" name="Group 75"/>
          <p:cNvGraphicFramePr>
            <a:graphicFrameLocks noGrp="1"/>
          </p:cNvGraphicFramePr>
          <p:nvPr/>
        </p:nvGraphicFramePr>
        <p:xfrm>
          <a:off x="8399171" y="1681258"/>
          <a:ext cx="1066800" cy="3979576"/>
        </p:xfrm>
        <a:graphic>
          <a:graphicData uri="http://schemas.openxmlformats.org/drawingml/2006/table">
            <a:tbl>
              <a:tblPr/>
              <a:tblGrid>
                <a:gridCol w="1066800">
                  <a:extLst>
                    <a:ext uri="{9D8B030D-6E8A-4147-A177-3AD203B41FA5}">
                      <a16:colId xmlns:a16="http://schemas.microsoft.com/office/drawing/2014/main" val="20000"/>
                    </a:ext>
                  </a:extLst>
                </a:gridCol>
              </a:tblGrid>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1</a:t>
                      </a: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2</a:t>
                      </a: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3</a:t>
                      </a: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2"/>
                  </a:ext>
                </a:extLst>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4</a:t>
                      </a: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3"/>
                  </a:ext>
                </a:extLst>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5</a:t>
                      </a: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4"/>
                  </a:ext>
                </a:extLst>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6</a:t>
                      </a: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5"/>
                  </a:ext>
                </a:extLst>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7</a:t>
                      </a: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6"/>
                  </a:ext>
                </a:extLst>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800" b="0"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07"/>
                  </a:ext>
                </a:extLst>
              </a:tr>
            </a:tbl>
          </a:graphicData>
        </a:graphic>
      </p:graphicFrame>
      <p:sp>
        <p:nvSpPr>
          <p:cNvPr id="39" name="Line 47"/>
          <p:cNvSpPr>
            <a:spLocks noChangeShapeType="1"/>
          </p:cNvSpPr>
          <p:nvPr/>
        </p:nvSpPr>
        <p:spPr bwMode="auto">
          <a:xfrm flipV="1">
            <a:off x="3903372" y="1863313"/>
            <a:ext cx="4495800" cy="947"/>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0" name="Line 48"/>
          <p:cNvSpPr>
            <a:spLocks noChangeShapeType="1"/>
          </p:cNvSpPr>
          <p:nvPr/>
        </p:nvSpPr>
        <p:spPr bwMode="auto">
          <a:xfrm flipV="1">
            <a:off x="3827172" y="2508910"/>
            <a:ext cx="1199882" cy="30744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1" name="Line 49"/>
          <p:cNvSpPr>
            <a:spLocks noChangeShapeType="1"/>
          </p:cNvSpPr>
          <p:nvPr/>
        </p:nvSpPr>
        <p:spPr bwMode="auto">
          <a:xfrm>
            <a:off x="3827172" y="3673600"/>
            <a:ext cx="1127974" cy="62865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graphicFrame>
        <p:nvGraphicFramePr>
          <p:cNvPr id="42" name="Group 95"/>
          <p:cNvGraphicFramePr>
            <a:graphicFrameLocks noGrp="1"/>
          </p:cNvGraphicFramePr>
          <p:nvPr/>
        </p:nvGraphicFramePr>
        <p:xfrm>
          <a:off x="5053349" y="2344159"/>
          <a:ext cx="1708595" cy="1205329"/>
        </p:xfrm>
        <a:graphic>
          <a:graphicData uri="http://schemas.openxmlformats.org/drawingml/2006/table">
            <a:tbl>
              <a:tblPr/>
              <a:tblGrid>
                <a:gridCol w="1708595">
                  <a:extLst>
                    <a:ext uri="{9D8B030D-6E8A-4147-A177-3AD203B41FA5}">
                      <a16:colId xmlns:a16="http://schemas.microsoft.com/office/drawing/2014/main" val="20000"/>
                    </a:ext>
                  </a:extLst>
                </a:gridCol>
              </a:tblGrid>
              <a:tr h="250833">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0833">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833">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8099">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43" name="Group 96"/>
          <p:cNvGraphicFramePr>
            <a:graphicFrameLocks noGrp="1"/>
          </p:cNvGraphicFramePr>
          <p:nvPr/>
        </p:nvGraphicFramePr>
        <p:xfrm>
          <a:off x="5027054" y="4152814"/>
          <a:ext cx="1689278" cy="1398933"/>
        </p:xfrm>
        <a:graphic>
          <a:graphicData uri="http://schemas.openxmlformats.org/drawingml/2006/table">
            <a:tbl>
              <a:tblPr/>
              <a:tblGrid>
                <a:gridCol w="1689278">
                  <a:extLst>
                    <a:ext uri="{9D8B030D-6E8A-4147-A177-3AD203B41FA5}">
                      <a16:colId xmlns:a16="http://schemas.microsoft.com/office/drawing/2014/main" val="20000"/>
                    </a:ext>
                  </a:extLst>
                </a:gridCol>
              </a:tblGrid>
              <a:tr h="374913">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0805">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0805">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4" name="Text Box 108"/>
          <p:cNvSpPr txBox="1">
            <a:spLocks noChangeArrowheads="1"/>
          </p:cNvSpPr>
          <p:nvPr/>
        </p:nvSpPr>
        <p:spPr bwMode="auto">
          <a:xfrm>
            <a:off x="5027054" y="1925045"/>
            <a:ext cx="178050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400" dirty="0">
                <a:solidFill>
                  <a:srgbClr val="FF0000"/>
                </a:solidFill>
                <a:latin typeface="+mn-ea"/>
                <a:ea typeface="+mn-ea"/>
              </a:rPr>
              <a:t>就绪</a:t>
            </a:r>
            <a:r>
              <a:rPr lang="zh-CN" altLang="en-US" sz="2400" dirty="0">
                <a:latin typeface="+mn-ea"/>
                <a:ea typeface="+mn-ea"/>
              </a:rPr>
              <a:t>索引表</a:t>
            </a:r>
          </a:p>
        </p:txBody>
      </p:sp>
      <p:sp>
        <p:nvSpPr>
          <p:cNvPr id="45" name="Text Box 109"/>
          <p:cNvSpPr txBox="1">
            <a:spLocks noChangeArrowheads="1"/>
          </p:cNvSpPr>
          <p:nvPr/>
        </p:nvSpPr>
        <p:spPr bwMode="auto">
          <a:xfrm>
            <a:off x="4931535" y="3671046"/>
            <a:ext cx="200481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400" dirty="0">
                <a:solidFill>
                  <a:srgbClr val="0000FF"/>
                </a:solidFill>
                <a:latin typeface="+mn-ea"/>
                <a:ea typeface="+mn-ea"/>
              </a:rPr>
              <a:t>阻塞</a:t>
            </a:r>
            <a:r>
              <a:rPr lang="zh-CN" altLang="en-US" sz="2400" dirty="0">
                <a:latin typeface="+mn-ea"/>
                <a:ea typeface="+mn-ea"/>
              </a:rPr>
              <a:t>索引表</a:t>
            </a:r>
          </a:p>
        </p:txBody>
      </p:sp>
      <p:sp>
        <p:nvSpPr>
          <p:cNvPr id="46" name="Line 110"/>
          <p:cNvSpPr>
            <a:spLocks noChangeShapeType="1"/>
          </p:cNvSpPr>
          <p:nvPr/>
        </p:nvSpPr>
        <p:spPr bwMode="auto">
          <a:xfrm>
            <a:off x="6489879" y="2447166"/>
            <a:ext cx="1909291" cy="492962"/>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7" name="Line 111"/>
          <p:cNvSpPr>
            <a:spLocks noChangeShapeType="1"/>
          </p:cNvSpPr>
          <p:nvPr/>
        </p:nvSpPr>
        <p:spPr bwMode="auto">
          <a:xfrm>
            <a:off x="6463584" y="2763329"/>
            <a:ext cx="1935587" cy="602608"/>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8" name="Line 112"/>
          <p:cNvSpPr>
            <a:spLocks noChangeShapeType="1"/>
          </p:cNvSpPr>
          <p:nvPr/>
        </p:nvSpPr>
        <p:spPr bwMode="auto">
          <a:xfrm flipV="1">
            <a:off x="6527976" y="2507330"/>
            <a:ext cx="1825582" cy="621222"/>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9" name="Line 113"/>
          <p:cNvSpPr>
            <a:spLocks noChangeShapeType="1"/>
          </p:cNvSpPr>
          <p:nvPr/>
        </p:nvSpPr>
        <p:spPr bwMode="auto">
          <a:xfrm>
            <a:off x="6716331" y="4404184"/>
            <a:ext cx="1606639" cy="544099"/>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50" name="Line 114"/>
          <p:cNvSpPr>
            <a:spLocks noChangeShapeType="1"/>
          </p:cNvSpPr>
          <p:nvPr/>
        </p:nvSpPr>
        <p:spPr bwMode="auto">
          <a:xfrm flipV="1">
            <a:off x="6640130" y="4454073"/>
            <a:ext cx="1667816" cy="277976"/>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51" name="Line 115"/>
          <p:cNvSpPr>
            <a:spLocks noChangeShapeType="1"/>
          </p:cNvSpPr>
          <p:nvPr/>
        </p:nvSpPr>
        <p:spPr bwMode="auto">
          <a:xfrm flipV="1">
            <a:off x="6716330" y="3851409"/>
            <a:ext cx="1739453" cy="1136639"/>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17750" y="1209675"/>
            <a:ext cx="4064000" cy="460375"/>
          </a:xfrm>
          <a:prstGeom prst="rect">
            <a:avLst/>
          </a:prstGeom>
          <a:noFill/>
        </p:spPr>
        <p:txBody>
          <a:bodyPr wrap="square" rtlCol="0">
            <a:spAutoFit/>
          </a:bodyPr>
          <a:lstStyle/>
          <a:p>
            <a:r>
              <a:rPr lang="zh-CN" altLang="en-US" sz="2400"/>
              <a:t>问题</a:t>
            </a:r>
            <a:r>
              <a:rPr lang="en-US" altLang="zh-CN" sz="2400"/>
              <a:t>1.</a:t>
            </a:r>
            <a:r>
              <a:rPr lang="zh-CN" altLang="en-US" sz="2400"/>
              <a:t>进程的概念。</a:t>
            </a:r>
          </a:p>
        </p:txBody>
      </p:sp>
      <p:sp>
        <p:nvSpPr>
          <p:cNvPr id="3" name="文本框 2"/>
          <p:cNvSpPr txBox="1"/>
          <p:nvPr/>
        </p:nvSpPr>
        <p:spPr>
          <a:xfrm>
            <a:off x="2317750" y="2330450"/>
            <a:ext cx="8224520" cy="460375"/>
          </a:xfrm>
          <a:prstGeom prst="rect">
            <a:avLst/>
          </a:prstGeom>
          <a:noFill/>
        </p:spPr>
        <p:txBody>
          <a:bodyPr wrap="square" rtlCol="0">
            <a:spAutoFit/>
          </a:bodyPr>
          <a:lstStyle/>
          <a:p>
            <a:r>
              <a:rPr lang="zh-CN" altLang="en-US" sz="2400"/>
              <a:t>问题</a:t>
            </a:r>
            <a:r>
              <a:rPr lang="en-US" altLang="zh-CN" sz="2400"/>
              <a:t>2.</a:t>
            </a:r>
            <a:r>
              <a:rPr lang="zh-CN" altLang="en-US" sz="2400"/>
              <a:t>进程的特征：动态性、并发性、独立性、异步性。</a:t>
            </a:r>
          </a:p>
        </p:txBody>
      </p:sp>
      <p:sp>
        <p:nvSpPr>
          <p:cNvPr id="4" name="文本框 3"/>
          <p:cNvSpPr txBox="1"/>
          <p:nvPr/>
        </p:nvSpPr>
        <p:spPr>
          <a:xfrm>
            <a:off x="2317750" y="3681730"/>
            <a:ext cx="7641590" cy="828675"/>
          </a:xfrm>
          <a:prstGeom prst="rect">
            <a:avLst/>
          </a:prstGeom>
          <a:noFill/>
        </p:spPr>
        <p:txBody>
          <a:bodyPr wrap="square" rtlCol="0">
            <a:noAutofit/>
          </a:bodyPr>
          <a:lstStyle/>
          <a:p>
            <a:r>
              <a:rPr lang="zh-CN" altLang="en-US" sz="2400"/>
              <a:t>问题</a:t>
            </a:r>
            <a:r>
              <a:rPr lang="en-US" altLang="zh-CN" sz="2400"/>
              <a:t>3.</a:t>
            </a:r>
            <a:r>
              <a:rPr lang="zh-CN" altLang="en-US" sz="2400"/>
              <a:t>进程控制块的作用，包含哪些内容？</a:t>
            </a:r>
          </a:p>
        </p:txBody>
      </p:sp>
      <p:sp>
        <p:nvSpPr>
          <p:cNvPr id="5" name="文本框 4"/>
          <p:cNvSpPr txBox="1"/>
          <p:nvPr/>
        </p:nvSpPr>
        <p:spPr>
          <a:xfrm>
            <a:off x="2317750" y="4909820"/>
            <a:ext cx="4064000" cy="460375"/>
          </a:xfrm>
          <a:prstGeom prst="rect">
            <a:avLst/>
          </a:prstGeom>
          <a:noFill/>
        </p:spPr>
        <p:txBody>
          <a:bodyPr wrap="square" rtlCol="0">
            <a:spAutoFit/>
          </a:bodyPr>
          <a:lstStyle/>
          <a:p>
            <a:r>
              <a:rPr lang="zh-CN" altLang="en-US" sz="2400"/>
              <a:t>问题</a:t>
            </a:r>
            <a:r>
              <a:rPr lang="en-US" altLang="zh-CN" sz="2400"/>
              <a:t>4.</a:t>
            </a:r>
            <a:r>
              <a:rPr lang="zh-CN" altLang="en-US" sz="2400"/>
              <a:t>进程的三种组织方式。</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solidFill>
                  <a:srgbClr val="0000FF"/>
                </a:solidFill>
                <a:latin typeface="+mj-ea"/>
              </a:rPr>
              <a:t>2.3 </a:t>
            </a:r>
            <a:r>
              <a:rPr lang="zh-CN" altLang="en-US" sz="2400" dirty="0">
                <a:solidFill>
                  <a:srgbClr val="0000FF"/>
                </a:solidFill>
                <a:latin typeface="+mj-ea"/>
              </a:rPr>
              <a:t>进程控制</a:t>
            </a: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803161" y="3346014"/>
            <a:ext cx="10845800" cy="2533182"/>
            <a:chOff x="673100" y="1929384"/>
            <a:chExt cx="10845800" cy="2533182"/>
          </a:xfrm>
        </p:grpSpPr>
        <p:sp>
          <p:nvSpPr>
            <p:cNvPr id="32"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5"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0"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1"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2"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3" name="ï$1iḍe"/>
            <p:cNvSpPr txBox="1"/>
            <p:nvPr>
              <p:custDataLst>
                <p:tags r:id="rId7"/>
              </p:custDataLst>
            </p:nvPr>
          </p:nvSpPr>
          <p:spPr>
            <a:xfrm>
              <a:off x="67310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进程创建</a:t>
              </a:r>
            </a:p>
          </p:txBody>
        </p:sp>
        <p:sp>
          <p:nvSpPr>
            <p:cNvPr id="45" name="íṩ1ïḑe"/>
            <p:cNvSpPr txBox="1"/>
            <p:nvPr>
              <p:custDataLst>
                <p:tags r:id="rId8"/>
              </p:custDataLst>
            </p:nvPr>
          </p:nvSpPr>
          <p:spPr>
            <a:xfrm>
              <a:off x="350294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进程终止</a:t>
              </a:r>
            </a:p>
          </p:txBody>
        </p:sp>
        <p:sp>
          <p:nvSpPr>
            <p:cNvPr id="46" name="ïsḻiďê"/>
            <p:cNvSpPr txBox="1"/>
            <p:nvPr>
              <p:custDataLst>
                <p:tags r:id="rId9"/>
              </p:custDataLst>
            </p:nvPr>
          </p:nvSpPr>
          <p:spPr>
            <a:xfrm>
              <a:off x="633278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进程阻塞与唤醒</a:t>
              </a:r>
            </a:p>
          </p:txBody>
        </p:sp>
        <p:sp>
          <p:nvSpPr>
            <p:cNvPr id="47" name="isḷiḋé"/>
            <p:cNvSpPr txBox="1"/>
            <p:nvPr>
              <p:custDataLst>
                <p:tags r:id="rId10"/>
              </p:custDataLst>
            </p:nvPr>
          </p:nvSpPr>
          <p:spPr>
            <a:xfrm>
              <a:off x="916262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进程挂起与激活</a:t>
              </a:r>
            </a:p>
          </p:txBody>
        </p:sp>
        <p:sp>
          <p:nvSpPr>
            <p:cNvPr id="48" name="îṣḻidé"/>
            <p:cNvSpPr txBox="1"/>
            <p:nvPr>
              <p:custDataLst>
                <p:tags r:id="rId11"/>
              </p:custDataLst>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49" name="ïŝ1ïḋè"/>
            <p:cNvSpPr txBox="1"/>
            <p:nvPr>
              <p:custDataLst>
                <p:tags r:id="rId12"/>
              </p:custDataLst>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50" name="í$lîdé"/>
            <p:cNvSpPr txBox="1"/>
            <p:nvPr>
              <p:custDataLst>
                <p:tags r:id="rId13"/>
              </p:custDataLst>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51" name="išḻïďè"/>
            <p:cNvSpPr txBox="1"/>
            <p:nvPr>
              <p:custDataLst>
                <p:tags r:id="rId14"/>
              </p:custDataLst>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grpSp>
      <p:sp>
        <p:nvSpPr>
          <p:cNvPr id="2" name="文本框 1"/>
          <p:cNvSpPr txBox="1"/>
          <p:nvPr/>
        </p:nvSpPr>
        <p:spPr>
          <a:xfrm>
            <a:off x="1211580" y="1404620"/>
            <a:ext cx="9069705" cy="552450"/>
          </a:xfrm>
          <a:prstGeom prst="rect">
            <a:avLst/>
          </a:prstGeom>
          <a:noFill/>
        </p:spPr>
        <p:txBody>
          <a:bodyPr wrap="square" rtlCol="0">
            <a:noAutofit/>
          </a:bodyPr>
          <a:lstStyle/>
          <a:p>
            <a:r>
              <a:rPr lang="zh-CN" altLang="en-US" sz="2400"/>
              <a:t>问题</a:t>
            </a:r>
            <a:r>
              <a:rPr lang="en-US" altLang="zh-CN" sz="2400"/>
              <a:t>1</a:t>
            </a:r>
            <a:r>
              <a:rPr lang="zh-CN" altLang="en-US" sz="2400"/>
              <a:t>：解释如下进程管理操作。</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进程控制</a:t>
            </a:r>
          </a:p>
        </p:txBody>
      </p:sp>
      <p:sp>
        <p:nvSpPr>
          <p:cNvPr id="26" name="内容占位符 2"/>
          <p:cNvSpPr txBox="1"/>
          <p:nvPr/>
        </p:nvSpPr>
        <p:spPr>
          <a:xfrm>
            <a:off x="1321435" y="1170940"/>
            <a:ext cx="9582150" cy="15989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Clr>
                <a:srgbClr val="FF0000"/>
              </a:buClr>
              <a:buFont typeface="Wingdings" panose="05000000000000000000" pitchFamily="2" charset="2"/>
              <a:buChar char="n"/>
            </a:pPr>
            <a:r>
              <a:rPr lang="zh-CN" altLang="en-US" sz="2400" dirty="0"/>
              <a:t>进程管理最基本的功能</a:t>
            </a:r>
          </a:p>
          <a:p>
            <a:pPr>
              <a:lnSpc>
                <a:spcPct val="150000"/>
              </a:lnSpc>
              <a:spcBef>
                <a:spcPts val="0"/>
              </a:spcBef>
              <a:buClr>
                <a:srgbClr val="FF0000"/>
              </a:buClr>
              <a:buFont typeface="Wingdings" panose="05000000000000000000" pitchFamily="2" charset="2"/>
              <a:buChar char="n"/>
            </a:pPr>
            <a:r>
              <a:rPr lang="zh-CN" altLang="en-US" sz="2400" dirty="0"/>
              <a:t>一般由</a:t>
            </a:r>
            <a:r>
              <a:rPr lang="en-US" altLang="zh-CN" sz="2400" dirty="0"/>
              <a:t>OS</a:t>
            </a:r>
            <a:r>
              <a:rPr lang="zh-CN" altLang="en-US" sz="2400" dirty="0"/>
              <a:t>内核中的原语实现：原语是一段程序，要么都执行要么都不执行。原子操作。</a:t>
            </a:r>
            <a:endParaRPr lang="en-US" altLang="zh-CN" sz="2400" dirty="0"/>
          </a:p>
          <a:p>
            <a:pPr>
              <a:lnSpc>
                <a:spcPct val="150000"/>
              </a:lnSpc>
              <a:spcBef>
                <a:spcPts val="0"/>
              </a:spcBef>
              <a:buClr>
                <a:srgbClr val="FF0000"/>
              </a:buClr>
              <a:buFont typeface="Wingdings" panose="05000000000000000000" pitchFamily="2" charset="2"/>
              <a:buChar char="n"/>
            </a:pPr>
            <a:r>
              <a:rPr lang="zh-CN" altLang="en-US" sz="2400" dirty="0">
                <a:solidFill>
                  <a:srgbClr val="FF0000"/>
                </a:solidFill>
              </a:rPr>
              <a:t>包括：</a:t>
            </a:r>
          </a:p>
        </p:txBody>
      </p:sp>
      <p:grpSp>
        <p:nvGrpSpPr>
          <p:cNvPr id="2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803161" y="3346014"/>
            <a:ext cx="10845800" cy="2533182"/>
            <a:chOff x="673100" y="1929384"/>
            <a:chExt cx="10845800" cy="2533182"/>
          </a:xfrm>
        </p:grpSpPr>
        <p:sp>
          <p:nvSpPr>
            <p:cNvPr id="32"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5"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0"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1"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2"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3" name="ï$1iḍe"/>
            <p:cNvSpPr txBox="1"/>
            <p:nvPr>
              <p:custDataLst>
                <p:tags r:id="rId7"/>
              </p:custDataLst>
            </p:nvPr>
          </p:nvSpPr>
          <p:spPr>
            <a:xfrm>
              <a:off x="67310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进程创建</a:t>
              </a:r>
            </a:p>
          </p:txBody>
        </p:sp>
        <p:sp>
          <p:nvSpPr>
            <p:cNvPr id="45" name="íṩ1ïḑe"/>
            <p:cNvSpPr txBox="1"/>
            <p:nvPr>
              <p:custDataLst>
                <p:tags r:id="rId8"/>
              </p:custDataLst>
            </p:nvPr>
          </p:nvSpPr>
          <p:spPr>
            <a:xfrm>
              <a:off x="350294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进程终止</a:t>
              </a:r>
            </a:p>
          </p:txBody>
        </p:sp>
        <p:sp>
          <p:nvSpPr>
            <p:cNvPr id="46" name="ïsḻiďê"/>
            <p:cNvSpPr txBox="1"/>
            <p:nvPr>
              <p:custDataLst>
                <p:tags r:id="rId9"/>
              </p:custDataLst>
            </p:nvPr>
          </p:nvSpPr>
          <p:spPr>
            <a:xfrm>
              <a:off x="633278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进程阻塞与唤醒</a:t>
              </a:r>
            </a:p>
          </p:txBody>
        </p:sp>
        <p:sp>
          <p:nvSpPr>
            <p:cNvPr id="47" name="isḷiḋé"/>
            <p:cNvSpPr txBox="1"/>
            <p:nvPr>
              <p:custDataLst>
                <p:tags r:id="rId10"/>
              </p:custDataLst>
            </p:nvPr>
          </p:nvSpPr>
          <p:spPr>
            <a:xfrm>
              <a:off x="916262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进程挂起与激活</a:t>
              </a:r>
            </a:p>
          </p:txBody>
        </p:sp>
        <p:sp>
          <p:nvSpPr>
            <p:cNvPr id="48" name="îṣḻidé"/>
            <p:cNvSpPr txBox="1"/>
            <p:nvPr>
              <p:custDataLst>
                <p:tags r:id="rId11"/>
              </p:custDataLst>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49" name="ïŝ1ïḋè"/>
            <p:cNvSpPr txBox="1"/>
            <p:nvPr>
              <p:custDataLst>
                <p:tags r:id="rId12"/>
              </p:custDataLst>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50" name="í$lîdé"/>
            <p:cNvSpPr txBox="1"/>
            <p:nvPr>
              <p:custDataLst>
                <p:tags r:id="rId13"/>
              </p:custDataLst>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51" name="išḻïďè"/>
            <p:cNvSpPr txBox="1"/>
            <p:nvPr>
              <p:custDataLst>
                <p:tags r:id="rId14"/>
              </p:custDataLst>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进程创建</a:t>
            </a:r>
          </a:p>
        </p:txBody>
      </p:sp>
      <p:sp>
        <p:nvSpPr>
          <p:cNvPr id="26" name="内容占位符 2"/>
          <p:cNvSpPr txBox="1"/>
          <p:nvPr/>
        </p:nvSpPr>
        <p:spPr>
          <a:xfrm>
            <a:off x="669925" y="1402521"/>
            <a:ext cx="9909168" cy="3349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Wingdings" panose="05000000000000000000" pitchFamily="2" charset="2"/>
              <a:buChar char="n"/>
            </a:pPr>
            <a:r>
              <a:rPr lang="zh-CN" altLang="en-US" sz="2400" dirty="0"/>
              <a:t>进程具有层次结构</a:t>
            </a:r>
            <a:r>
              <a:rPr lang="en-US" altLang="zh-CN" sz="2400" dirty="0"/>
              <a:t>-</a:t>
            </a:r>
            <a:r>
              <a:rPr lang="zh-CN" altLang="en-US" sz="2400" dirty="0"/>
              <a:t>进程图（家族树）</a:t>
            </a:r>
          </a:p>
          <a:p>
            <a:pPr indent="-467995">
              <a:lnSpc>
                <a:spcPct val="150000"/>
              </a:lnSpc>
              <a:spcBef>
                <a:spcPts val="0"/>
              </a:spcBef>
              <a:buClr>
                <a:srgbClr val="FF0000"/>
              </a:buClr>
              <a:buFont typeface="Wingdings" panose="05000000000000000000" pitchFamily="2" charset="2"/>
              <a:buChar char="n"/>
            </a:pPr>
            <a:r>
              <a:rPr lang="zh-CN" altLang="en-US" sz="2400" dirty="0"/>
              <a:t>引起进程创建的事件</a:t>
            </a:r>
          </a:p>
          <a:p>
            <a:pPr lvl="1" indent="-467995">
              <a:lnSpc>
                <a:spcPct val="150000"/>
              </a:lnSpc>
              <a:spcBef>
                <a:spcPts val="0"/>
              </a:spcBef>
              <a:buClr>
                <a:srgbClr val="FF0000"/>
              </a:buClr>
              <a:buFont typeface="Wingdings" panose="05000000000000000000" pitchFamily="2" charset="2"/>
              <a:buChar char="Ø"/>
            </a:pPr>
            <a:r>
              <a:rPr lang="zh-CN" altLang="en-US" sz="2200" dirty="0"/>
              <a:t>用户登录、作业调度、提供服务、应用请求</a:t>
            </a:r>
          </a:p>
          <a:p>
            <a:pPr indent="-467995">
              <a:lnSpc>
                <a:spcPct val="150000"/>
              </a:lnSpc>
              <a:spcBef>
                <a:spcPts val="0"/>
              </a:spcBef>
              <a:buClr>
                <a:srgbClr val="FF0000"/>
              </a:buClr>
              <a:buFont typeface="Wingdings" panose="05000000000000000000" pitchFamily="2" charset="2"/>
              <a:buChar char="n"/>
            </a:pPr>
            <a:r>
              <a:rPr lang="zh-CN" altLang="en-US" sz="2400" dirty="0"/>
              <a:t>进程图</a:t>
            </a:r>
          </a:p>
          <a:p>
            <a:pPr lvl="1" indent="-467995">
              <a:lnSpc>
                <a:spcPct val="150000"/>
              </a:lnSpc>
              <a:spcBef>
                <a:spcPts val="0"/>
              </a:spcBef>
              <a:buClr>
                <a:srgbClr val="FF0000"/>
              </a:buClr>
              <a:buFont typeface="Wingdings" panose="05000000000000000000" pitchFamily="2" charset="2"/>
              <a:buChar char="Ø"/>
            </a:pPr>
            <a:r>
              <a:rPr lang="zh-CN" altLang="en-US" sz="2200" dirty="0"/>
              <a:t>描述进程家族关系的有向树</a:t>
            </a:r>
            <a:endParaRPr lang="en-US" altLang="zh-CN" sz="2200" dirty="0"/>
          </a:p>
          <a:p>
            <a:pPr marL="217805" lvl="1" indent="0">
              <a:lnSpc>
                <a:spcPct val="150000"/>
              </a:lnSpc>
              <a:spcBef>
                <a:spcPts val="0"/>
              </a:spcBef>
              <a:buClr>
                <a:srgbClr val="FF0000"/>
              </a:buClr>
              <a:buNone/>
            </a:pPr>
            <a:endParaRPr lang="zh-CN" altLang="en-US" sz="2200" dirty="0"/>
          </a:p>
          <a:p>
            <a:pPr indent="-467995">
              <a:lnSpc>
                <a:spcPct val="150000"/>
              </a:lnSpc>
              <a:spcBef>
                <a:spcPts val="0"/>
              </a:spcBef>
              <a:buClr>
                <a:srgbClr val="FF0000"/>
              </a:buClr>
              <a:buFont typeface="Wingdings" panose="05000000000000000000" pitchFamily="2" charset="2"/>
              <a:buChar char="n"/>
            </a:pPr>
            <a:r>
              <a:rPr lang="zh-CN" altLang="en-US" sz="2400" dirty="0">
                <a:solidFill>
                  <a:srgbClr val="FF0000"/>
                </a:solidFill>
              </a:rPr>
              <a:t>进程创建过程：</a:t>
            </a:r>
          </a:p>
        </p:txBody>
      </p:sp>
      <p:grpSp>
        <p:nvGrpSpPr>
          <p:cNvPr id="29" name="Group 6"/>
          <p:cNvGrpSpPr/>
          <p:nvPr/>
        </p:nvGrpSpPr>
        <p:grpSpPr bwMode="auto">
          <a:xfrm>
            <a:off x="6568383" y="1402521"/>
            <a:ext cx="5033828" cy="2848087"/>
            <a:chOff x="2400" y="816"/>
            <a:chExt cx="2736" cy="2064"/>
          </a:xfrm>
        </p:grpSpPr>
        <p:sp>
          <p:nvSpPr>
            <p:cNvPr id="32" name="Oval 7"/>
            <p:cNvSpPr>
              <a:spLocks noChangeArrowheads="1"/>
            </p:cNvSpPr>
            <p:nvPr/>
          </p:nvSpPr>
          <p:spPr bwMode="auto">
            <a:xfrm>
              <a:off x="3600" y="816"/>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A</a:t>
              </a:r>
            </a:p>
          </p:txBody>
        </p:sp>
        <p:sp>
          <p:nvSpPr>
            <p:cNvPr id="35" name="Oval 8"/>
            <p:cNvSpPr>
              <a:spLocks noChangeArrowheads="1"/>
            </p:cNvSpPr>
            <p:nvPr/>
          </p:nvSpPr>
          <p:spPr bwMode="auto">
            <a:xfrm>
              <a:off x="2928" y="124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B</a:t>
              </a:r>
            </a:p>
          </p:txBody>
        </p:sp>
        <p:sp>
          <p:nvSpPr>
            <p:cNvPr id="40" name="Oval 9"/>
            <p:cNvSpPr>
              <a:spLocks noChangeArrowheads="1"/>
            </p:cNvSpPr>
            <p:nvPr/>
          </p:nvSpPr>
          <p:spPr bwMode="auto">
            <a:xfrm>
              <a:off x="4368" y="124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C</a:t>
              </a:r>
            </a:p>
          </p:txBody>
        </p:sp>
        <p:sp>
          <p:nvSpPr>
            <p:cNvPr id="41" name="Oval 10"/>
            <p:cNvSpPr>
              <a:spLocks noChangeArrowheads="1"/>
            </p:cNvSpPr>
            <p:nvPr/>
          </p:nvSpPr>
          <p:spPr bwMode="auto">
            <a:xfrm>
              <a:off x="2592"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D</a:t>
              </a:r>
            </a:p>
          </p:txBody>
        </p:sp>
        <p:sp>
          <p:nvSpPr>
            <p:cNvPr id="42" name="Oval 11"/>
            <p:cNvSpPr>
              <a:spLocks noChangeArrowheads="1"/>
            </p:cNvSpPr>
            <p:nvPr/>
          </p:nvSpPr>
          <p:spPr bwMode="auto">
            <a:xfrm>
              <a:off x="3312"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E</a:t>
              </a:r>
            </a:p>
          </p:txBody>
        </p:sp>
        <p:sp>
          <p:nvSpPr>
            <p:cNvPr id="43" name="Oval 12"/>
            <p:cNvSpPr>
              <a:spLocks noChangeArrowheads="1"/>
            </p:cNvSpPr>
            <p:nvPr/>
          </p:nvSpPr>
          <p:spPr bwMode="auto">
            <a:xfrm>
              <a:off x="3888"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F</a:t>
              </a:r>
            </a:p>
          </p:txBody>
        </p:sp>
        <p:sp>
          <p:nvSpPr>
            <p:cNvPr id="44" name="Oval 13"/>
            <p:cNvSpPr>
              <a:spLocks noChangeArrowheads="1"/>
            </p:cNvSpPr>
            <p:nvPr/>
          </p:nvSpPr>
          <p:spPr bwMode="auto">
            <a:xfrm>
              <a:off x="4368"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dirty="0">
                  <a:latin typeface="Arial" panose="020B0604020202020204" pitchFamily="34" charset="0"/>
                </a:rPr>
                <a:t>G</a:t>
              </a:r>
            </a:p>
          </p:txBody>
        </p:sp>
        <p:sp>
          <p:nvSpPr>
            <p:cNvPr id="45" name="Oval 14"/>
            <p:cNvSpPr>
              <a:spLocks noChangeArrowheads="1"/>
            </p:cNvSpPr>
            <p:nvPr/>
          </p:nvSpPr>
          <p:spPr bwMode="auto">
            <a:xfrm>
              <a:off x="4848"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dirty="0">
                  <a:latin typeface="Arial" panose="020B0604020202020204" pitchFamily="34" charset="0"/>
                </a:rPr>
                <a:t>H</a:t>
              </a:r>
            </a:p>
          </p:txBody>
        </p:sp>
        <p:sp>
          <p:nvSpPr>
            <p:cNvPr id="46" name="Oval 15"/>
            <p:cNvSpPr>
              <a:spLocks noChangeArrowheads="1"/>
            </p:cNvSpPr>
            <p:nvPr/>
          </p:nvSpPr>
          <p:spPr bwMode="auto">
            <a:xfrm>
              <a:off x="4176" y="2544"/>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L</a:t>
              </a:r>
            </a:p>
          </p:txBody>
        </p:sp>
        <p:sp>
          <p:nvSpPr>
            <p:cNvPr id="47" name="Oval 16"/>
            <p:cNvSpPr>
              <a:spLocks noChangeArrowheads="1"/>
            </p:cNvSpPr>
            <p:nvPr/>
          </p:nvSpPr>
          <p:spPr bwMode="auto">
            <a:xfrm>
              <a:off x="4608" y="2544"/>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M</a:t>
              </a:r>
            </a:p>
          </p:txBody>
        </p:sp>
        <p:sp>
          <p:nvSpPr>
            <p:cNvPr id="48" name="Oval 17"/>
            <p:cNvSpPr>
              <a:spLocks noChangeArrowheads="1"/>
            </p:cNvSpPr>
            <p:nvPr/>
          </p:nvSpPr>
          <p:spPr bwMode="auto">
            <a:xfrm>
              <a:off x="2400" y="2592"/>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I</a:t>
              </a:r>
            </a:p>
          </p:txBody>
        </p:sp>
        <p:sp>
          <p:nvSpPr>
            <p:cNvPr id="49" name="Oval 18"/>
            <p:cNvSpPr>
              <a:spLocks noChangeArrowheads="1"/>
            </p:cNvSpPr>
            <p:nvPr/>
          </p:nvSpPr>
          <p:spPr bwMode="auto">
            <a:xfrm>
              <a:off x="2880" y="2592"/>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J</a:t>
              </a:r>
            </a:p>
          </p:txBody>
        </p:sp>
        <p:sp>
          <p:nvSpPr>
            <p:cNvPr id="50" name="Oval 19"/>
            <p:cNvSpPr>
              <a:spLocks noChangeArrowheads="1"/>
            </p:cNvSpPr>
            <p:nvPr/>
          </p:nvSpPr>
          <p:spPr bwMode="auto">
            <a:xfrm>
              <a:off x="3552" y="2592"/>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K</a:t>
              </a:r>
            </a:p>
          </p:txBody>
        </p:sp>
        <p:cxnSp>
          <p:nvCxnSpPr>
            <p:cNvPr id="51" name="AutoShape 20"/>
            <p:cNvCxnSpPr>
              <a:cxnSpLocks noChangeShapeType="1"/>
              <a:stCxn id="32" idx="3"/>
              <a:endCxn id="35" idx="7"/>
            </p:cNvCxnSpPr>
            <p:nvPr/>
          </p:nvCxnSpPr>
          <p:spPr bwMode="auto">
            <a:xfrm flipH="1">
              <a:off x="3174" y="1062"/>
              <a:ext cx="468" cy="22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2" name="AutoShape 21"/>
            <p:cNvCxnSpPr>
              <a:cxnSpLocks noChangeShapeType="1"/>
              <a:stCxn id="32" idx="5"/>
              <a:endCxn id="40" idx="1"/>
            </p:cNvCxnSpPr>
            <p:nvPr/>
          </p:nvCxnSpPr>
          <p:spPr bwMode="auto">
            <a:xfrm>
              <a:off x="3846" y="1062"/>
              <a:ext cx="564" cy="22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3" name="AutoShape 22"/>
            <p:cNvCxnSpPr>
              <a:cxnSpLocks noChangeShapeType="1"/>
              <a:stCxn id="35" idx="3"/>
              <a:endCxn id="41" idx="0"/>
            </p:cNvCxnSpPr>
            <p:nvPr/>
          </p:nvCxnSpPr>
          <p:spPr bwMode="auto">
            <a:xfrm flipH="1">
              <a:off x="2736" y="1494"/>
              <a:ext cx="234" cy="474"/>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4" name="AutoShape 23"/>
            <p:cNvCxnSpPr>
              <a:cxnSpLocks noChangeShapeType="1"/>
              <a:stCxn id="42" idx="0"/>
              <a:endCxn id="35" idx="5"/>
            </p:cNvCxnSpPr>
            <p:nvPr/>
          </p:nvCxnSpPr>
          <p:spPr bwMode="auto">
            <a:xfrm flipH="1" flipV="1">
              <a:off x="3174" y="1494"/>
              <a:ext cx="282" cy="474"/>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5" name="AutoShape 24"/>
            <p:cNvCxnSpPr>
              <a:cxnSpLocks noChangeShapeType="1"/>
              <a:stCxn id="40" idx="3"/>
              <a:endCxn id="43" idx="0"/>
            </p:cNvCxnSpPr>
            <p:nvPr/>
          </p:nvCxnSpPr>
          <p:spPr bwMode="auto">
            <a:xfrm flipH="1">
              <a:off x="4032" y="1494"/>
              <a:ext cx="378" cy="474"/>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6" name="AutoShape 25"/>
            <p:cNvCxnSpPr>
              <a:cxnSpLocks noChangeShapeType="1"/>
              <a:stCxn id="40" idx="4"/>
              <a:endCxn id="44" idx="0"/>
            </p:cNvCxnSpPr>
            <p:nvPr/>
          </p:nvCxnSpPr>
          <p:spPr bwMode="auto">
            <a:xfrm>
              <a:off x="4512" y="1536"/>
              <a:ext cx="0" cy="432"/>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7" name="AutoShape 26"/>
            <p:cNvCxnSpPr>
              <a:cxnSpLocks noChangeShapeType="1"/>
              <a:stCxn id="40" idx="5"/>
              <a:endCxn id="45" idx="0"/>
            </p:cNvCxnSpPr>
            <p:nvPr/>
          </p:nvCxnSpPr>
          <p:spPr bwMode="auto">
            <a:xfrm>
              <a:off x="4614" y="1494"/>
              <a:ext cx="378" cy="474"/>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8" name="AutoShape 27"/>
            <p:cNvCxnSpPr>
              <a:cxnSpLocks noChangeShapeType="1"/>
              <a:stCxn id="41" idx="3"/>
              <a:endCxn id="48" idx="0"/>
            </p:cNvCxnSpPr>
            <p:nvPr/>
          </p:nvCxnSpPr>
          <p:spPr bwMode="auto">
            <a:xfrm flipH="1">
              <a:off x="2544" y="2214"/>
              <a:ext cx="90" cy="37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9" name="AutoShape 28"/>
            <p:cNvCxnSpPr>
              <a:cxnSpLocks noChangeShapeType="1"/>
              <a:stCxn id="41" idx="5"/>
              <a:endCxn id="49" idx="0"/>
            </p:cNvCxnSpPr>
            <p:nvPr/>
          </p:nvCxnSpPr>
          <p:spPr bwMode="auto">
            <a:xfrm>
              <a:off x="2838" y="2214"/>
              <a:ext cx="186" cy="37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60" name="AutoShape 29"/>
            <p:cNvCxnSpPr>
              <a:cxnSpLocks noChangeShapeType="1"/>
              <a:stCxn id="42" idx="5"/>
              <a:endCxn id="50" idx="0"/>
            </p:cNvCxnSpPr>
            <p:nvPr/>
          </p:nvCxnSpPr>
          <p:spPr bwMode="auto">
            <a:xfrm>
              <a:off x="3558" y="2214"/>
              <a:ext cx="138" cy="37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61" name="AutoShape 30"/>
            <p:cNvCxnSpPr>
              <a:cxnSpLocks noChangeShapeType="1"/>
              <a:stCxn id="44" idx="3"/>
              <a:endCxn id="46" idx="0"/>
            </p:cNvCxnSpPr>
            <p:nvPr/>
          </p:nvCxnSpPr>
          <p:spPr bwMode="auto">
            <a:xfrm flipH="1">
              <a:off x="4320" y="2214"/>
              <a:ext cx="90" cy="330"/>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62" name="AutoShape 31"/>
            <p:cNvCxnSpPr>
              <a:cxnSpLocks noChangeShapeType="1"/>
              <a:stCxn id="44" idx="5"/>
              <a:endCxn id="47" idx="0"/>
            </p:cNvCxnSpPr>
            <p:nvPr/>
          </p:nvCxnSpPr>
          <p:spPr bwMode="auto">
            <a:xfrm>
              <a:off x="4614" y="2214"/>
              <a:ext cx="138" cy="330"/>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grpSp>
      <p:sp>
        <p:nvSpPr>
          <p:cNvPr id="63" name="内容占位符 2"/>
          <p:cNvSpPr txBox="1"/>
          <p:nvPr/>
        </p:nvSpPr>
        <p:spPr>
          <a:xfrm>
            <a:off x="713754" y="5208594"/>
            <a:ext cx="2792468" cy="7696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mj-ea"/>
              <a:buAutoNum type="circleNumDbPlain"/>
            </a:pPr>
            <a:r>
              <a:rPr lang="zh-CN" altLang="en-US" sz="2400" dirty="0"/>
              <a:t>申请空白</a:t>
            </a:r>
            <a:r>
              <a:rPr lang="en-US" altLang="zh-CN" sz="2400" dirty="0"/>
              <a:t>PCB</a:t>
            </a:r>
            <a:r>
              <a:rPr lang="zh-CN" altLang="en-US" sz="2400" dirty="0"/>
              <a:t>；</a:t>
            </a:r>
          </a:p>
        </p:txBody>
      </p:sp>
      <p:sp>
        <p:nvSpPr>
          <p:cNvPr id="64" name="内容占位符 2"/>
          <p:cNvSpPr txBox="1"/>
          <p:nvPr/>
        </p:nvSpPr>
        <p:spPr>
          <a:xfrm>
            <a:off x="3573233" y="5221598"/>
            <a:ext cx="2746256" cy="7566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mj-ea"/>
              <a:buAutoNum type="circleNumDbPlain" startAt="2"/>
            </a:pPr>
            <a:r>
              <a:rPr lang="zh-CN" altLang="en-US" sz="2400" dirty="0"/>
              <a:t>分配所需资源；</a:t>
            </a:r>
          </a:p>
        </p:txBody>
      </p:sp>
      <p:sp>
        <p:nvSpPr>
          <p:cNvPr id="65" name="内容占位符 2"/>
          <p:cNvSpPr txBox="1"/>
          <p:nvPr/>
        </p:nvSpPr>
        <p:spPr>
          <a:xfrm>
            <a:off x="6395499" y="5208594"/>
            <a:ext cx="2528994" cy="8740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mj-ea"/>
              <a:buAutoNum type="circleNumDbPlain" startAt="3"/>
            </a:pPr>
            <a:r>
              <a:rPr lang="zh-CN" altLang="en-US" sz="2400" dirty="0"/>
              <a:t>初始化</a:t>
            </a:r>
            <a:r>
              <a:rPr lang="en-US" altLang="zh-CN" sz="2400" dirty="0"/>
              <a:t>PCB</a:t>
            </a:r>
            <a:r>
              <a:rPr lang="zh-CN" altLang="en-US" sz="2400" dirty="0"/>
              <a:t>；</a:t>
            </a:r>
          </a:p>
        </p:txBody>
      </p:sp>
      <p:sp>
        <p:nvSpPr>
          <p:cNvPr id="66" name="内容占位符 2"/>
          <p:cNvSpPr txBox="1"/>
          <p:nvPr/>
        </p:nvSpPr>
        <p:spPr>
          <a:xfrm>
            <a:off x="9032581" y="5208594"/>
            <a:ext cx="2646904" cy="7566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mj-ea"/>
              <a:buAutoNum type="circleNumDbPlain" startAt="4"/>
            </a:pPr>
            <a:r>
              <a:rPr lang="zh-CN" altLang="en-US" sz="2400" dirty="0"/>
              <a:t>插入就绪队列。</a:t>
            </a:r>
          </a:p>
        </p:txBody>
      </p:sp>
      <p:cxnSp>
        <p:nvCxnSpPr>
          <p:cNvPr id="3" name="直接连接符 2"/>
          <p:cNvCxnSpPr/>
          <p:nvPr/>
        </p:nvCxnSpPr>
        <p:spPr>
          <a:xfrm>
            <a:off x="837127" y="4520485"/>
            <a:ext cx="108440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进程终止</a:t>
            </a:r>
          </a:p>
        </p:txBody>
      </p:sp>
      <p:sp>
        <p:nvSpPr>
          <p:cNvPr id="26" name="内容占位符 2"/>
          <p:cNvSpPr txBox="1"/>
          <p:nvPr/>
        </p:nvSpPr>
        <p:spPr>
          <a:xfrm>
            <a:off x="669925" y="1185867"/>
            <a:ext cx="9178770" cy="12446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Clr>
                <a:srgbClr val="FF0000"/>
              </a:buClr>
              <a:buNone/>
            </a:pPr>
            <a:r>
              <a:rPr lang="zh-CN" altLang="en-US" sz="2400" dirty="0"/>
              <a:t>引起进程终止的事件：</a:t>
            </a:r>
            <a:r>
              <a:rPr lang="zh-CN" altLang="en-US" sz="2200" dirty="0"/>
              <a:t>正常结束、异常结束、外界干预</a:t>
            </a:r>
            <a:endParaRPr lang="en-US" altLang="zh-CN" sz="2200" dirty="0"/>
          </a:p>
          <a:p>
            <a:pPr marL="0" lvl="1" indent="0">
              <a:lnSpc>
                <a:spcPct val="150000"/>
              </a:lnSpc>
              <a:spcBef>
                <a:spcPts val="0"/>
              </a:spcBef>
              <a:buClr>
                <a:srgbClr val="FF0000"/>
              </a:buClr>
              <a:buNone/>
            </a:pPr>
            <a:r>
              <a:rPr lang="zh-CN" altLang="en-US" sz="2200" dirty="0">
                <a:solidFill>
                  <a:srgbClr val="FF0000"/>
                </a:solidFill>
              </a:rPr>
              <a:t>进程的终止过程：</a:t>
            </a:r>
          </a:p>
        </p:txBody>
      </p:sp>
      <p:sp>
        <p:nvSpPr>
          <p:cNvPr id="29" name="îşļïďè"/>
          <p:cNvSpPr/>
          <p:nvPr/>
        </p:nvSpPr>
        <p:spPr>
          <a:xfrm>
            <a:off x="669926" y="5624259"/>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5</a:t>
            </a:r>
          </a:p>
        </p:txBody>
      </p:sp>
      <p:sp>
        <p:nvSpPr>
          <p:cNvPr id="32" name="îšḷîḑé"/>
          <p:cNvSpPr txBox="1"/>
          <p:nvPr/>
        </p:nvSpPr>
        <p:spPr>
          <a:xfrm>
            <a:off x="1294274" y="5737594"/>
            <a:ext cx="6033805" cy="430545"/>
          </a:xfrm>
          <a:prstGeom prst="rect">
            <a:avLst/>
          </a:prstGeom>
          <a:noFill/>
        </p:spPr>
        <p:txBody>
          <a:bodyPr wrap="square" lIns="91440" tIns="45720" rIns="91440" bIns="45720" anchor="b" anchorCtr="0">
            <a:noAutofit/>
          </a:bodyPr>
          <a:lstStyle/>
          <a:p>
            <a:r>
              <a:rPr lang="zh-CN" altLang="en-US" sz="2000" dirty="0"/>
              <a:t>将被终止进程（</a:t>
            </a:r>
            <a:r>
              <a:rPr lang="en-US" altLang="zh-CN" sz="2000" dirty="0"/>
              <a:t>PCB</a:t>
            </a:r>
            <a:r>
              <a:rPr lang="zh-CN" altLang="en-US" sz="2000" dirty="0"/>
              <a:t>）从所在</a:t>
            </a:r>
            <a:r>
              <a:rPr lang="zh-CN" altLang="en-US" sz="2000" dirty="0">
                <a:solidFill>
                  <a:srgbClr val="FF0000"/>
                </a:solidFill>
              </a:rPr>
              <a:t>队列中移去</a:t>
            </a:r>
            <a:r>
              <a:rPr lang="zh-CN" altLang="en-US" sz="2000" dirty="0"/>
              <a:t>。</a:t>
            </a:r>
          </a:p>
        </p:txBody>
      </p:sp>
      <p:sp>
        <p:nvSpPr>
          <p:cNvPr id="35" name="işlíḋé"/>
          <p:cNvSpPr/>
          <p:nvPr/>
        </p:nvSpPr>
        <p:spPr>
          <a:xfrm>
            <a:off x="675365" y="4931301"/>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4</a:t>
            </a:r>
          </a:p>
        </p:txBody>
      </p:sp>
      <p:sp>
        <p:nvSpPr>
          <p:cNvPr id="40" name="iṥlïḋè"/>
          <p:cNvSpPr txBox="1"/>
          <p:nvPr/>
        </p:nvSpPr>
        <p:spPr>
          <a:xfrm>
            <a:off x="1294274" y="4929680"/>
            <a:ext cx="9948982" cy="518082"/>
          </a:xfrm>
          <a:prstGeom prst="rect">
            <a:avLst/>
          </a:prstGeom>
          <a:noFill/>
        </p:spPr>
        <p:txBody>
          <a:bodyPr wrap="square" lIns="91440" tIns="45720" rIns="91440" bIns="45720" anchor="b" anchorCtr="0">
            <a:noAutofit/>
          </a:bodyPr>
          <a:lstStyle/>
          <a:p>
            <a:pPr>
              <a:lnSpc>
                <a:spcPct val="132000"/>
              </a:lnSpc>
            </a:pPr>
            <a:r>
              <a:rPr lang="zh-CN" altLang="en-US" sz="2000" dirty="0"/>
              <a:t>回收该进程所拥有的</a:t>
            </a:r>
            <a:r>
              <a:rPr lang="zh-CN" altLang="en-US" sz="2000" dirty="0">
                <a:solidFill>
                  <a:srgbClr val="FF0000"/>
                </a:solidFill>
              </a:rPr>
              <a:t>全部资源</a:t>
            </a:r>
            <a:r>
              <a:rPr lang="zh-CN" altLang="en-US" sz="2000" dirty="0"/>
              <a:t>，或归还给其父进程或系统；</a:t>
            </a:r>
          </a:p>
        </p:txBody>
      </p:sp>
      <p:sp>
        <p:nvSpPr>
          <p:cNvPr id="41" name="i$1îḑe"/>
          <p:cNvSpPr/>
          <p:nvPr/>
        </p:nvSpPr>
        <p:spPr>
          <a:xfrm>
            <a:off x="634768" y="4204957"/>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3</a:t>
            </a:r>
          </a:p>
        </p:txBody>
      </p:sp>
      <p:sp>
        <p:nvSpPr>
          <p:cNvPr id="42" name="í$1îḍe"/>
          <p:cNvSpPr txBox="1"/>
          <p:nvPr/>
        </p:nvSpPr>
        <p:spPr>
          <a:xfrm>
            <a:off x="1253677" y="4227490"/>
            <a:ext cx="10296193" cy="545577"/>
          </a:xfrm>
          <a:prstGeom prst="rect">
            <a:avLst/>
          </a:prstGeom>
          <a:noFill/>
        </p:spPr>
        <p:txBody>
          <a:bodyPr wrap="square" lIns="91440" tIns="45720" rIns="91440" bIns="45720" anchor="b" anchorCtr="0">
            <a:noAutofit/>
          </a:bodyPr>
          <a:lstStyle/>
          <a:p>
            <a:pPr>
              <a:lnSpc>
                <a:spcPct val="132000"/>
              </a:lnSpc>
            </a:pPr>
            <a:r>
              <a:rPr lang="zh-CN" altLang="en-US" sz="2000" dirty="0"/>
              <a:t>若该进程还有子孙进程，还应将其所有</a:t>
            </a:r>
            <a:r>
              <a:rPr lang="zh-CN" altLang="en-US" sz="2000" dirty="0">
                <a:solidFill>
                  <a:srgbClr val="FF0000"/>
                </a:solidFill>
              </a:rPr>
              <a:t>子进程予以终止</a:t>
            </a:r>
            <a:r>
              <a:rPr lang="zh-CN" altLang="en-US" sz="2000" dirty="0"/>
              <a:t>；</a:t>
            </a:r>
          </a:p>
        </p:txBody>
      </p:sp>
      <p:sp>
        <p:nvSpPr>
          <p:cNvPr id="43" name="ïSļïḓè"/>
          <p:cNvSpPr/>
          <p:nvPr/>
        </p:nvSpPr>
        <p:spPr>
          <a:xfrm>
            <a:off x="659046" y="3310457"/>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2</a:t>
            </a:r>
          </a:p>
        </p:txBody>
      </p:sp>
      <p:sp>
        <p:nvSpPr>
          <p:cNvPr id="44" name="iŝļíďè"/>
          <p:cNvSpPr txBox="1"/>
          <p:nvPr/>
        </p:nvSpPr>
        <p:spPr>
          <a:xfrm>
            <a:off x="1259117" y="3224561"/>
            <a:ext cx="10315031" cy="859268"/>
          </a:xfrm>
          <a:prstGeom prst="rect">
            <a:avLst/>
          </a:prstGeom>
          <a:noFill/>
        </p:spPr>
        <p:txBody>
          <a:bodyPr wrap="square" lIns="91440" tIns="45720" rIns="91440" bIns="45720" anchor="b" anchorCtr="0">
            <a:noAutofit/>
          </a:bodyPr>
          <a:lstStyle/>
          <a:p>
            <a:pPr>
              <a:lnSpc>
                <a:spcPct val="132000"/>
              </a:lnSpc>
            </a:pPr>
            <a:r>
              <a:rPr lang="zh-CN" altLang="en-US" sz="2000" dirty="0"/>
              <a:t>若被终止进程正处于执行状态，应立即</a:t>
            </a:r>
            <a:r>
              <a:rPr lang="zh-CN" altLang="en-US" sz="2000" dirty="0">
                <a:solidFill>
                  <a:srgbClr val="FF0000"/>
                </a:solidFill>
              </a:rPr>
              <a:t>终止</a:t>
            </a:r>
            <a:r>
              <a:rPr lang="zh-CN" altLang="en-US" sz="2000" dirty="0"/>
              <a:t>该进程的执行，并设置调度标志为真，用于指示该进程被终止后应</a:t>
            </a:r>
            <a:r>
              <a:rPr lang="zh-CN" altLang="en-US" sz="2000" dirty="0">
                <a:solidFill>
                  <a:srgbClr val="FF0000"/>
                </a:solidFill>
              </a:rPr>
              <a:t>重新进行调度</a:t>
            </a:r>
            <a:r>
              <a:rPr lang="zh-CN" altLang="en-US" sz="2000" dirty="0"/>
              <a:t>；</a:t>
            </a:r>
          </a:p>
        </p:txBody>
      </p:sp>
      <p:sp>
        <p:nvSpPr>
          <p:cNvPr id="45" name="ïśľiďe"/>
          <p:cNvSpPr/>
          <p:nvPr/>
        </p:nvSpPr>
        <p:spPr>
          <a:xfrm>
            <a:off x="664485" y="2503532"/>
            <a:ext cx="624349" cy="624349"/>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1</a:t>
            </a:r>
          </a:p>
        </p:txBody>
      </p:sp>
      <p:sp>
        <p:nvSpPr>
          <p:cNvPr id="46" name="îṡ1ide"/>
          <p:cNvSpPr txBox="1"/>
          <p:nvPr/>
        </p:nvSpPr>
        <p:spPr>
          <a:xfrm>
            <a:off x="1269996" y="2334511"/>
            <a:ext cx="10315031" cy="566652"/>
          </a:xfrm>
          <a:prstGeom prst="rect">
            <a:avLst/>
          </a:prstGeom>
          <a:noFill/>
        </p:spPr>
        <p:txBody>
          <a:bodyPr wrap="square" lIns="91440" tIns="45720" rIns="91440" bIns="45720" anchor="b" anchorCtr="0">
            <a:noAutofit/>
          </a:bodyPr>
          <a:lstStyle/>
          <a:p>
            <a:pPr>
              <a:lnSpc>
                <a:spcPct val="132000"/>
              </a:lnSpc>
            </a:pPr>
            <a:r>
              <a:rPr lang="zh-CN" altLang="en-US" sz="2000" dirty="0"/>
              <a:t>根据被终止进程的标识符，从</a:t>
            </a:r>
            <a:r>
              <a:rPr lang="en-US" altLang="zh-CN" sz="2000" dirty="0"/>
              <a:t>PCB</a:t>
            </a:r>
            <a:r>
              <a:rPr lang="zh-CN" altLang="en-US" sz="2000" dirty="0"/>
              <a:t>集合中检索出该进程的</a:t>
            </a:r>
            <a:r>
              <a:rPr lang="en-US" altLang="zh-CN" sz="2000" dirty="0">
                <a:solidFill>
                  <a:srgbClr val="FF0000"/>
                </a:solidFill>
              </a:rPr>
              <a:t>PCB</a:t>
            </a:r>
            <a:r>
              <a:rPr lang="zh-CN" altLang="en-US" sz="2000" dirty="0"/>
              <a:t>，从中读出该进程的状态；</a:t>
            </a:r>
          </a:p>
        </p:txBody>
      </p:sp>
      <p:cxnSp>
        <p:nvCxnSpPr>
          <p:cNvPr id="47" name="直接连接符 46"/>
          <p:cNvCxnSpPr/>
          <p:nvPr/>
        </p:nvCxnSpPr>
        <p:spPr>
          <a:xfrm>
            <a:off x="1385906" y="3013395"/>
            <a:ext cx="985735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1294274" y="4183635"/>
            <a:ext cx="994898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1253677" y="4850214"/>
            <a:ext cx="998957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1294274" y="5533798"/>
            <a:ext cx="994898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进程的阻塞与唤醒</a:t>
            </a:r>
          </a:p>
        </p:txBody>
      </p:sp>
      <p:sp>
        <p:nvSpPr>
          <p:cNvPr id="220" name="íšḻîḋè"/>
          <p:cNvSpPr/>
          <p:nvPr/>
        </p:nvSpPr>
        <p:spPr>
          <a:xfrm>
            <a:off x="2036929" y="3105252"/>
            <a:ext cx="8702159" cy="847084"/>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阻塞原语</a:t>
            </a:r>
            <a:r>
              <a:rPr lang="en-US" altLang="zh-CN" sz="2200" dirty="0"/>
              <a:t>Block()</a:t>
            </a:r>
            <a:r>
              <a:rPr lang="zh-CN" altLang="en-US" sz="2200" dirty="0"/>
              <a:t>。</a:t>
            </a:r>
          </a:p>
        </p:txBody>
      </p:sp>
      <p:sp>
        <p:nvSpPr>
          <p:cNvPr id="221" name="i$lîďê"/>
          <p:cNvSpPr/>
          <p:nvPr/>
        </p:nvSpPr>
        <p:spPr>
          <a:xfrm>
            <a:off x="2036930" y="2664804"/>
            <a:ext cx="3696051" cy="392877"/>
          </a:xfrm>
          <a:prstGeom prst="rect">
            <a:avLst/>
          </a:prstGeom>
          <a:noFill/>
          <a:ln>
            <a:noFill/>
          </a:ln>
        </p:spPr>
        <p:txBody>
          <a:bodyPr wrap="square" lIns="91440" tIns="45720" rIns="91440" bIns="45720" anchor="ctr" anchorCtr="0">
            <a:noAutofit/>
          </a:bodyPr>
          <a:lstStyle/>
          <a:p>
            <a:r>
              <a:rPr lang="zh-CN" altLang="en-US" sz="2400" dirty="0"/>
              <a:t>进程阻塞过程</a:t>
            </a:r>
          </a:p>
        </p:txBody>
      </p:sp>
      <p:sp>
        <p:nvSpPr>
          <p:cNvPr id="222" name="î$ļíḋè"/>
          <p:cNvSpPr/>
          <p:nvPr/>
        </p:nvSpPr>
        <p:spPr>
          <a:xfrm>
            <a:off x="2664797" y="4632485"/>
            <a:ext cx="8864594" cy="1490478"/>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唤醒原语</a:t>
            </a:r>
            <a:r>
              <a:rPr lang="en-US" altLang="zh-CN" sz="2200" dirty="0"/>
              <a:t>Wakeup()</a:t>
            </a:r>
            <a:r>
              <a:rPr lang="zh-CN" altLang="en-US" sz="2200" dirty="0"/>
              <a:t>。</a:t>
            </a:r>
          </a:p>
          <a:p>
            <a:pPr marL="342900" indent="-342900">
              <a:lnSpc>
                <a:spcPct val="120000"/>
              </a:lnSpc>
              <a:buClr>
                <a:srgbClr val="FF0000"/>
              </a:buClr>
              <a:buFont typeface="Wingdings" panose="05000000000000000000" pitchFamily="2" charset="2"/>
              <a:buChar char="Ø"/>
            </a:pPr>
            <a:r>
              <a:rPr lang="zh-CN" altLang="en-US" sz="2200" dirty="0"/>
              <a:t>具体过程：从阻塞队列中移出；状态由阻塞改为就绪；将</a:t>
            </a:r>
            <a:r>
              <a:rPr lang="en-US" altLang="zh-CN" sz="2200" dirty="0"/>
              <a:t>PCB</a:t>
            </a:r>
            <a:r>
              <a:rPr lang="zh-CN" altLang="en-US" sz="2200" dirty="0"/>
              <a:t>插入就绪队列。</a:t>
            </a:r>
          </a:p>
          <a:p>
            <a:pPr marL="342900" indent="-342900">
              <a:lnSpc>
                <a:spcPct val="120000"/>
              </a:lnSpc>
              <a:buClr>
                <a:srgbClr val="FF0000"/>
              </a:buClr>
              <a:buFont typeface="Wingdings" panose="05000000000000000000" pitchFamily="2" charset="2"/>
              <a:buChar char="Ø"/>
            </a:pPr>
            <a:r>
              <a:rPr lang="zh-CN" altLang="en-US" sz="2200" dirty="0">
                <a:solidFill>
                  <a:srgbClr val="FF0000"/>
                </a:solidFill>
              </a:rPr>
              <a:t>必须成对使用</a:t>
            </a:r>
            <a:r>
              <a:rPr lang="en-US" altLang="zh-CN" sz="2200" dirty="0">
                <a:solidFill>
                  <a:srgbClr val="FF0000"/>
                </a:solidFill>
              </a:rPr>
              <a:t>Block</a:t>
            </a:r>
            <a:r>
              <a:rPr lang="zh-CN" altLang="en-US" sz="2200" dirty="0">
                <a:solidFill>
                  <a:srgbClr val="FF0000"/>
                </a:solidFill>
              </a:rPr>
              <a:t>和</a:t>
            </a:r>
            <a:r>
              <a:rPr lang="en-US" altLang="zh-CN" sz="2200" dirty="0">
                <a:solidFill>
                  <a:srgbClr val="FF0000"/>
                </a:solidFill>
              </a:rPr>
              <a:t>Wakeup</a:t>
            </a:r>
            <a:r>
              <a:rPr lang="zh-CN" altLang="en-US" sz="2200" dirty="0">
                <a:solidFill>
                  <a:srgbClr val="FF0000"/>
                </a:solidFill>
              </a:rPr>
              <a:t>原语。</a:t>
            </a:r>
          </a:p>
        </p:txBody>
      </p:sp>
      <p:sp>
        <p:nvSpPr>
          <p:cNvPr id="223" name="ïṧḷïḋè"/>
          <p:cNvSpPr/>
          <p:nvPr/>
        </p:nvSpPr>
        <p:spPr>
          <a:xfrm>
            <a:off x="2720434" y="4242508"/>
            <a:ext cx="3696051" cy="415102"/>
          </a:xfrm>
          <a:prstGeom prst="rect">
            <a:avLst/>
          </a:prstGeom>
          <a:noFill/>
          <a:ln>
            <a:noFill/>
          </a:ln>
        </p:spPr>
        <p:txBody>
          <a:bodyPr wrap="square" lIns="91440" tIns="45720" rIns="91440" bIns="45720" anchor="ctr" anchorCtr="0">
            <a:noAutofit/>
          </a:bodyPr>
          <a:lstStyle/>
          <a:p>
            <a:r>
              <a:rPr lang="zh-CN" altLang="en-US" sz="2400" dirty="0"/>
              <a:t>进程唤醒过程</a:t>
            </a:r>
          </a:p>
        </p:txBody>
      </p:sp>
      <p:sp>
        <p:nvSpPr>
          <p:cNvPr id="224" name="îs1iďé"/>
          <p:cNvSpPr/>
          <p:nvPr/>
        </p:nvSpPr>
        <p:spPr>
          <a:xfrm>
            <a:off x="1353427" y="1652505"/>
            <a:ext cx="9924065" cy="981528"/>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向系统请求共享资源失败；等待某种操作的完成；新数据尚未到达；等待新任务的到达。</a:t>
            </a:r>
          </a:p>
        </p:txBody>
      </p:sp>
      <p:sp>
        <p:nvSpPr>
          <p:cNvPr id="225" name="íšḻíḑê"/>
          <p:cNvSpPr/>
          <p:nvPr/>
        </p:nvSpPr>
        <p:spPr>
          <a:xfrm>
            <a:off x="1353428" y="1171562"/>
            <a:ext cx="4070285" cy="405747"/>
          </a:xfrm>
          <a:prstGeom prst="rect">
            <a:avLst/>
          </a:prstGeom>
          <a:noFill/>
          <a:ln>
            <a:noFill/>
          </a:ln>
        </p:spPr>
        <p:txBody>
          <a:bodyPr wrap="square" lIns="91440" tIns="45720" rIns="91440" bIns="45720" anchor="ctr" anchorCtr="0">
            <a:noAutofit/>
          </a:bodyPr>
          <a:lstStyle/>
          <a:p>
            <a:r>
              <a:rPr lang="zh-CN" altLang="en-US" sz="2400" dirty="0"/>
              <a:t>引起进程阻塞和唤醒的事件</a:t>
            </a:r>
          </a:p>
        </p:txBody>
      </p:sp>
      <p:sp>
        <p:nvSpPr>
          <p:cNvPr id="226" name="îSļiḓè"/>
          <p:cNvSpPr/>
          <p:nvPr/>
        </p:nvSpPr>
        <p:spPr>
          <a:xfrm>
            <a:off x="669925" y="1158000"/>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7" name="íṥḻîḓe"/>
          <p:cNvSpPr/>
          <p:nvPr/>
        </p:nvSpPr>
        <p:spPr>
          <a:xfrm>
            <a:off x="2036930" y="4159906"/>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8" name="îşļiḓè"/>
          <p:cNvSpPr/>
          <p:nvPr/>
        </p:nvSpPr>
        <p:spPr>
          <a:xfrm>
            <a:off x="1353428" y="265443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9" name="îṡḷíďe"/>
          <p:cNvSpPr/>
          <p:nvPr/>
        </p:nvSpPr>
        <p:spPr>
          <a:xfrm>
            <a:off x="860180" y="1354138"/>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230" name="íSlíḋe"/>
          <p:cNvSpPr/>
          <p:nvPr/>
        </p:nvSpPr>
        <p:spPr>
          <a:xfrm>
            <a:off x="1543682" y="287644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231" name="ïśḷïḓe"/>
          <p:cNvSpPr/>
          <p:nvPr/>
        </p:nvSpPr>
        <p:spPr>
          <a:xfrm>
            <a:off x="2256123" y="4349366"/>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18" name="íšḻîḋè"/>
          <p:cNvSpPr/>
          <p:nvPr/>
        </p:nvSpPr>
        <p:spPr>
          <a:xfrm>
            <a:off x="4715734" y="3156441"/>
            <a:ext cx="8702159" cy="562877"/>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进程的阻塞是进程自身的一种</a:t>
            </a:r>
            <a:r>
              <a:rPr lang="zh-CN" altLang="en-US" sz="2200" dirty="0">
                <a:solidFill>
                  <a:srgbClr val="FF0000"/>
                </a:solidFill>
              </a:rPr>
              <a:t>主动行为</a:t>
            </a:r>
            <a:r>
              <a:rPr lang="zh-CN" altLang="en-US" sz="2200" dirty="0"/>
              <a:t>。</a:t>
            </a:r>
            <a:r>
              <a:rPr lang="zh-CN" altLang="en-US" sz="2200" dirty="0">
                <a:solidFill>
                  <a:srgbClr val="FF0000"/>
                </a:solidFill>
              </a:rPr>
              <a:t>自我</a:t>
            </a:r>
          </a:p>
        </p:txBody>
      </p:sp>
      <p:sp>
        <p:nvSpPr>
          <p:cNvPr id="19" name="íšḻîḋè"/>
          <p:cNvSpPr/>
          <p:nvPr/>
        </p:nvSpPr>
        <p:spPr>
          <a:xfrm>
            <a:off x="2036929" y="3540333"/>
            <a:ext cx="8977147" cy="562877"/>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具体过程：停止执行；状态由执行改为阻塞；将</a:t>
            </a:r>
            <a:r>
              <a:rPr lang="en-US" altLang="zh-CN" sz="2200" dirty="0"/>
              <a:t>PCB</a:t>
            </a:r>
            <a:r>
              <a:rPr lang="zh-CN" altLang="en-US" sz="2200" dirty="0"/>
              <a:t>插入阻塞队列。</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进程的挂起与激活</a:t>
            </a:r>
          </a:p>
        </p:txBody>
      </p:sp>
      <p:sp>
        <p:nvSpPr>
          <p:cNvPr id="17" name="îṧľîdé"/>
          <p:cNvSpPr/>
          <p:nvPr/>
        </p:nvSpPr>
        <p:spPr>
          <a:xfrm>
            <a:off x="4330967" y="1869534"/>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21" name="内容占位符 2"/>
          <p:cNvSpPr txBox="1"/>
          <p:nvPr/>
        </p:nvSpPr>
        <p:spPr>
          <a:xfrm>
            <a:off x="1255312" y="1315744"/>
            <a:ext cx="2958730" cy="18439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800" dirty="0"/>
              <a:t>进程的</a:t>
            </a:r>
            <a:r>
              <a:rPr lang="zh-CN" altLang="en-US" sz="2800" dirty="0">
                <a:solidFill>
                  <a:srgbClr val="FF0000"/>
                </a:solidFill>
              </a:rPr>
              <a:t>挂起（运行、就绪、阻塞）</a:t>
            </a:r>
          </a:p>
          <a:p>
            <a:pPr marL="342900" lvl="1" indent="-342900">
              <a:lnSpc>
                <a:spcPct val="150000"/>
              </a:lnSpc>
              <a:spcBef>
                <a:spcPts val="300"/>
              </a:spcBef>
              <a:buClr>
                <a:srgbClr val="E71101"/>
              </a:buClr>
              <a:buSzPct val="60000"/>
              <a:buFont typeface="Wingdings" panose="05000000000000000000" pitchFamily="2" charset="2"/>
              <a:buChar char="n"/>
              <a:defRPr/>
            </a:pPr>
            <a:r>
              <a:rPr lang="en-US" altLang="zh-CN" sz="2800" dirty="0">
                <a:solidFill>
                  <a:srgbClr val="FF0000"/>
                </a:solidFill>
              </a:rPr>
              <a:t>Suspend()</a:t>
            </a:r>
            <a:r>
              <a:rPr lang="zh-CN" altLang="en-US" sz="2800" dirty="0">
                <a:solidFill>
                  <a:srgbClr val="FF0000"/>
                </a:solidFill>
              </a:rPr>
              <a:t>原语</a:t>
            </a: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800" dirty="0">
                <a:solidFill>
                  <a:schemeClr val="tx1">
                    <a:lumMod val="65000"/>
                    <a:lumOff val="35000"/>
                  </a:schemeClr>
                </a:solidFill>
              </a:rPr>
              <a:t>执行过程（内存到外存）</a:t>
            </a:r>
          </a:p>
        </p:txBody>
      </p:sp>
      <p:sp>
        <p:nvSpPr>
          <p:cNvPr id="22" name="内容占位符 2"/>
          <p:cNvSpPr txBox="1"/>
          <p:nvPr/>
        </p:nvSpPr>
        <p:spPr>
          <a:xfrm>
            <a:off x="8117039" y="2656840"/>
            <a:ext cx="3551220" cy="201286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800" dirty="0"/>
              <a:t>进程的</a:t>
            </a:r>
            <a:r>
              <a:rPr lang="zh-CN" altLang="en-US" sz="2800" dirty="0">
                <a:solidFill>
                  <a:srgbClr val="FF0000"/>
                </a:solidFill>
              </a:rPr>
              <a:t>激活</a:t>
            </a:r>
            <a:r>
              <a:rPr lang="zh-CN" altLang="en-US" sz="2800" dirty="0"/>
              <a:t>过程</a:t>
            </a:r>
          </a:p>
          <a:p>
            <a:pPr marL="0" lvl="1" indent="-342900">
              <a:lnSpc>
                <a:spcPct val="150000"/>
              </a:lnSpc>
              <a:spcBef>
                <a:spcPts val="370"/>
              </a:spcBef>
              <a:buClr>
                <a:srgbClr val="E71101"/>
              </a:buClr>
              <a:buSzPct val="60000"/>
              <a:buFont typeface="Wingdings" panose="05000000000000000000" pitchFamily="2" charset="2"/>
              <a:buChar char="n"/>
              <a:defRPr/>
            </a:pPr>
            <a:r>
              <a:rPr lang="en-US" altLang="zh-CN" sz="2800" dirty="0">
                <a:solidFill>
                  <a:srgbClr val="FF0000"/>
                </a:solidFill>
              </a:rPr>
              <a:t>Active()</a:t>
            </a:r>
            <a:r>
              <a:rPr lang="zh-CN" altLang="en-US" sz="2800" dirty="0">
                <a:solidFill>
                  <a:srgbClr val="FF0000"/>
                </a:solidFill>
              </a:rPr>
              <a:t>原语</a:t>
            </a:r>
          </a:p>
          <a:p>
            <a:pPr marL="0" lvl="1" indent="-342900">
              <a:lnSpc>
                <a:spcPct val="150000"/>
              </a:lnSpc>
              <a:spcBef>
                <a:spcPts val="370"/>
              </a:spcBef>
              <a:buClr>
                <a:srgbClr val="E71101"/>
              </a:buClr>
              <a:buSzPct val="60000"/>
              <a:buFont typeface="Wingdings" panose="05000000000000000000" pitchFamily="2" charset="2"/>
              <a:buChar char="n"/>
              <a:defRPr/>
            </a:pPr>
            <a:r>
              <a:rPr lang="zh-CN" altLang="en-US" sz="2800" dirty="0">
                <a:solidFill>
                  <a:schemeClr val="tx1">
                    <a:lumMod val="65000"/>
                    <a:lumOff val="35000"/>
                  </a:schemeClr>
                </a:solidFill>
              </a:rPr>
              <a:t>执行过程（外存到内存，改变进程状态为就绪态）</a:t>
            </a:r>
          </a:p>
        </p:txBody>
      </p:sp>
      <p:sp>
        <p:nvSpPr>
          <p:cNvPr id="23" name="íSľïdé"/>
          <p:cNvSpPr/>
          <p:nvPr/>
        </p:nvSpPr>
        <p:spPr>
          <a:xfrm>
            <a:off x="5228307" y="2304390"/>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24" name="ïŝļíḓê"/>
          <p:cNvSpPr/>
          <p:nvPr/>
        </p:nvSpPr>
        <p:spPr bwMode="auto">
          <a:xfrm>
            <a:off x="6310831" y="3252964"/>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
        <p:nvSpPr>
          <p:cNvPr id="2" name="文本框 1"/>
          <p:cNvSpPr txBox="1"/>
          <p:nvPr/>
        </p:nvSpPr>
        <p:spPr>
          <a:xfrm>
            <a:off x="1255395" y="4982210"/>
            <a:ext cx="5447030" cy="706755"/>
          </a:xfrm>
          <a:prstGeom prst="rect">
            <a:avLst/>
          </a:prstGeom>
          <a:noFill/>
        </p:spPr>
        <p:txBody>
          <a:bodyPr wrap="square" rtlCol="0">
            <a:spAutoFit/>
          </a:bodyPr>
          <a:lstStyle/>
          <a:p>
            <a:r>
              <a:rPr lang="en-US" altLang="zh-CN" sz="2000"/>
              <a:t>“</a:t>
            </a:r>
            <a:r>
              <a:rPr lang="zh-CN" altLang="en-US" sz="2000"/>
              <a:t>挂起和激活</a:t>
            </a:r>
            <a:r>
              <a:rPr lang="en-US" altLang="zh-CN" sz="2000"/>
              <a:t>”</a:t>
            </a:r>
            <a:r>
              <a:rPr lang="zh-CN" altLang="en-US" sz="2000"/>
              <a:t>与内存管理中的</a:t>
            </a:r>
            <a:r>
              <a:rPr lang="en-US" altLang="zh-CN" sz="2000"/>
              <a:t>“</a:t>
            </a:r>
            <a:r>
              <a:rPr lang="zh-CN" altLang="en-US" sz="2000"/>
              <a:t>对换</a:t>
            </a:r>
            <a:r>
              <a:rPr lang="en-US" altLang="zh-CN" sz="2000"/>
              <a:t>”</a:t>
            </a:r>
            <a:r>
              <a:rPr lang="zh-CN" altLang="en-US" sz="2000"/>
              <a:t>操作上有区别，前者改变进程状态，后者并不。</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803161" y="3346014"/>
            <a:ext cx="10845800" cy="2533182"/>
            <a:chOff x="673100" y="1929384"/>
            <a:chExt cx="10845800" cy="2533182"/>
          </a:xfrm>
        </p:grpSpPr>
        <p:sp>
          <p:nvSpPr>
            <p:cNvPr id="32"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5"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0"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1"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2"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3" name="ï$1iḍe"/>
            <p:cNvSpPr txBox="1"/>
            <p:nvPr>
              <p:custDataLst>
                <p:tags r:id="rId7"/>
              </p:custDataLst>
            </p:nvPr>
          </p:nvSpPr>
          <p:spPr>
            <a:xfrm>
              <a:off x="67310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进程创建</a:t>
              </a:r>
            </a:p>
          </p:txBody>
        </p:sp>
        <p:sp>
          <p:nvSpPr>
            <p:cNvPr id="45" name="íṩ1ïḑe"/>
            <p:cNvSpPr txBox="1"/>
            <p:nvPr>
              <p:custDataLst>
                <p:tags r:id="rId8"/>
              </p:custDataLst>
            </p:nvPr>
          </p:nvSpPr>
          <p:spPr>
            <a:xfrm>
              <a:off x="350294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进程终止</a:t>
              </a:r>
            </a:p>
          </p:txBody>
        </p:sp>
        <p:sp>
          <p:nvSpPr>
            <p:cNvPr id="46" name="ïsḻiďê"/>
            <p:cNvSpPr txBox="1"/>
            <p:nvPr>
              <p:custDataLst>
                <p:tags r:id="rId9"/>
              </p:custDataLst>
            </p:nvPr>
          </p:nvSpPr>
          <p:spPr>
            <a:xfrm>
              <a:off x="633278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进程阻塞与唤醒</a:t>
              </a:r>
            </a:p>
          </p:txBody>
        </p:sp>
        <p:sp>
          <p:nvSpPr>
            <p:cNvPr id="47" name="isḷiḋé"/>
            <p:cNvSpPr txBox="1"/>
            <p:nvPr>
              <p:custDataLst>
                <p:tags r:id="rId10"/>
              </p:custDataLst>
            </p:nvPr>
          </p:nvSpPr>
          <p:spPr>
            <a:xfrm>
              <a:off x="916262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进程挂起与激活</a:t>
              </a:r>
            </a:p>
          </p:txBody>
        </p:sp>
        <p:sp>
          <p:nvSpPr>
            <p:cNvPr id="48" name="îṣḻidé"/>
            <p:cNvSpPr txBox="1"/>
            <p:nvPr>
              <p:custDataLst>
                <p:tags r:id="rId11"/>
              </p:custDataLst>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49" name="ïŝ1ïḋè"/>
            <p:cNvSpPr txBox="1"/>
            <p:nvPr>
              <p:custDataLst>
                <p:tags r:id="rId12"/>
              </p:custDataLst>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50" name="í$lîdé"/>
            <p:cNvSpPr txBox="1"/>
            <p:nvPr>
              <p:custDataLst>
                <p:tags r:id="rId13"/>
              </p:custDataLst>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51" name="išḻïďè"/>
            <p:cNvSpPr txBox="1"/>
            <p:nvPr>
              <p:custDataLst>
                <p:tags r:id="rId14"/>
              </p:custDataLst>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grpSp>
      <p:sp>
        <p:nvSpPr>
          <p:cNvPr id="2" name="文本框 1"/>
          <p:cNvSpPr txBox="1"/>
          <p:nvPr/>
        </p:nvSpPr>
        <p:spPr>
          <a:xfrm>
            <a:off x="1211580" y="1404620"/>
            <a:ext cx="9069705" cy="552450"/>
          </a:xfrm>
          <a:prstGeom prst="rect">
            <a:avLst/>
          </a:prstGeom>
          <a:noFill/>
        </p:spPr>
        <p:txBody>
          <a:bodyPr wrap="square" rtlCol="0">
            <a:noAutofit/>
          </a:bodyPr>
          <a:lstStyle/>
          <a:p>
            <a:r>
              <a:rPr lang="zh-CN" altLang="en-US" sz="2400"/>
              <a:t>问题</a:t>
            </a:r>
            <a:r>
              <a:rPr lang="en-US" altLang="zh-CN" sz="2400"/>
              <a:t>1</a:t>
            </a:r>
            <a:r>
              <a:rPr lang="zh-CN" altLang="en-US" sz="2400"/>
              <a:t>：解释如下进程管理操作。</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8105" y="1998345"/>
            <a:ext cx="9243695" cy="3415030"/>
          </a:xfrm>
          <a:prstGeom prst="rect">
            <a:avLst/>
          </a:prstGeom>
        </p:spPr>
        <p:txBody>
          <a:bodyPr wrap="square">
            <a:spAutoFit/>
          </a:bodyPr>
          <a:lstStyle/>
          <a:p>
            <a:pPr marL="266700" indent="-266700" algn="just" defTabSz="266700">
              <a:spcBef>
                <a:spcPct val="0"/>
              </a:spcBef>
              <a:spcAft>
                <a:spcPct val="0"/>
              </a:spcAft>
            </a:pPr>
            <a:r>
              <a:rPr lang="en-US" altLang="zh-CN" sz="2000" b="1">
                <a:latin typeface="宋体" panose="02010600030101010101" pitchFamily="2" charset="-122"/>
                <a:ea typeface="宋体" panose="02010600030101010101" pitchFamily="2" charset="-122"/>
              </a:rPr>
              <a:t>1</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下列选项中，导致创建新进程的操作是</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全国联考 </a:t>
            </a:r>
            <a:r>
              <a:rPr lang="en-US" altLang="zh-CN" sz="2400" b="1">
                <a:latin typeface="宋体" panose="02010600030101010101" pitchFamily="2" charset="-122"/>
                <a:ea typeface="宋体" panose="02010600030101010101" pitchFamily="2" charset="-122"/>
              </a:rPr>
              <a:t>2010</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I.</a:t>
            </a:r>
            <a:r>
              <a:rPr lang="zh-CN" altLang="en-US" sz="2400" b="1">
                <a:latin typeface="宋体" panose="02010600030101010101" pitchFamily="2" charset="-122"/>
                <a:ea typeface="宋体" panose="02010600030101010101" pitchFamily="2" charset="-122"/>
              </a:rPr>
              <a:t>用户登录成功</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II.</a:t>
            </a:r>
            <a:r>
              <a:rPr lang="zh-CN" altLang="en-US" sz="2400" b="1">
                <a:latin typeface="宋体" panose="02010600030101010101" pitchFamily="2" charset="-122"/>
                <a:ea typeface="宋体" panose="02010600030101010101" pitchFamily="2" charset="-122"/>
              </a:rPr>
              <a:t>设备分配</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III.</a:t>
            </a:r>
            <a:r>
              <a:rPr lang="zh-CN" altLang="en-US" sz="2400" b="1">
                <a:latin typeface="宋体" panose="02010600030101010101" pitchFamily="2" charset="-122"/>
                <a:ea typeface="宋体" panose="02010600030101010101" pitchFamily="2" charset="-122"/>
              </a:rPr>
              <a:t>启动程序执行</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A.</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I</a:t>
            </a:r>
            <a:r>
              <a:rPr lang="zh-CN" altLang="en-US" sz="2400" b="1">
                <a:latin typeface="宋体" panose="02010600030101010101" pitchFamily="2" charset="-122"/>
                <a:ea typeface="宋体" panose="02010600030101010101" pitchFamily="2" charset="-122"/>
              </a:rPr>
              <a:t>和</a:t>
            </a:r>
            <a:r>
              <a:rPr lang="en-US" altLang="zh-CN" sz="2400" b="1">
                <a:latin typeface="宋体" panose="02010600030101010101" pitchFamily="2" charset="-122"/>
                <a:ea typeface="宋体" panose="02010600030101010101" pitchFamily="2" charset="-122"/>
              </a:rPr>
              <a:t>II</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B.</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II</a:t>
            </a:r>
            <a:r>
              <a:rPr lang="zh-CN" altLang="en-US" sz="2400" b="1">
                <a:latin typeface="宋体" panose="02010600030101010101" pitchFamily="2" charset="-122"/>
                <a:ea typeface="宋体" panose="02010600030101010101" pitchFamily="2" charset="-122"/>
              </a:rPr>
              <a:t>和</a:t>
            </a:r>
            <a:r>
              <a:rPr lang="en-US" altLang="zh-CN" sz="2400" b="1">
                <a:latin typeface="宋体" panose="02010600030101010101" pitchFamily="2" charset="-122"/>
                <a:ea typeface="宋体" panose="02010600030101010101" pitchFamily="2" charset="-122"/>
              </a:rPr>
              <a:t>III</a:t>
            </a:r>
          </a:p>
          <a:p>
            <a:pPr marL="0" indent="0" algn="just" defTabSz="266700">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rPr>
              <a:t>C</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I</a:t>
            </a:r>
            <a:r>
              <a:rPr lang="zh-CN" altLang="en-US" sz="2400" b="1">
                <a:latin typeface="宋体" panose="02010600030101010101" pitchFamily="2" charset="-122"/>
                <a:ea typeface="宋体" panose="02010600030101010101" pitchFamily="2" charset="-122"/>
              </a:rPr>
              <a:t>和</a:t>
            </a:r>
            <a:r>
              <a:rPr lang="en-US" altLang="zh-CN" sz="2400" b="1">
                <a:latin typeface="宋体" panose="02010600030101010101" pitchFamily="2" charset="-122"/>
                <a:ea typeface="宋体" panose="02010600030101010101" pitchFamily="2" charset="-122"/>
              </a:rPr>
              <a:t>III</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D. I</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II</a:t>
            </a:r>
            <a:r>
              <a:rPr lang="zh-CN" altLang="en-US" sz="2400" b="1">
                <a:latin typeface="宋体" panose="02010600030101010101" pitchFamily="2" charset="-122"/>
                <a:ea typeface="宋体" panose="02010600030101010101" pitchFamily="2" charset="-122"/>
              </a:rPr>
              <a:t>和</a:t>
            </a:r>
            <a:r>
              <a:rPr lang="en-US" altLang="zh-CN" sz="2400" b="1">
                <a:latin typeface="宋体" panose="02010600030101010101" pitchFamily="2" charset="-122"/>
                <a:ea typeface="宋体" panose="02010600030101010101" pitchFamily="2" charset="-122"/>
              </a:rPr>
              <a:t>III</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12850" y="1998345"/>
            <a:ext cx="9716770" cy="3415030"/>
          </a:xfrm>
          <a:prstGeom prst="rect">
            <a:avLst/>
          </a:prstGeom>
        </p:spPr>
        <p:txBody>
          <a:bodyPr wrap="square">
            <a:spAutoFit/>
          </a:bodyPr>
          <a:lstStyle/>
          <a:p>
            <a:pPr marL="266700" indent="-266700" algn="just" defTabSz="266700">
              <a:spcBef>
                <a:spcPct val="0"/>
              </a:spcBef>
              <a:spcAft>
                <a:spcPct val="0"/>
              </a:spcAft>
            </a:pPr>
            <a:r>
              <a:rPr lang="en-US" altLang="zh-CN" sz="2400" b="1">
                <a:latin typeface="宋体" panose="02010600030101010101" pitchFamily="2" charset="-122"/>
                <a:ea typeface="宋体" panose="02010600030101010101" pitchFamily="2" charset="-122"/>
              </a:rPr>
              <a:t>1. </a:t>
            </a:r>
            <a:r>
              <a:rPr lang="zh-CN" altLang="en-US" sz="2400" b="1">
                <a:latin typeface="宋体" panose="02010600030101010101" pitchFamily="2" charset="-122"/>
                <a:ea typeface="宋体" panose="02010600030101010101" pitchFamily="2" charset="-122"/>
              </a:rPr>
              <a:t>下列操作中，操作系统在创建新进程时，必须完成的是</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2021</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l.</a:t>
            </a:r>
            <a:r>
              <a:rPr lang="zh-CN" altLang="en-US" sz="2400" b="1">
                <a:latin typeface="宋体" panose="02010600030101010101" pitchFamily="2" charset="-122"/>
                <a:ea typeface="宋体" panose="02010600030101010101" pitchFamily="2" charset="-122"/>
              </a:rPr>
              <a:t>申请空白的进程控制块</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Ⅱ.</a:t>
            </a:r>
            <a:r>
              <a:rPr lang="zh-CN" altLang="en-US" sz="2400" b="1">
                <a:latin typeface="宋体" panose="02010600030101010101" pitchFamily="2" charset="-122"/>
                <a:ea typeface="宋体" panose="02010600030101010101" pitchFamily="2" charset="-122"/>
              </a:rPr>
              <a:t>初始化进程控制块</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Ⅲ.</a:t>
            </a:r>
            <a:r>
              <a:rPr lang="zh-CN" altLang="en-US" sz="2400" b="1">
                <a:latin typeface="宋体" panose="02010600030101010101" pitchFamily="2" charset="-122"/>
                <a:ea typeface="宋体" panose="02010600030101010101" pitchFamily="2" charset="-122"/>
              </a:rPr>
              <a:t>设置进程状态为执行态</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A.</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I</a:t>
            </a:r>
          </a:p>
          <a:p>
            <a:pPr marL="0" indent="0" algn="just" defTabSz="266700">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rPr>
              <a:t>B</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I</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Ⅱ</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C.</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I</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Ⅲ</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D.</a:t>
            </a:r>
            <a:r>
              <a:rPr lang="zh-CN" altLang="en-US" sz="2400" b="1">
                <a:latin typeface="宋体" panose="02010600030101010101" pitchFamily="2" charset="-122"/>
                <a:ea typeface="宋体" panose="02010600030101010101" pitchFamily="2" charset="-122"/>
              </a:rPr>
              <a:t>仅</a:t>
            </a:r>
            <a:r>
              <a:rPr lang="en-US" altLang="zh-CN" sz="2400" b="1">
                <a:latin typeface="宋体" panose="02010600030101010101" pitchFamily="2" charset="-122"/>
                <a:ea typeface="宋体" panose="02010600030101010101" pitchFamily="2" charset="-122"/>
              </a:rPr>
              <a:t>Ⅱ</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III</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solidFill>
                  <a:srgbClr val="0000FF"/>
                </a:solidFill>
                <a:latin typeface="+mj-ea"/>
              </a:rPr>
              <a:t>2.4 </a:t>
            </a:r>
            <a:r>
              <a:rPr lang="zh-CN" altLang="en-US" sz="2400" dirty="0">
                <a:solidFill>
                  <a:srgbClr val="0000FF"/>
                </a:solidFill>
                <a:latin typeface="+mj-ea"/>
              </a:rPr>
              <a:t>进程通信</a:t>
            </a: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进程通信概念</a:t>
            </a:r>
          </a:p>
        </p:txBody>
      </p:sp>
      <p:sp>
        <p:nvSpPr>
          <p:cNvPr id="26" name="íšḻîḋè"/>
          <p:cNvSpPr/>
          <p:nvPr/>
        </p:nvSpPr>
        <p:spPr>
          <a:xfrm>
            <a:off x="2527836" y="3015600"/>
            <a:ext cx="3306294"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效率低，</a:t>
            </a:r>
            <a:r>
              <a:rPr lang="zh-CN" altLang="en-US" sz="2400" dirty="0">
                <a:solidFill>
                  <a:srgbClr val="FF0000"/>
                </a:solidFill>
              </a:rPr>
              <a:t>少量数据</a:t>
            </a:r>
          </a:p>
          <a:p>
            <a:pPr marL="342900" indent="-342900">
              <a:lnSpc>
                <a:spcPct val="120000"/>
              </a:lnSpc>
              <a:buClr>
                <a:srgbClr val="FF0000"/>
              </a:buClr>
              <a:buFont typeface="Wingdings" panose="05000000000000000000" pitchFamily="2" charset="2"/>
              <a:buChar char="Ø"/>
            </a:pPr>
            <a:r>
              <a:rPr lang="zh-CN" altLang="en-US" sz="2400" dirty="0"/>
              <a:t>通信对用户不透明</a:t>
            </a:r>
          </a:p>
        </p:txBody>
      </p:sp>
      <p:sp>
        <p:nvSpPr>
          <p:cNvPr id="29" name="i$lîďê"/>
          <p:cNvSpPr/>
          <p:nvPr/>
        </p:nvSpPr>
        <p:spPr>
          <a:xfrm>
            <a:off x="2583471" y="2485431"/>
            <a:ext cx="5459360" cy="39287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低级进程通信 </a:t>
            </a:r>
            <a:r>
              <a:rPr lang="zh-CN" altLang="en-US" sz="2400" dirty="0"/>
              <a:t>：进程的同步和互斥</a:t>
            </a:r>
          </a:p>
        </p:txBody>
      </p:sp>
      <p:sp>
        <p:nvSpPr>
          <p:cNvPr id="32" name="î$ļíḋè"/>
          <p:cNvSpPr/>
          <p:nvPr/>
        </p:nvSpPr>
        <p:spPr>
          <a:xfrm>
            <a:off x="3987270" y="4894798"/>
            <a:ext cx="5459358" cy="96915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使用方便</a:t>
            </a:r>
          </a:p>
          <a:p>
            <a:pPr marL="342900" indent="-342900">
              <a:lnSpc>
                <a:spcPct val="120000"/>
              </a:lnSpc>
              <a:buClr>
                <a:srgbClr val="FF0000"/>
              </a:buClr>
              <a:buFont typeface="Wingdings" panose="05000000000000000000" pitchFamily="2" charset="2"/>
              <a:buChar char="Ø"/>
            </a:pPr>
            <a:r>
              <a:rPr lang="zh-CN" altLang="en-US" sz="2400" dirty="0"/>
              <a:t>高效地传送</a:t>
            </a:r>
            <a:r>
              <a:rPr lang="zh-CN" altLang="en-US" sz="2400" dirty="0">
                <a:solidFill>
                  <a:srgbClr val="FF0000"/>
                </a:solidFill>
              </a:rPr>
              <a:t>大量数据</a:t>
            </a:r>
          </a:p>
        </p:txBody>
      </p:sp>
      <p:sp>
        <p:nvSpPr>
          <p:cNvPr id="35" name="ïṧḷïḋè"/>
          <p:cNvSpPr/>
          <p:nvPr/>
        </p:nvSpPr>
        <p:spPr>
          <a:xfrm>
            <a:off x="3987270" y="4382023"/>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高级进程通信</a:t>
            </a:r>
          </a:p>
        </p:txBody>
      </p:sp>
      <p:sp>
        <p:nvSpPr>
          <p:cNvPr id="41" name="íšḻíḑê"/>
          <p:cNvSpPr/>
          <p:nvPr/>
        </p:nvSpPr>
        <p:spPr>
          <a:xfrm>
            <a:off x="1955604" y="1531919"/>
            <a:ext cx="5177869" cy="405747"/>
          </a:xfrm>
          <a:prstGeom prst="rect">
            <a:avLst/>
          </a:prstGeom>
          <a:noFill/>
          <a:ln>
            <a:noFill/>
          </a:ln>
        </p:spPr>
        <p:txBody>
          <a:bodyPr wrap="square" lIns="91440" tIns="45720" rIns="91440" bIns="45720" anchor="ctr" anchorCtr="0">
            <a:noAutofit/>
          </a:bodyPr>
          <a:lstStyle/>
          <a:p>
            <a:r>
              <a:rPr lang="zh-CN" altLang="en-US" sz="2400" dirty="0"/>
              <a:t>进程通信是指进程之间的</a:t>
            </a:r>
            <a:r>
              <a:rPr lang="zh-CN" altLang="en-US" sz="2400" dirty="0">
                <a:solidFill>
                  <a:srgbClr val="FF0000"/>
                </a:solidFill>
              </a:rPr>
              <a:t>信息交换</a:t>
            </a:r>
          </a:p>
        </p:txBody>
      </p:sp>
      <p:sp>
        <p:nvSpPr>
          <p:cNvPr id="42" name="îSļiḓè"/>
          <p:cNvSpPr/>
          <p:nvPr/>
        </p:nvSpPr>
        <p:spPr>
          <a:xfrm>
            <a:off x="1272102" y="141238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3" name="íṥḻîḓe"/>
          <p:cNvSpPr/>
          <p:nvPr/>
        </p:nvSpPr>
        <p:spPr>
          <a:xfrm>
            <a:off x="3303766" y="429942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4" name="îşļiḓè"/>
          <p:cNvSpPr/>
          <p:nvPr/>
        </p:nvSpPr>
        <p:spPr>
          <a:xfrm>
            <a:off x="1899969" y="238490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5" name="îṡḷíďe"/>
          <p:cNvSpPr/>
          <p:nvPr/>
        </p:nvSpPr>
        <p:spPr>
          <a:xfrm>
            <a:off x="1462357" y="160852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46" name="íSlíḋe"/>
          <p:cNvSpPr/>
          <p:nvPr/>
        </p:nvSpPr>
        <p:spPr>
          <a:xfrm>
            <a:off x="2090223" y="2606922"/>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47" name="ïśḷïḓe"/>
          <p:cNvSpPr/>
          <p:nvPr/>
        </p:nvSpPr>
        <p:spPr>
          <a:xfrm>
            <a:off x="3522959" y="448888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进程通信的类型</a:t>
            </a:r>
            <a:r>
              <a:rPr lang="en-US" altLang="zh-CN" sz="2800" b="1" dirty="0">
                <a:solidFill>
                  <a:schemeClr val="bg1"/>
                </a:solidFill>
              </a:rPr>
              <a:t>(1)</a:t>
            </a:r>
            <a:endParaRPr lang="zh-CN" altLang="en-US" sz="2800" b="1" dirty="0">
              <a:solidFill>
                <a:schemeClr val="bg1"/>
              </a:solidFill>
            </a:endParaRPr>
          </a:p>
        </p:txBody>
      </p:sp>
      <p:sp>
        <p:nvSpPr>
          <p:cNvPr id="26" name="iṥlídè"/>
          <p:cNvSpPr/>
          <p:nvPr/>
        </p:nvSpPr>
        <p:spPr>
          <a:xfrm>
            <a:off x="6958245" y="1128057"/>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29" name="iṡļiḓe"/>
          <p:cNvGrpSpPr/>
          <p:nvPr/>
        </p:nvGrpSpPr>
        <p:grpSpPr>
          <a:xfrm>
            <a:off x="669925" y="1413665"/>
            <a:ext cx="6641921" cy="1651207"/>
            <a:chOff x="660400" y="1774273"/>
            <a:chExt cx="6641921" cy="1651207"/>
          </a:xfrm>
        </p:grpSpPr>
        <p:grpSp>
          <p:nvGrpSpPr>
            <p:cNvPr id="46" name="iSḻíḓè"/>
            <p:cNvGrpSpPr/>
            <p:nvPr/>
          </p:nvGrpSpPr>
          <p:grpSpPr>
            <a:xfrm>
              <a:off x="669925" y="1835355"/>
              <a:ext cx="6632396" cy="1590125"/>
              <a:chOff x="506214" y="1835355"/>
              <a:chExt cx="8365113" cy="1590125"/>
            </a:xfrm>
          </p:grpSpPr>
          <p:sp>
            <p:nvSpPr>
              <p:cNvPr id="50"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共享存储器系统</a:t>
                </a:r>
              </a:p>
            </p:txBody>
          </p:sp>
          <p:sp>
            <p:nvSpPr>
              <p:cNvPr id="51" name="íşļîḓé"/>
              <p:cNvSpPr/>
              <p:nvPr/>
            </p:nvSpPr>
            <p:spPr bwMode="auto">
              <a:xfrm>
                <a:off x="506214" y="2279077"/>
                <a:ext cx="8365113" cy="1146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基于共享数据结构的通信方式（效率低）</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基于共享存储区（内存）的通信方式（高级）</a:t>
                </a:r>
              </a:p>
            </p:txBody>
          </p:sp>
        </p:grpSp>
        <p:grpSp>
          <p:nvGrpSpPr>
            <p:cNvPr id="47" name="ïS1íḋé"/>
            <p:cNvGrpSpPr/>
            <p:nvPr/>
          </p:nvGrpSpPr>
          <p:grpSpPr>
            <a:xfrm>
              <a:off x="660400" y="1774273"/>
              <a:ext cx="497734" cy="497734"/>
              <a:chOff x="660400" y="1774273"/>
              <a:chExt cx="497734" cy="497734"/>
            </a:xfrm>
          </p:grpSpPr>
          <p:sp>
            <p:nvSpPr>
              <p:cNvPr id="48" name="islîḋe"/>
              <p:cNvSpPr/>
              <p:nvPr/>
            </p:nvSpPr>
            <p:spPr>
              <a:xfrm>
                <a:off x="660400" y="1774273"/>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9" name="îŝlîďe"/>
              <p:cNvSpPr/>
              <p:nvPr/>
            </p:nvSpPr>
            <p:spPr>
              <a:xfrm>
                <a:off x="779848" y="1905708"/>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32" name="iŝļïḓê"/>
          <p:cNvGrpSpPr/>
          <p:nvPr/>
        </p:nvGrpSpPr>
        <p:grpSpPr>
          <a:xfrm>
            <a:off x="669925" y="3418638"/>
            <a:ext cx="5936937" cy="3034275"/>
            <a:chOff x="660400" y="1387902"/>
            <a:chExt cx="5936937" cy="3034275"/>
          </a:xfrm>
        </p:grpSpPr>
        <p:grpSp>
          <p:nvGrpSpPr>
            <p:cNvPr id="40" name="ïṧļïḓe"/>
            <p:cNvGrpSpPr/>
            <p:nvPr/>
          </p:nvGrpSpPr>
          <p:grpSpPr>
            <a:xfrm>
              <a:off x="660400" y="1447575"/>
              <a:ext cx="5936937" cy="2974602"/>
              <a:chOff x="494201" y="1447575"/>
              <a:chExt cx="7487965" cy="2974602"/>
            </a:xfrm>
          </p:grpSpPr>
          <p:sp>
            <p:nvSpPr>
              <p:cNvPr id="44" name="ïšļíďè"/>
              <p:cNvSpPr txBox="1"/>
              <p:nvPr/>
            </p:nvSpPr>
            <p:spPr>
              <a:xfrm>
                <a:off x="1296568" y="1447575"/>
                <a:ext cx="629355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管道通信</a:t>
                </a:r>
              </a:p>
            </p:txBody>
          </p:sp>
          <p:sp>
            <p:nvSpPr>
              <p:cNvPr id="45" name="íşľíḑè"/>
              <p:cNvSpPr/>
              <p:nvPr/>
            </p:nvSpPr>
            <p:spPr bwMode="auto">
              <a:xfrm>
                <a:off x="494201" y="2043717"/>
                <a:ext cx="7487965" cy="2378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spcBef>
                    <a:spcPts val="300"/>
                  </a:spcBef>
                  <a:spcAft>
                    <a:spcPts val="300"/>
                  </a:spcAft>
                  <a:buFont typeface="Wingdings" panose="05000000000000000000" pitchFamily="2" charset="2"/>
                  <a:buChar char="Ø"/>
                </a:pPr>
                <a:r>
                  <a:rPr lang="zh-CN" altLang="en-US" sz="2200" dirty="0"/>
                  <a:t>管道：用于连接一个读进程和一个写进程以实现它们之间通信的一个共享文件，又名</a:t>
                </a:r>
                <a:r>
                  <a:rPr lang="en-US" altLang="zh-CN" sz="2200" dirty="0"/>
                  <a:t>pipe</a:t>
                </a:r>
                <a:r>
                  <a:rPr lang="zh-CN" altLang="en-US" sz="2200" dirty="0"/>
                  <a:t>文件。</a:t>
                </a:r>
              </a:p>
              <a:p>
                <a:pPr marL="342900" lvl="1" indent="-342900">
                  <a:lnSpc>
                    <a:spcPct val="132000"/>
                  </a:lnSpc>
                  <a:spcBef>
                    <a:spcPts val="300"/>
                  </a:spcBef>
                  <a:spcAft>
                    <a:spcPts val="300"/>
                  </a:spcAft>
                  <a:buFont typeface="Wingdings" panose="05000000000000000000" pitchFamily="2" charset="2"/>
                  <a:buChar char="Ø"/>
                </a:pPr>
                <a:r>
                  <a:rPr lang="zh-CN" altLang="en-US" sz="2200" dirty="0"/>
                  <a:t>管道机制的协调能力：互斥、同步、确定对方是否存在。</a:t>
                </a:r>
              </a:p>
            </p:txBody>
          </p:sp>
        </p:grpSp>
        <p:grpSp>
          <p:nvGrpSpPr>
            <p:cNvPr id="41" name="ïŝľídè"/>
            <p:cNvGrpSpPr/>
            <p:nvPr/>
          </p:nvGrpSpPr>
          <p:grpSpPr>
            <a:xfrm>
              <a:off x="660400" y="1387902"/>
              <a:ext cx="497734" cy="497734"/>
              <a:chOff x="660400" y="1387902"/>
              <a:chExt cx="497734" cy="497734"/>
            </a:xfrm>
          </p:grpSpPr>
          <p:sp>
            <p:nvSpPr>
              <p:cNvPr id="42" name="ïṡľïde"/>
              <p:cNvSpPr/>
              <p:nvPr/>
            </p:nvSpPr>
            <p:spPr>
              <a:xfrm>
                <a:off x="660400" y="1387902"/>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3" name="ïšliḍe"/>
              <p:cNvSpPr/>
              <p:nvPr/>
            </p:nvSpPr>
            <p:spPr>
              <a:xfrm>
                <a:off x="779848" y="1519337"/>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35" name="直接连接符 34"/>
          <p:cNvCxnSpPr/>
          <p:nvPr/>
        </p:nvCxnSpPr>
        <p:spPr>
          <a:xfrm>
            <a:off x="679450" y="3155683"/>
            <a:ext cx="592741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进程通信的类型</a:t>
            </a:r>
            <a:r>
              <a:rPr lang="en-US" altLang="zh-CN" sz="2800" b="1" dirty="0">
                <a:solidFill>
                  <a:schemeClr val="bg1"/>
                </a:solidFill>
              </a:rPr>
              <a:t>(2)</a:t>
            </a:r>
            <a:endParaRPr lang="zh-CN" altLang="en-US" sz="2800" b="1" dirty="0">
              <a:solidFill>
                <a:schemeClr val="bg1"/>
              </a:solidFill>
            </a:endParaRPr>
          </a:p>
        </p:txBody>
      </p:sp>
      <p:sp>
        <p:nvSpPr>
          <p:cNvPr id="26" name="iṥlídè"/>
          <p:cNvSpPr/>
          <p:nvPr/>
        </p:nvSpPr>
        <p:spPr>
          <a:xfrm>
            <a:off x="6958245" y="1128057"/>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29" name="iṡļiḓe"/>
          <p:cNvGrpSpPr/>
          <p:nvPr/>
        </p:nvGrpSpPr>
        <p:grpSpPr>
          <a:xfrm>
            <a:off x="669925" y="1413665"/>
            <a:ext cx="6641921" cy="1651207"/>
            <a:chOff x="660400" y="1774273"/>
            <a:chExt cx="6641921" cy="1651207"/>
          </a:xfrm>
        </p:grpSpPr>
        <p:grpSp>
          <p:nvGrpSpPr>
            <p:cNvPr id="46" name="iSḻíḓè"/>
            <p:cNvGrpSpPr/>
            <p:nvPr/>
          </p:nvGrpSpPr>
          <p:grpSpPr>
            <a:xfrm>
              <a:off x="669925" y="1835355"/>
              <a:ext cx="6632396" cy="1590125"/>
              <a:chOff x="506214" y="1835355"/>
              <a:chExt cx="8365113" cy="1590125"/>
            </a:xfrm>
          </p:grpSpPr>
          <p:sp>
            <p:nvSpPr>
              <p:cNvPr id="50"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消息传递系统</a:t>
                </a:r>
              </a:p>
            </p:txBody>
          </p:sp>
          <p:sp>
            <p:nvSpPr>
              <p:cNvPr id="51" name="íşļîḓé"/>
              <p:cNvSpPr/>
              <p:nvPr/>
            </p:nvSpPr>
            <p:spPr bwMode="auto">
              <a:xfrm>
                <a:off x="506214" y="2279077"/>
                <a:ext cx="8365113" cy="1146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直接通信方式</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间接通信方式（通过邮箱）</a:t>
                </a:r>
              </a:p>
            </p:txBody>
          </p:sp>
        </p:grpSp>
        <p:grpSp>
          <p:nvGrpSpPr>
            <p:cNvPr id="47" name="ïS1íḋé"/>
            <p:cNvGrpSpPr/>
            <p:nvPr/>
          </p:nvGrpSpPr>
          <p:grpSpPr>
            <a:xfrm>
              <a:off x="660400" y="1774273"/>
              <a:ext cx="497734" cy="497734"/>
              <a:chOff x="660400" y="1774273"/>
              <a:chExt cx="497734" cy="497734"/>
            </a:xfrm>
          </p:grpSpPr>
          <p:sp>
            <p:nvSpPr>
              <p:cNvPr id="48" name="islîḋe"/>
              <p:cNvSpPr/>
              <p:nvPr/>
            </p:nvSpPr>
            <p:spPr>
              <a:xfrm>
                <a:off x="660400" y="1774273"/>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9" name="îŝlîďe"/>
              <p:cNvSpPr/>
              <p:nvPr/>
            </p:nvSpPr>
            <p:spPr>
              <a:xfrm>
                <a:off x="779848" y="1905708"/>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32" name="iŝļïḓê"/>
          <p:cNvGrpSpPr/>
          <p:nvPr/>
        </p:nvGrpSpPr>
        <p:grpSpPr>
          <a:xfrm>
            <a:off x="669925" y="3418638"/>
            <a:ext cx="5936937" cy="3034275"/>
            <a:chOff x="660400" y="1387902"/>
            <a:chExt cx="5936937" cy="3034275"/>
          </a:xfrm>
        </p:grpSpPr>
        <p:grpSp>
          <p:nvGrpSpPr>
            <p:cNvPr id="40" name="ïṧļïḓe"/>
            <p:cNvGrpSpPr/>
            <p:nvPr/>
          </p:nvGrpSpPr>
          <p:grpSpPr>
            <a:xfrm>
              <a:off x="660400" y="1447575"/>
              <a:ext cx="5936937" cy="2974602"/>
              <a:chOff x="494201" y="1447575"/>
              <a:chExt cx="7487965" cy="2974602"/>
            </a:xfrm>
          </p:grpSpPr>
          <p:sp>
            <p:nvSpPr>
              <p:cNvPr id="44" name="ïšļíďè"/>
              <p:cNvSpPr txBox="1"/>
              <p:nvPr/>
            </p:nvSpPr>
            <p:spPr>
              <a:xfrm>
                <a:off x="1296568" y="1447575"/>
                <a:ext cx="629355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客户机</a:t>
                </a:r>
                <a:r>
                  <a:rPr lang="en-US" altLang="zh-CN" sz="2800" dirty="0"/>
                  <a:t>-</a:t>
                </a:r>
                <a:r>
                  <a:rPr lang="zh-CN" altLang="en-US" sz="2800" dirty="0"/>
                  <a:t>服务器系统</a:t>
                </a:r>
              </a:p>
            </p:txBody>
          </p:sp>
          <p:sp>
            <p:nvSpPr>
              <p:cNvPr id="45" name="íşľíḑè"/>
              <p:cNvSpPr/>
              <p:nvPr/>
            </p:nvSpPr>
            <p:spPr bwMode="auto">
              <a:xfrm>
                <a:off x="494201" y="2043717"/>
                <a:ext cx="7487965" cy="2378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spcBef>
                    <a:spcPts val="300"/>
                  </a:spcBef>
                  <a:spcAft>
                    <a:spcPts val="300"/>
                  </a:spcAft>
                  <a:buFont typeface="Wingdings" panose="05000000000000000000" pitchFamily="2" charset="2"/>
                  <a:buChar char="Ø"/>
                </a:pPr>
                <a:r>
                  <a:rPr lang="zh-CN" altLang="en-US" sz="2400" dirty="0"/>
                  <a:t>套接字（</a:t>
                </a:r>
                <a:r>
                  <a:rPr lang="en-US" altLang="zh-CN" sz="2400" dirty="0"/>
                  <a:t>Socket</a:t>
                </a:r>
                <a:r>
                  <a:rPr lang="zh-CN" altLang="en-US" sz="2400" dirty="0"/>
                  <a:t>）</a:t>
                </a:r>
              </a:p>
              <a:p>
                <a:pPr marL="342900" lvl="1" indent="-342900">
                  <a:lnSpc>
                    <a:spcPct val="132000"/>
                  </a:lnSpc>
                  <a:spcBef>
                    <a:spcPts val="300"/>
                  </a:spcBef>
                  <a:spcAft>
                    <a:spcPts val="300"/>
                  </a:spcAft>
                  <a:buFont typeface="Wingdings" panose="05000000000000000000" pitchFamily="2" charset="2"/>
                  <a:buChar char="Ø"/>
                </a:pPr>
                <a:r>
                  <a:rPr lang="zh-CN" altLang="en-US" sz="2400" dirty="0"/>
                  <a:t>远程过程调用（</a:t>
                </a:r>
                <a:r>
                  <a:rPr lang="en-US" altLang="zh-CN" sz="2400" dirty="0"/>
                  <a:t>RPC</a:t>
                </a:r>
                <a:r>
                  <a:rPr lang="zh-CN" altLang="en-US" sz="2400" dirty="0"/>
                  <a:t>）和远程方法调用（</a:t>
                </a:r>
                <a:r>
                  <a:rPr lang="en-US" altLang="zh-CN" sz="2400" dirty="0"/>
                  <a:t>RMI</a:t>
                </a:r>
                <a:r>
                  <a:rPr lang="zh-CN" altLang="en-US" sz="2400" dirty="0"/>
                  <a:t>，</a:t>
                </a:r>
                <a:r>
                  <a:rPr lang="en-US" altLang="zh-CN" sz="2400" dirty="0"/>
                  <a:t>Java</a:t>
                </a:r>
                <a:r>
                  <a:rPr lang="zh-CN" altLang="en-US" sz="2400" dirty="0"/>
                  <a:t>）</a:t>
                </a:r>
              </a:p>
            </p:txBody>
          </p:sp>
        </p:grpSp>
        <p:grpSp>
          <p:nvGrpSpPr>
            <p:cNvPr id="41" name="ïŝľídè"/>
            <p:cNvGrpSpPr/>
            <p:nvPr/>
          </p:nvGrpSpPr>
          <p:grpSpPr>
            <a:xfrm>
              <a:off x="660400" y="1387902"/>
              <a:ext cx="497734" cy="497734"/>
              <a:chOff x="660400" y="1387902"/>
              <a:chExt cx="497734" cy="497734"/>
            </a:xfrm>
          </p:grpSpPr>
          <p:sp>
            <p:nvSpPr>
              <p:cNvPr id="42" name="ïṡľïde"/>
              <p:cNvSpPr/>
              <p:nvPr/>
            </p:nvSpPr>
            <p:spPr>
              <a:xfrm>
                <a:off x="660400" y="1387902"/>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3" name="ïšliḍe"/>
              <p:cNvSpPr/>
              <p:nvPr/>
            </p:nvSpPr>
            <p:spPr>
              <a:xfrm>
                <a:off x="779848" y="1519337"/>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35" name="直接连接符 34"/>
          <p:cNvCxnSpPr/>
          <p:nvPr/>
        </p:nvCxnSpPr>
        <p:spPr>
          <a:xfrm>
            <a:off x="679450" y="3155683"/>
            <a:ext cx="592741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消息传递通信的实现方式</a:t>
            </a:r>
          </a:p>
        </p:txBody>
      </p:sp>
      <p:sp>
        <p:nvSpPr>
          <p:cNvPr id="23" name="íSľïdé"/>
          <p:cNvSpPr/>
          <p:nvPr/>
        </p:nvSpPr>
        <p:spPr>
          <a:xfrm>
            <a:off x="1546319" y="1615736"/>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26" name="ïŝļíḓê"/>
          <p:cNvSpPr/>
          <p:nvPr/>
        </p:nvSpPr>
        <p:spPr bwMode="auto">
          <a:xfrm>
            <a:off x="8562000" y="2185660"/>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29" name="îṧľîdé"/>
          <p:cNvSpPr/>
          <p:nvPr/>
        </p:nvSpPr>
        <p:spPr>
          <a:xfrm>
            <a:off x="2930955" y="1353425"/>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2" name="内容占位符 2"/>
          <p:cNvSpPr txBox="1"/>
          <p:nvPr/>
        </p:nvSpPr>
        <p:spPr>
          <a:xfrm>
            <a:off x="534095" y="2247584"/>
            <a:ext cx="3791625"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直接通信方式</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发送原语：</a:t>
            </a:r>
            <a:r>
              <a:rPr lang="en-US" altLang="zh-CN" sz="2200" dirty="0">
                <a:solidFill>
                  <a:schemeClr val="tx1">
                    <a:lumMod val="65000"/>
                    <a:lumOff val="35000"/>
                  </a:schemeClr>
                </a:solidFill>
              </a:rPr>
              <a:t>send(receiver, message) </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接收原语：</a:t>
            </a:r>
            <a:r>
              <a:rPr lang="en-US" altLang="zh-CN" sz="2200" dirty="0">
                <a:solidFill>
                  <a:schemeClr val="tx1">
                    <a:lumMod val="65000"/>
                    <a:lumOff val="35000"/>
                  </a:schemeClr>
                </a:solidFill>
              </a:rPr>
              <a:t>receive(sender, message) </a:t>
            </a:r>
          </a:p>
        </p:txBody>
      </p:sp>
      <p:sp>
        <p:nvSpPr>
          <p:cNvPr id="35" name="内容占位符 2"/>
          <p:cNvSpPr txBox="1"/>
          <p:nvPr/>
        </p:nvSpPr>
        <p:spPr>
          <a:xfrm>
            <a:off x="6801999" y="2801188"/>
            <a:ext cx="5121499" cy="350060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间接通信方式：通过信箱来完成</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信箱结构</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消息的发送和接收</a:t>
            </a:r>
          </a:p>
          <a:p>
            <a:pPr marL="4572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发送原语：</a:t>
            </a:r>
            <a:r>
              <a:rPr lang="en-US" altLang="zh-CN" sz="2000" dirty="0">
                <a:solidFill>
                  <a:schemeClr val="tx1">
                    <a:lumMod val="65000"/>
                    <a:lumOff val="35000"/>
                  </a:schemeClr>
                </a:solidFill>
              </a:rPr>
              <a:t>send(mailbox, message) </a:t>
            </a:r>
          </a:p>
          <a:p>
            <a:pPr marL="4572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接收原语：</a:t>
            </a:r>
            <a:r>
              <a:rPr lang="en-US" altLang="zh-CN" sz="2000" dirty="0">
                <a:solidFill>
                  <a:schemeClr val="tx1">
                    <a:lumMod val="65000"/>
                    <a:lumOff val="35000"/>
                  </a:schemeClr>
                </a:solidFill>
              </a:rPr>
              <a:t>receive(mailbox, message) </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信箱类型</a:t>
            </a:r>
          </a:p>
          <a:p>
            <a:pPr marL="4572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私用邮箱，公共邮箱，共享邮箱</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Linux</a:t>
            </a:r>
            <a:r>
              <a:rPr lang="zh-CN" altLang="en-US" sz="2800" b="1" dirty="0">
                <a:solidFill>
                  <a:schemeClr val="bg1"/>
                </a:solidFill>
              </a:rPr>
              <a:t>进程通信方式</a:t>
            </a:r>
          </a:p>
        </p:txBody>
      </p:sp>
      <p:grpSp>
        <p:nvGrpSpPr>
          <p:cNvPr id="8"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77982" y="1685798"/>
            <a:ext cx="11176257" cy="3733544"/>
            <a:chOff x="559588" y="1557009"/>
            <a:chExt cx="11176257" cy="3733544"/>
          </a:xfrm>
        </p:grpSpPr>
        <p:sp>
          <p:nvSpPr>
            <p:cNvPr id="9" name="íśḷíḋé"/>
            <p:cNvSpPr/>
            <p:nvPr/>
          </p:nvSpPr>
          <p:spPr bwMode="auto">
            <a:xfrm>
              <a:off x="4801181" y="2133141"/>
              <a:ext cx="2589100" cy="2588226"/>
            </a:xfrm>
            <a:prstGeom prst="ellipse">
              <a:avLst/>
            </a:prstGeom>
            <a:blipFill>
              <a:blip r:embed="rId3"/>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10"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11"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12"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13"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14"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15"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16"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17"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18"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19"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21"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22"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24"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5"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7"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8"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0"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1"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3" name="îṩļiḓè"/>
            <p:cNvSpPr/>
            <p:nvPr/>
          </p:nvSpPr>
          <p:spPr>
            <a:xfrm>
              <a:off x="559588" y="1626326"/>
              <a:ext cx="3486183" cy="467559"/>
            </a:xfrm>
            <a:prstGeom prst="rect">
              <a:avLst/>
            </a:prstGeom>
          </p:spPr>
          <p:txBody>
            <a:bodyPr wrap="square" lIns="91440" tIns="45720" rIns="91440" bIns="45720" anchor="ctr" anchorCtr="0">
              <a:normAutofit lnSpcReduction="10000"/>
            </a:bodyPr>
            <a:lstStyle/>
            <a:p>
              <a:pPr algn="r"/>
              <a:r>
                <a:rPr lang="zh-CN" altLang="en-US" sz="2600" dirty="0">
                  <a:solidFill>
                    <a:srgbClr val="0000FF"/>
                  </a:solidFill>
                </a:rPr>
                <a:t>管道</a:t>
              </a:r>
            </a:p>
          </p:txBody>
        </p:sp>
        <p:sp>
          <p:nvSpPr>
            <p:cNvPr id="34" name="ïṣľîḋê"/>
            <p:cNvSpPr/>
            <p:nvPr/>
          </p:nvSpPr>
          <p:spPr>
            <a:xfrm>
              <a:off x="8250710" y="1665582"/>
              <a:ext cx="3485135" cy="467559"/>
            </a:xfrm>
            <a:prstGeom prst="rect">
              <a:avLst/>
            </a:prstGeom>
          </p:spPr>
          <p:txBody>
            <a:bodyPr wrap="square" lIns="91440" tIns="45720" rIns="91440" bIns="45720" anchor="ctr" anchorCtr="0">
              <a:noAutofit/>
            </a:bodyPr>
            <a:lstStyle/>
            <a:p>
              <a:r>
                <a:rPr lang="zh-CN" altLang="en-US" sz="2600" dirty="0">
                  <a:solidFill>
                    <a:srgbClr val="0000FF"/>
                  </a:solidFill>
                </a:rPr>
                <a:t>共享内存</a:t>
              </a:r>
            </a:p>
          </p:txBody>
        </p:sp>
        <p:sp>
          <p:nvSpPr>
            <p:cNvPr id="36" name="išľïḓe"/>
            <p:cNvSpPr/>
            <p:nvPr/>
          </p:nvSpPr>
          <p:spPr>
            <a:xfrm>
              <a:off x="559588" y="3161434"/>
              <a:ext cx="2882020" cy="467559"/>
            </a:xfrm>
            <a:prstGeom prst="rect">
              <a:avLst/>
            </a:prstGeom>
          </p:spPr>
          <p:txBody>
            <a:bodyPr wrap="square" lIns="91440" tIns="45720" rIns="91440" bIns="45720" anchor="ctr" anchorCtr="0">
              <a:normAutofit lnSpcReduction="10000"/>
            </a:bodyPr>
            <a:lstStyle/>
            <a:p>
              <a:pPr algn="r"/>
              <a:r>
                <a:rPr lang="zh-CN" altLang="en-US" sz="2600" dirty="0">
                  <a:solidFill>
                    <a:srgbClr val="0000FF"/>
                  </a:solidFill>
                </a:rPr>
                <a:t>信号</a:t>
              </a:r>
            </a:p>
          </p:txBody>
        </p:sp>
        <p:sp>
          <p:nvSpPr>
            <p:cNvPr id="37" name="îṧľïdè"/>
            <p:cNvSpPr/>
            <p:nvPr/>
          </p:nvSpPr>
          <p:spPr>
            <a:xfrm>
              <a:off x="8810786" y="3171236"/>
              <a:ext cx="2882020" cy="467559"/>
            </a:xfrm>
            <a:prstGeom prst="rect">
              <a:avLst/>
            </a:prstGeom>
          </p:spPr>
          <p:txBody>
            <a:bodyPr wrap="square" lIns="91440" tIns="45720" rIns="91440" bIns="45720" anchor="ctr" anchorCtr="0">
              <a:normAutofit lnSpcReduction="10000"/>
            </a:bodyPr>
            <a:lstStyle/>
            <a:p>
              <a:r>
                <a:rPr lang="zh-CN" altLang="en-US" sz="2600" dirty="0">
                  <a:solidFill>
                    <a:srgbClr val="0000FF"/>
                  </a:solidFill>
                </a:rPr>
                <a:t>信号量</a:t>
              </a:r>
            </a:p>
          </p:txBody>
        </p:sp>
        <p:sp>
          <p:nvSpPr>
            <p:cNvPr id="38" name="işľîḓé"/>
            <p:cNvSpPr/>
            <p:nvPr/>
          </p:nvSpPr>
          <p:spPr>
            <a:xfrm>
              <a:off x="559588" y="4678995"/>
              <a:ext cx="3486183" cy="467559"/>
            </a:xfrm>
            <a:prstGeom prst="rect">
              <a:avLst/>
            </a:prstGeom>
          </p:spPr>
          <p:txBody>
            <a:bodyPr wrap="square" lIns="91440" tIns="45720" rIns="91440" bIns="45720" anchor="ctr" anchorCtr="0">
              <a:noAutofit/>
            </a:bodyPr>
            <a:lstStyle/>
            <a:p>
              <a:pPr algn="r"/>
              <a:r>
                <a:rPr lang="zh-CN" altLang="en-US" sz="2600" dirty="0">
                  <a:solidFill>
                    <a:srgbClr val="0000FF"/>
                  </a:solidFill>
                </a:rPr>
                <a:t>消息队列</a:t>
              </a:r>
            </a:p>
          </p:txBody>
        </p:sp>
        <p:sp>
          <p:nvSpPr>
            <p:cNvPr id="39" name="ïśļíde"/>
            <p:cNvSpPr/>
            <p:nvPr/>
          </p:nvSpPr>
          <p:spPr>
            <a:xfrm>
              <a:off x="8135744" y="4710881"/>
              <a:ext cx="3485135" cy="467559"/>
            </a:xfrm>
            <a:prstGeom prst="rect">
              <a:avLst/>
            </a:prstGeom>
          </p:spPr>
          <p:txBody>
            <a:bodyPr wrap="square" lIns="91440" tIns="45720" rIns="91440" bIns="45720" anchor="ctr" anchorCtr="0">
              <a:normAutofit lnSpcReduction="10000"/>
            </a:bodyPr>
            <a:lstStyle/>
            <a:p>
              <a:r>
                <a:rPr lang="zh-CN" altLang="en-US" sz="2600" dirty="0">
                  <a:solidFill>
                    <a:srgbClr val="0000FF"/>
                  </a:solidFill>
                </a:rPr>
                <a:t>套接字</a:t>
              </a: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无名管道实例</a:t>
            </a:r>
          </a:p>
        </p:txBody>
      </p:sp>
      <p:sp>
        <p:nvSpPr>
          <p:cNvPr id="4" name="内容占位符 2"/>
          <p:cNvSpPr txBox="1"/>
          <p:nvPr/>
        </p:nvSpPr>
        <p:spPr>
          <a:xfrm>
            <a:off x="253150" y="998367"/>
            <a:ext cx="5545493" cy="5052397"/>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ct val="0"/>
              </a:spcBef>
              <a:buFont typeface="Wingdings 2" panose="05020102010507070707" pitchFamily="18" charset="2"/>
              <a:buNone/>
            </a:pPr>
            <a:r>
              <a:rPr lang="en-US" altLang="zh-CN" dirty="0"/>
              <a:t>#define INPUT 0</a:t>
            </a:r>
            <a:endParaRPr lang="zh-CN" altLang="zh-CN" dirty="0"/>
          </a:p>
          <a:p>
            <a:pPr marL="0" indent="0">
              <a:lnSpc>
                <a:spcPct val="132000"/>
              </a:lnSpc>
              <a:spcBef>
                <a:spcPct val="0"/>
              </a:spcBef>
              <a:buFont typeface="Wingdings 2" panose="05020102010507070707" pitchFamily="18" charset="2"/>
              <a:buNone/>
            </a:pPr>
            <a:r>
              <a:rPr lang="en-US" altLang="zh-CN" dirty="0"/>
              <a:t>#define OUTPUT 1</a:t>
            </a:r>
            <a:endParaRPr lang="zh-CN" altLang="zh-CN" dirty="0"/>
          </a:p>
          <a:p>
            <a:pPr marL="0" indent="0">
              <a:lnSpc>
                <a:spcPct val="132000"/>
              </a:lnSpc>
              <a:spcBef>
                <a:spcPct val="0"/>
              </a:spcBef>
              <a:buFont typeface="Wingdings 2" panose="05020102010507070707" pitchFamily="18" charset="2"/>
              <a:buNone/>
            </a:pPr>
            <a:r>
              <a:rPr lang="en-US" altLang="zh-CN" dirty="0"/>
              <a:t>void </a:t>
            </a:r>
            <a:r>
              <a:rPr lang="en-US" altLang="zh-CN" dirty="0">
                <a:solidFill>
                  <a:srgbClr val="FF0000"/>
                </a:solidFill>
              </a:rPr>
              <a:t>main</a:t>
            </a:r>
            <a:r>
              <a:rPr lang="en-US" altLang="zh-CN" dirty="0"/>
              <a:t>() {</a:t>
            </a:r>
            <a:endParaRPr lang="zh-CN" altLang="zh-CN" dirty="0"/>
          </a:p>
          <a:p>
            <a:pPr marL="457200" lvl="1" indent="0">
              <a:lnSpc>
                <a:spcPct val="132000"/>
              </a:lnSpc>
              <a:spcBef>
                <a:spcPct val="0"/>
              </a:spcBef>
              <a:buFont typeface="Wingdings 2" panose="05020102010507070707" pitchFamily="18" charset="2"/>
              <a:buNone/>
            </a:pPr>
            <a:r>
              <a:rPr lang="en-US" altLang="zh-CN" sz="1800" dirty="0"/>
              <a:t>int </a:t>
            </a:r>
            <a:r>
              <a:rPr lang="en-US" altLang="zh-CN" sz="1800" dirty="0" err="1"/>
              <a:t>file_descriptors</a:t>
            </a:r>
            <a:r>
              <a:rPr lang="en-US" altLang="zh-CN" sz="1800" dirty="0"/>
              <a:t>[2];</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err="1"/>
              <a:t>pid_t</a:t>
            </a:r>
            <a:r>
              <a:rPr lang="en-US" altLang="zh-CN" sz="1800" dirty="0"/>
              <a:t> </a:t>
            </a:r>
            <a:r>
              <a:rPr lang="en-US" altLang="zh-CN" sz="1800" dirty="0" err="1"/>
              <a:t>pid</a:t>
            </a:r>
            <a:r>
              <a:rPr lang="en-US" altLang="zh-CN" sz="1800" dirty="0"/>
              <a:t>;                       /*</a:t>
            </a:r>
            <a:r>
              <a:rPr lang="zh-CN" altLang="zh-CN" sz="1800" dirty="0"/>
              <a:t>定义子进程号</a:t>
            </a:r>
            <a:r>
              <a:rPr lang="en-US" altLang="zh-CN" sz="1800" dirty="0"/>
              <a:t>*/</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t>char </a:t>
            </a:r>
            <a:r>
              <a:rPr lang="en-US" altLang="zh-CN" sz="1800" dirty="0" err="1"/>
              <a:t>buf</a:t>
            </a:r>
            <a:r>
              <a:rPr lang="en-US" altLang="zh-CN" sz="1800" dirty="0"/>
              <a:t>[256];</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t>int </a:t>
            </a:r>
            <a:r>
              <a:rPr lang="en-US" altLang="zh-CN" sz="1800" dirty="0" err="1"/>
              <a:t>returned_count</a:t>
            </a:r>
            <a:r>
              <a:rPr lang="en-US" altLang="zh-CN" sz="1800" dirty="0"/>
              <a:t>;</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t>pipe(</a:t>
            </a:r>
            <a:r>
              <a:rPr lang="en-US" altLang="zh-CN" sz="1800" dirty="0" err="1"/>
              <a:t>file_descriptors</a:t>
            </a:r>
            <a:r>
              <a:rPr lang="en-US" altLang="zh-CN" sz="1800" dirty="0"/>
              <a:t>);    /*</a:t>
            </a:r>
            <a:r>
              <a:rPr lang="zh-CN" altLang="zh-CN" sz="1800" dirty="0"/>
              <a:t>创建无名管道</a:t>
            </a:r>
            <a:r>
              <a:rPr lang="en-US" altLang="zh-CN" sz="1800" dirty="0"/>
              <a:t>*/</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solidFill>
                  <a:srgbClr val="FF0000"/>
                </a:solidFill>
              </a:rPr>
              <a:t>if</a:t>
            </a:r>
            <a:r>
              <a:rPr lang="en-US" altLang="zh-CN" sz="1800" dirty="0"/>
              <a:t>((</a:t>
            </a:r>
            <a:r>
              <a:rPr lang="en-US" altLang="zh-CN" sz="1800" dirty="0" err="1"/>
              <a:t>pid</a:t>
            </a:r>
            <a:r>
              <a:rPr lang="en-US" altLang="zh-CN" sz="1800" dirty="0"/>
              <a:t> = fork()) == -1) {   /*</a:t>
            </a:r>
            <a:r>
              <a:rPr lang="zh-CN" altLang="zh-CN" sz="1800" dirty="0"/>
              <a:t>创建子进程</a:t>
            </a:r>
            <a:r>
              <a:rPr lang="en-US" altLang="zh-CN" sz="1800" dirty="0"/>
              <a: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err="1"/>
              <a:t>printf</a:t>
            </a:r>
            <a:r>
              <a:rPr lang="en-US" altLang="zh-CN" sz="1800" dirty="0"/>
              <a:t>("Error in fork/n");</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exit(1);</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t>}</a:t>
            </a:r>
          </a:p>
          <a:p>
            <a:pPr marL="457200" lvl="1" indent="0">
              <a:lnSpc>
                <a:spcPct val="132000"/>
              </a:lnSpc>
              <a:spcBef>
                <a:spcPct val="0"/>
              </a:spcBef>
              <a:buFont typeface="Wingdings 2" panose="05020102010507070707" pitchFamily="18" charset="2"/>
              <a:buNone/>
            </a:pPr>
            <a:r>
              <a:rPr lang="en-US" altLang="zh-CN" sz="1800" dirty="0">
                <a:solidFill>
                  <a:srgbClr val="FF0000"/>
                </a:solidFill>
              </a:rPr>
              <a:t>if</a:t>
            </a:r>
            <a:r>
              <a:rPr lang="en-US" altLang="zh-CN" sz="1800" dirty="0"/>
              <a:t>(</a:t>
            </a:r>
            <a:r>
              <a:rPr lang="en-US" altLang="zh-CN" sz="1800" dirty="0" err="1"/>
              <a:t>pid</a:t>
            </a:r>
            <a:r>
              <a:rPr lang="en-US" altLang="zh-CN" sz="1800" dirty="0"/>
              <a:t> == 0) {		/*</a:t>
            </a:r>
            <a:r>
              <a:rPr lang="zh-CN" altLang="zh-CN" sz="1800" dirty="0"/>
              <a:t>执行子进程</a:t>
            </a:r>
            <a:r>
              <a:rPr lang="en-US" altLang="zh-CN" sz="1800" dirty="0"/>
              <a: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 </a:t>
            </a:r>
            <a:r>
              <a:rPr lang="en-US" altLang="zh-CN" sz="1800" dirty="0" err="1"/>
              <a:t>printf</a:t>
            </a:r>
            <a:r>
              <a:rPr lang="en-US" altLang="zh-CN" sz="1800" dirty="0"/>
              <a:t>("in the spawned (child) process.../n");</a:t>
            </a:r>
            <a:endParaRPr lang="zh-CN" altLang="zh-CN" sz="1800" dirty="0"/>
          </a:p>
        </p:txBody>
      </p:sp>
      <p:sp>
        <p:nvSpPr>
          <p:cNvPr id="5" name="内容占位符 2"/>
          <p:cNvSpPr txBox="1"/>
          <p:nvPr/>
        </p:nvSpPr>
        <p:spPr>
          <a:xfrm>
            <a:off x="5400673" y="1087144"/>
            <a:ext cx="6791327" cy="5052397"/>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32000"/>
              </a:lnSpc>
              <a:spcBef>
                <a:spcPct val="0"/>
              </a:spcBef>
              <a:buFont typeface="Wingdings 2" panose="05020102010507070707" pitchFamily="18" charset="2"/>
              <a:buNone/>
            </a:pPr>
            <a:r>
              <a:rPr lang="en-US" altLang="zh-CN" sz="1800" dirty="0"/>
              <a:t>/*</a:t>
            </a:r>
            <a:r>
              <a:rPr lang="zh-CN" altLang="zh-CN" sz="1800" dirty="0"/>
              <a:t>子进程向父进程写数据，关闭管道的读端</a:t>
            </a:r>
            <a:r>
              <a:rPr lang="en-US" altLang="zh-CN" sz="1800" dirty="0"/>
              <a: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close(</a:t>
            </a:r>
            <a:r>
              <a:rPr lang="en-US" altLang="zh-CN" sz="1800" dirty="0" err="1"/>
              <a:t>file_descriptors</a:t>
            </a:r>
            <a:r>
              <a:rPr lang="en-US" altLang="zh-CN" sz="1800" dirty="0"/>
              <a:t>[INPUT]);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write(</a:t>
            </a:r>
            <a:r>
              <a:rPr lang="en-US" altLang="zh-CN" sz="1800" dirty="0" err="1"/>
              <a:t>file_descriptors</a:t>
            </a:r>
            <a:r>
              <a:rPr lang="en-US" altLang="zh-CN" sz="1800" dirty="0"/>
              <a:t>[OUTPUT], "test data",</a:t>
            </a:r>
            <a:br>
              <a:rPr lang="en-US" altLang="zh-CN" sz="1800" dirty="0"/>
            </a:br>
            <a:r>
              <a:rPr lang="en-US" altLang="zh-CN" sz="1800" dirty="0"/>
              <a:t>		     </a:t>
            </a:r>
            <a:r>
              <a:rPr lang="en-US" altLang="zh-CN" sz="1800" dirty="0" err="1"/>
              <a:t>strlen</a:t>
            </a:r>
            <a:r>
              <a:rPr lang="en-US" altLang="zh-CN" sz="1800" dirty="0"/>
              <a:t>("test data"));</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exit(0);</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t>} </a:t>
            </a:r>
            <a:endParaRPr lang="zh-CN" altLang="zh-CN" sz="1800" dirty="0"/>
          </a:p>
          <a:p>
            <a:pPr marL="457200" lvl="1" indent="0">
              <a:lnSpc>
                <a:spcPct val="132000"/>
              </a:lnSpc>
              <a:spcBef>
                <a:spcPct val="0"/>
              </a:spcBef>
              <a:buFont typeface="Wingdings 2" panose="05020102010507070707" pitchFamily="18" charset="2"/>
              <a:buNone/>
            </a:pPr>
            <a:r>
              <a:rPr lang="en-US" altLang="zh-CN" sz="1800" dirty="0">
                <a:solidFill>
                  <a:srgbClr val="FF0000"/>
                </a:solidFill>
              </a:rPr>
              <a:t>else</a:t>
            </a:r>
            <a:r>
              <a:rPr lang="en-US" altLang="zh-CN" sz="1800" dirty="0"/>
              <a:t> {	/*</a:t>
            </a:r>
            <a:r>
              <a:rPr lang="zh-CN" altLang="zh-CN" sz="1800" dirty="0"/>
              <a:t>执行父进程</a:t>
            </a:r>
            <a:r>
              <a:rPr lang="en-US" altLang="zh-CN" sz="1800" dirty="0"/>
              <a: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err="1"/>
              <a:t>printf</a:t>
            </a:r>
            <a:r>
              <a:rPr lang="en-US" altLang="zh-CN" sz="1800" dirty="0"/>
              <a:t>("in the spawning (parent) process.../n");</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a:t>
            </a:r>
            <a:r>
              <a:rPr lang="zh-CN" altLang="zh-CN" sz="1800" dirty="0"/>
              <a:t>父进程从管道读取子进程写的数据，关闭管道的写端</a:t>
            </a:r>
            <a:r>
              <a:rPr lang="en-US" altLang="zh-CN" sz="1800" dirty="0"/>
              <a: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a:t>close(</a:t>
            </a:r>
            <a:r>
              <a:rPr lang="en-US" altLang="zh-CN" sz="1800" dirty="0" err="1"/>
              <a:t>file_descriptors</a:t>
            </a:r>
            <a:r>
              <a:rPr lang="en-US" altLang="zh-CN" sz="1800" dirty="0"/>
              <a:t>[OUTPUT]);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err="1"/>
              <a:t>returned_count</a:t>
            </a:r>
            <a:r>
              <a:rPr lang="en-US" altLang="zh-CN" sz="1800" dirty="0"/>
              <a:t> = read(</a:t>
            </a:r>
            <a:r>
              <a:rPr lang="en-US" altLang="zh-CN" sz="1800" dirty="0" err="1"/>
              <a:t>file_descriptors</a:t>
            </a:r>
            <a:r>
              <a:rPr lang="en-US" altLang="zh-CN" sz="1800" dirty="0"/>
              <a:t>[INPUT], </a:t>
            </a:r>
          </a:p>
          <a:p>
            <a:pPr marL="914400" lvl="2" indent="0">
              <a:lnSpc>
                <a:spcPct val="132000"/>
              </a:lnSpc>
              <a:spcBef>
                <a:spcPct val="0"/>
              </a:spcBef>
              <a:buFont typeface="Wingdings 2" panose="05020102010507070707" pitchFamily="18" charset="2"/>
              <a:buNone/>
            </a:pPr>
            <a:r>
              <a:rPr lang="en-US" altLang="zh-CN" sz="1800" dirty="0"/>
              <a:t>		        </a:t>
            </a:r>
            <a:r>
              <a:rPr lang="en-US" altLang="zh-CN" sz="1800" dirty="0" err="1"/>
              <a:t>buf</a:t>
            </a:r>
            <a:r>
              <a:rPr lang="en-US" altLang="zh-CN" sz="1800" dirty="0"/>
              <a:t>, </a:t>
            </a:r>
            <a:r>
              <a:rPr lang="en-US" altLang="zh-CN" sz="1800" dirty="0" err="1"/>
              <a:t>sizeof</a:t>
            </a:r>
            <a:r>
              <a:rPr lang="en-US" altLang="zh-CN" sz="1800" dirty="0"/>
              <a:t>(</a:t>
            </a:r>
            <a:r>
              <a:rPr lang="en-US" altLang="zh-CN" sz="1800" dirty="0" err="1"/>
              <a:t>buf</a:t>
            </a:r>
            <a:r>
              <a:rPr lang="en-US" altLang="zh-CN" sz="1800" dirty="0"/>
              <a:t>));</a:t>
            </a:r>
            <a:endParaRPr lang="zh-CN" altLang="zh-CN" sz="1800" dirty="0"/>
          </a:p>
          <a:p>
            <a:pPr marL="914400" lvl="2" indent="0">
              <a:lnSpc>
                <a:spcPct val="132000"/>
              </a:lnSpc>
              <a:spcBef>
                <a:spcPct val="0"/>
              </a:spcBef>
              <a:buFont typeface="Wingdings 2" panose="05020102010507070707" pitchFamily="18" charset="2"/>
              <a:buNone/>
            </a:pPr>
            <a:r>
              <a:rPr lang="en-US" altLang="zh-CN" sz="1800" dirty="0" err="1"/>
              <a:t>printf</a:t>
            </a:r>
            <a:r>
              <a:rPr lang="en-US" altLang="zh-CN" sz="1800" dirty="0"/>
              <a:t>("%d bytes of data received from spawned process: %s/n",</a:t>
            </a:r>
            <a:r>
              <a:rPr lang="en-US" altLang="zh-CN" sz="1800" dirty="0" err="1"/>
              <a:t>returned_count</a:t>
            </a:r>
            <a:r>
              <a:rPr lang="en-US" altLang="zh-CN" sz="1800" dirty="0"/>
              <a:t>, </a:t>
            </a:r>
            <a:r>
              <a:rPr lang="en-US" altLang="zh-CN" sz="1800" dirty="0" err="1"/>
              <a:t>buf</a:t>
            </a:r>
            <a:r>
              <a:rPr lang="en-US" altLang="zh-CN" sz="1800" dirty="0"/>
              <a:t>); }  }</a:t>
            </a:r>
            <a:endParaRPr lang="zh-CN" altLang="en-US" dirty="0"/>
          </a:p>
        </p:txBody>
      </p:sp>
      <p:cxnSp>
        <p:nvCxnSpPr>
          <p:cNvPr id="3" name="直接连接符 2"/>
          <p:cNvCxnSpPr/>
          <p:nvPr/>
        </p:nvCxnSpPr>
        <p:spPr>
          <a:xfrm>
            <a:off x="5798643" y="1256822"/>
            <a:ext cx="0" cy="488271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有名管道实例</a:t>
            </a:r>
          </a:p>
        </p:txBody>
      </p:sp>
      <p:sp>
        <p:nvSpPr>
          <p:cNvPr id="4" name="内容占位符 2"/>
          <p:cNvSpPr txBox="1"/>
          <p:nvPr/>
        </p:nvSpPr>
        <p:spPr>
          <a:xfrm>
            <a:off x="441106" y="1087144"/>
            <a:ext cx="5545493" cy="5052397"/>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ct val="0"/>
              </a:spcBef>
              <a:buFont typeface="Wingdings 2" panose="05020102010507070707" pitchFamily="18" charset="2"/>
              <a:buNone/>
            </a:pPr>
            <a:r>
              <a:rPr lang="en-US" altLang="zh-CN" dirty="0"/>
              <a:t>#include &lt;</a:t>
            </a:r>
            <a:r>
              <a:rPr lang="en-US" altLang="zh-CN" dirty="0" err="1"/>
              <a:t>stdio.h</a:t>
            </a:r>
            <a:r>
              <a:rPr lang="en-US" altLang="zh-CN" dirty="0"/>
              <a:t>&gt;</a:t>
            </a:r>
          </a:p>
          <a:p>
            <a:pPr marL="0" indent="0">
              <a:lnSpc>
                <a:spcPct val="132000"/>
              </a:lnSpc>
              <a:spcBef>
                <a:spcPct val="0"/>
              </a:spcBef>
              <a:buFont typeface="Wingdings 2" panose="05020102010507070707" pitchFamily="18" charset="2"/>
              <a:buNone/>
            </a:pPr>
            <a:r>
              <a:rPr lang="en-US" altLang="zh-CN" dirty="0"/>
              <a:t>#include &lt;</a:t>
            </a:r>
            <a:r>
              <a:rPr lang="en-US" altLang="zh-CN" dirty="0" err="1"/>
              <a:t>unistd.h</a:t>
            </a:r>
            <a:r>
              <a:rPr lang="en-US" altLang="zh-CN" dirty="0"/>
              <a:t>&gt;</a:t>
            </a:r>
          </a:p>
          <a:p>
            <a:pPr marL="0" indent="0">
              <a:lnSpc>
                <a:spcPct val="132000"/>
              </a:lnSpc>
              <a:spcBef>
                <a:spcPct val="0"/>
              </a:spcBef>
              <a:buFont typeface="Wingdings 2" panose="05020102010507070707" pitchFamily="18" charset="2"/>
              <a:buNone/>
            </a:pPr>
            <a:r>
              <a:rPr lang="en-US" altLang="zh-CN" dirty="0"/>
              <a:t>void main() {</a:t>
            </a:r>
          </a:p>
          <a:p>
            <a:pPr marL="0" indent="0">
              <a:lnSpc>
                <a:spcPct val="132000"/>
              </a:lnSpc>
              <a:spcBef>
                <a:spcPct val="0"/>
              </a:spcBef>
              <a:buFont typeface="Wingdings 2" panose="05020102010507070707" pitchFamily="18" charset="2"/>
              <a:buNone/>
            </a:pPr>
            <a:r>
              <a:rPr lang="en-US" altLang="zh-CN" dirty="0"/>
              <a:t>FILE * </a:t>
            </a:r>
            <a:r>
              <a:rPr lang="en-US" altLang="zh-CN" dirty="0" err="1"/>
              <a:t>in_file</a:t>
            </a:r>
            <a:r>
              <a:rPr lang="en-US" altLang="zh-CN" dirty="0"/>
              <a:t>, *</a:t>
            </a:r>
            <a:r>
              <a:rPr lang="en-US" altLang="zh-CN" dirty="0" err="1"/>
              <a:t>out_file</a:t>
            </a:r>
            <a:r>
              <a:rPr lang="en-US" altLang="zh-CN" dirty="0"/>
              <a:t>;</a:t>
            </a:r>
          </a:p>
          <a:p>
            <a:pPr marL="0" indent="0">
              <a:lnSpc>
                <a:spcPct val="132000"/>
              </a:lnSpc>
              <a:spcBef>
                <a:spcPct val="0"/>
              </a:spcBef>
              <a:buFont typeface="Wingdings 2" panose="05020102010507070707" pitchFamily="18" charset="2"/>
              <a:buNone/>
            </a:pPr>
            <a:r>
              <a:rPr lang="en-US" altLang="zh-CN" dirty="0"/>
              <a:t>int count = 1;</a:t>
            </a:r>
          </a:p>
          <a:p>
            <a:pPr marL="0" indent="0">
              <a:lnSpc>
                <a:spcPct val="132000"/>
              </a:lnSpc>
              <a:spcBef>
                <a:spcPct val="0"/>
              </a:spcBef>
              <a:buFont typeface="Wingdings 2" panose="05020102010507070707" pitchFamily="18" charset="2"/>
              <a:buNone/>
            </a:pPr>
            <a:r>
              <a:rPr lang="en-US" altLang="zh-CN" dirty="0"/>
              <a:t>char </a:t>
            </a:r>
            <a:r>
              <a:rPr lang="en-US" altLang="zh-CN" dirty="0" err="1"/>
              <a:t>buf</a:t>
            </a:r>
            <a:r>
              <a:rPr lang="en-US" altLang="zh-CN" dirty="0"/>
              <a:t>[80];</a:t>
            </a:r>
          </a:p>
          <a:p>
            <a:pPr marL="0" indent="0">
              <a:lnSpc>
                <a:spcPct val="132000"/>
              </a:lnSpc>
              <a:spcBef>
                <a:spcPct val="0"/>
              </a:spcBef>
              <a:buFont typeface="Wingdings 2" panose="05020102010507070707" pitchFamily="18" charset="2"/>
              <a:buNone/>
            </a:pPr>
            <a:r>
              <a:rPr lang="en-US" altLang="zh-CN" dirty="0" err="1"/>
              <a:t>in_file</a:t>
            </a:r>
            <a:r>
              <a:rPr lang="en-US" altLang="zh-CN" dirty="0"/>
              <a:t> = </a:t>
            </a:r>
            <a:r>
              <a:rPr lang="en-US" altLang="zh-CN" dirty="0" err="1"/>
              <a:t>fopen</a:t>
            </a:r>
            <a:r>
              <a:rPr lang="en-US" altLang="zh-CN" dirty="0"/>
              <a:t>("</a:t>
            </a:r>
            <a:r>
              <a:rPr lang="en-US" altLang="zh-CN" dirty="0" err="1"/>
              <a:t>mypipe</a:t>
            </a:r>
            <a:r>
              <a:rPr lang="en-US" altLang="zh-CN" dirty="0"/>
              <a:t>", "r");     /*</a:t>
            </a:r>
            <a:r>
              <a:rPr lang="zh-CN" altLang="en-US" dirty="0"/>
              <a:t>读有名管道*</a:t>
            </a:r>
            <a:r>
              <a:rPr lang="en-US" altLang="zh-CN" dirty="0"/>
              <a:t>/</a:t>
            </a:r>
          </a:p>
          <a:p>
            <a:pPr marL="0" indent="0">
              <a:lnSpc>
                <a:spcPct val="132000"/>
              </a:lnSpc>
              <a:spcBef>
                <a:spcPct val="0"/>
              </a:spcBef>
              <a:buFont typeface="Wingdings 2" panose="05020102010507070707" pitchFamily="18" charset="2"/>
              <a:buNone/>
            </a:pPr>
            <a:r>
              <a:rPr lang="en-US" altLang="zh-CN" dirty="0"/>
              <a:t>if (</a:t>
            </a:r>
            <a:r>
              <a:rPr lang="en-US" altLang="zh-CN" dirty="0" err="1"/>
              <a:t>in_file</a:t>
            </a:r>
            <a:r>
              <a:rPr lang="en-US" altLang="zh-CN" dirty="0"/>
              <a:t> == NULL) {</a:t>
            </a:r>
          </a:p>
          <a:p>
            <a:pPr marL="0" indent="0">
              <a:lnSpc>
                <a:spcPct val="132000"/>
              </a:lnSpc>
              <a:spcBef>
                <a:spcPct val="0"/>
              </a:spcBef>
              <a:buFont typeface="Wingdings 2" panose="05020102010507070707" pitchFamily="18" charset="2"/>
              <a:buNone/>
            </a:pPr>
            <a:r>
              <a:rPr lang="en-US" altLang="zh-CN" dirty="0" err="1"/>
              <a:t>printf</a:t>
            </a:r>
            <a:r>
              <a:rPr lang="en-US" altLang="zh-CN" dirty="0"/>
              <a:t>("Error in </a:t>
            </a:r>
            <a:r>
              <a:rPr lang="en-US" altLang="zh-CN" dirty="0" err="1"/>
              <a:t>fdopen</a:t>
            </a:r>
            <a:r>
              <a:rPr lang="en-US" altLang="zh-CN" dirty="0"/>
              <a:t>./n");</a:t>
            </a:r>
          </a:p>
          <a:p>
            <a:pPr marL="0" indent="0">
              <a:lnSpc>
                <a:spcPct val="132000"/>
              </a:lnSpc>
              <a:spcBef>
                <a:spcPct val="0"/>
              </a:spcBef>
              <a:buFont typeface="Wingdings 2" panose="05020102010507070707" pitchFamily="18" charset="2"/>
              <a:buNone/>
            </a:pPr>
            <a:r>
              <a:rPr lang="en-US" altLang="zh-CN" dirty="0"/>
              <a:t>exit(1);</a:t>
            </a:r>
          </a:p>
          <a:p>
            <a:pPr marL="0" indent="0">
              <a:lnSpc>
                <a:spcPct val="132000"/>
              </a:lnSpc>
              <a:spcBef>
                <a:spcPct val="0"/>
              </a:spcBef>
              <a:buFont typeface="Wingdings 2" panose="05020102010507070707" pitchFamily="18" charset="2"/>
              <a:buNone/>
            </a:pPr>
            <a:r>
              <a:rPr lang="en-US" altLang="zh-CN" dirty="0"/>
              <a:t>}</a:t>
            </a:r>
          </a:p>
          <a:p>
            <a:pPr marL="0" indent="0">
              <a:lnSpc>
                <a:spcPct val="132000"/>
              </a:lnSpc>
              <a:spcBef>
                <a:spcPct val="0"/>
              </a:spcBef>
              <a:buFont typeface="Wingdings 2" panose="05020102010507070707" pitchFamily="18" charset="2"/>
              <a:buNone/>
            </a:pPr>
            <a:r>
              <a:rPr lang="en-US" altLang="zh-CN" dirty="0"/>
              <a:t>while ((count = </a:t>
            </a:r>
            <a:r>
              <a:rPr lang="en-US" altLang="zh-CN" dirty="0" err="1"/>
              <a:t>fread</a:t>
            </a:r>
            <a:r>
              <a:rPr lang="en-US" altLang="zh-CN" dirty="0"/>
              <a:t>(</a:t>
            </a:r>
            <a:r>
              <a:rPr lang="en-US" altLang="zh-CN" dirty="0" err="1"/>
              <a:t>buf</a:t>
            </a:r>
            <a:r>
              <a:rPr lang="en-US" altLang="zh-CN" dirty="0"/>
              <a:t>, 1, 80, </a:t>
            </a:r>
            <a:r>
              <a:rPr lang="en-US" altLang="zh-CN" dirty="0" err="1"/>
              <a:t>in_file</a:t>
            </a:r>
            <a:r>
              <a:rPr lang="en-US" altLang="zh-CN" dirty="0"/>
              <a:t>)) &gt; 0) </a:t>
            </a:r>
            <a:r>
              <a:rPr lang="en-US" altLang="zh-CN" dirty="0" err="1"/>
              <a:t>printf</a:t>
            </a:r>
            <a:r>
              <a:rPr lang="en-US" altLang="zh-CN" dirty="0"/>
              <a:t>("received from pipe: %s/n", </a:t>
            </a:r>
            <a:r>
              <a:rPr lang="en-US" altLang="zh-CN" dirty="0" err="1"/>
              <a:t>buf</a:t>
            </a:r>
            <a:r>
              <a:rPr lang="en-US" altLang="zh-CN" dirty="0"/>
              <a:t>);</a:t>
            </a:r>
          </a:p>
          <a:p>
            <a:pPr marL="0" indent="0">
              <a:lnSpc>
                <a:spcPct val="132000"/>
              </a:lnSpc>
              <a:spcBef>
                <a:spcPct val="0"/>
              </a:spcBef>
              <a:buFont typeface="Wingdings 2" panose="05020102010507070707" pitchFamily="18" charset="2"/>
              <a:buNone/>
            </a:pPr>
            <a:r>
              <a:rPr lang="en-US" altLang="zh-CN" dirty="0" err="1"/>
              <a:t>fclose</a:t>
            </a:r>
            <a:r>
              <a:rPr lang="en-US" altLang="zh-CN" dirty="0"/>
              <a:t>(</a:t>
            </a:r>
            <a:r>
              <a:rPr lang="en-US" altLang="zh-CN" dirty="0" err="1"/>
              <a:t>in_file</a:t>
            </a:r>
            <a:r>
              <a:rPr lang="en-US" altLang="zh-CN" dirty="0"/>
              <a:t>);</a:t>
            </a:r>
          </a:p>
        </p:txBody>
      </p:sp>
      <p:cxnSp>
        <p:nvCxnSpPr>
          <p:cNvPr id="3" name="直接连接符 2"/>
          <p:cNvCxnSpPr/>
          <p:nvPr/>
        </p:nvCxnSpPr>
        <p:spPr>
          <a:xfrm>
            <a:off x="5798643" y="1256822"/>
            <a:ext cx="0" cy="488271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8" name="内容占位符 2"/>
          <p:cNvSpPr txBox="1"/>
          <p:nvPr/>
        </p:nvSpPr>
        <p:spPr>
          <a:xfrm>
            <a:off x="6205401" y="1087144"/>
            <a:ext cx="5545493" cy="4097415"/>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ct val="0"/>
              </a:spcBef>
              <a:buFont typeface="Wingdings 2" panose="05020102010507070707" pitchFamily="18" charset="2"/>
              <a:buNone/>
            </a:pPr>
            <a:r>
              <a:rPr lang="en-US" altLang="zh-CN" dirty="0" err="1"/>
              <a:t>out_file</a:t>
            </a:r>
            <a:r>
              <a:rPr lang="en-US" altLang="zh-CN" dirty="0"/>
              <a:t> = </a:t>
            </a:r>
            <a:r>
              <a:rPr lang="en-US" altLang="zh-CN" dirty="0" err="1"/>
              <a:t>fopen</a:t>
            </a:r>
            <a:r>
              <a:rPr lang="en-US" altLang="zh-CN" dirty="0"/>
              <a:t>("</a:t>
            </a:r>
            <a:r>
              <a:rPr lang="en-US" altLang="zh-CN" dirty="0" err="1"/>
              <a:t>mypipe</a:t>
            </a:r>
            <a:r>
              <a:rPr lang="en-US" altLang="zh-CN" dirty="0"/>
              <a:t>", "w");    /*</a:t>
            </a:r>
            <a:r>
              <a:rPr lang="zh-CN" altLang="en-US" dirty="0"/>
              <a:t>写有名管道*</a:t>
            </a:r>
            <a:r>
              <a:rPr lang="en-US" altLang="zh-CN" dirty="0"/>
              <a:t>/</a:t>
            </a:r>
          </a:p>
          <a:p>
            <a:pPr marL="0" indent="0">
              <a:lnSpc>
                <a:spcPct val="132000"/>
              </a:lnSpc>
              <a:spcBef>
                <a:spcPct val="0"/>
              </a:spcBef>
              <a:buFont typeface="Wingdings 2" panose="05020102010507070707" pitchFamily="18" charset="2"/>
              <a:buNone/>
            </a:pPr>
            <a:r>
              <a:rPr lang="en-US" altLang="zh-CN" dirty="0"/>
              <a:t>if (</a:t>
            </a:r>
            <a:r>
              <a:rPr lang="en-US" altLang="zh-CN" dirty="0" err="1"/>
              <a:t>out_file</a:t>
            </a:r>
            <a:r>
              <a:rPr lang="en-US" altLang="zh-CN" dirty="0"/>
              <a:t> == NULL) {</a:t>
            </a:r>
          </a:p>
          <a:p>
            <a:pPr marL="0" indent="0">
              <a:lnSpc>
                <a:spcPct val="132000"/>
              </a:lnSpc>
              <a:spcBef>
                <a:spcPct val="0"/>
              </a:spcBef>
              <a:buFont typeface="Wingdings 2" panose="05020102010507070707" pitchFamily="18" charset="2"/>
              <a:buNone/>
            </a:pPr>
            <a:r>
              <a:rPr lang="en-US" altLang="zh-CN" dirty="0" err="1"/>
              <a:t>printf</a:t>
            </a:r>
            <a:r>
              <a:rPr lang="en-US" altLang="zh-CN" dirty="0"/>
              <a:t>("Error in </a:t>
            </a:r>
            <a:r>
              <a:rPr lang="en-US" altLang="zh-CN" dirty="0" err="1"/>
              <a:t>fdopen</a:t>
            </a:r>
            <a:r>
              <a:rPr lang="en-US" altLang="zh-CN" dirty="0"/>
              <a:t>./n");</a:t>
            </a:r>
          </a:p>
          <a:p>
            <a:pPr marL="0" indent="0">
              <a:lnSpc>
                <a:spcPct val="132000"/>
              </a:lnSpc>
              <a:spcBef>
                <a:spcPct val="0"/>
              </a:spcBef>
              <a:buFont typeface="Wingdings 2" panose="05020102010507070707" pitchFamily="18" charset="2"/>
              <a:buNone/>
            </a:pPr>
            <a:r>
              <a:rPr lang="en-US" altLang="zh-CN" dirty="0"/>
              <a:t>exit(1);</a:t>
            </a:r>
          </a:p>
          <a:p>
            <a:pPr marL="0" indent="0">
              <a:lnSpc>
                <a:spcPct val="132000"/>
              </a:lnSpc>
              <a:spcBef>
                <a:spcPct val="0"/>
              </a:spcBef>
              <a:buFont typeface="Wingdings 2" panose="05020102010507070707" pitchFamily="18" charset="2"/>
              <a:buNone/>
            </a:pPr>
            <a:r>
              <a:rPr lang="en-US" altLang="zh-CN" dirty="0"/>
              <a:t>}</a:t>
            </a:r>
          </a:p>
          <a:p>
            <a:pPr marL="0" indent="0">
              <a:lnSpc>
                <a:spcPct val="132000"/>
              </a:lnSpc>
              <a:spcBef>
                <a:spcPct val="0"/>
              </a:spcBef>
              <a:buFont typeface="Wingdings 2" panose="05020102010507070707" pitchFamily="18" charset="2"/>
              <a:buNone/>
            </a:pPr>
            <a:r>
              <a:rPr lang="en-US" altLang="zh-CN" dirty="0" err="1"/>
              <a:t>sprintf</a:t>
            </a:r>
            <a:r>
              <a:rPr lang="en-US" altLang="zh-CN" dirty="0"/>
              <a:t>(</a:t>
            </a:r>
            <a:r>
              <a:rPr lang="en-US" altLang="zh-CN" dirty="0" err="1"/>
              <a:t>buf</a:t>
            </a:r>
            <a:r>
              <a:rPr lang="en-US" altLang="zh-CN" dirty="0"/>
              <a:t>,"this is test data for the named pipe example./n");</a:t>
            </a:r>
          </a:p>
          <a:p>
            <a:pPr marL="0" indent="0">
              <a:lnSpc>
                <a:spcPct val="132000"/>
              </a:lnSpc>
              <a:spcBef>
                <a:spcPct val="0"/>
              </a:spcBef>
              <a:buFont typeface="Wingdings 2" panose="05020102010507070707" pitchFamily="18" charset="2"/>
              <a:buNone/>
            </a:pPr>
            <a:r>
              <a:rPr lang="en-US" altLang="zh-CN" dirty="0" err="1"/>
              <a:t>fwrite</a:t>
            </a:r>
            <a:r>
              <a:rPr lang="en-US" altLang="zh-CN" dirty="0"/>
              <a:t>(</a:t>
            </a:r>
            <a:r>
              <a:rPr lang="en-US" altLang="zh-CN" dirty="0" err="1"/>
              <a:t>buf</a:t>
            </a:r>
            <a:r>
              <a:rPr lang="en-US" altLang="zh-CN" dirty="0"/>
              <a:t>, 1, 80, </a:t>
            </a:r>
            <a:r>
              <a:rPr lang="en-US" altLang="zh-CN" dirty="0" err="1"/>
              <a:t>out_file</a:t>
            </a:r>
            <a:r>
              <a:rPr lang="en-US" altLang="zh-CN" dirty="0"/>
              <a:t>);</a:t>
            </a:r>
          </a:p>
          <a:p>
            <a:pPr marL="0" indent="0">
              <a:lnSpc>
                <a:spcPct val="132000"/>
              </a:lnSpc>
              <a:spcBef>
                <a:spcPct val="0"/>
              </a:spcBef>
              <a:buFont typeface="Wingdings 2" panose="05020102010507070707" pitchFamily="18" charset="2"/>
              <a:buNone/>
            </a:pPr>
            <a:r>
              <a:rPr lang="en-US" altLang="zh-CN" dirty="0" err="1"/>
              <a:t>fclose</a:t>
            </a:r>
            <a:r>
              <a:rPr lang="en-US" altLang="zh-CN" dirty="0"/>
              <a:t>(</a:t>
            </a:r>
            <a:r>
              <a:rPr lang="en-US" altLang="zh-CN" dirty="0" err="1"/>
              <a:t>out_file</a:t>
            </a:r>
            <a:r>
              <a:rPr lang="en-US" altLang="zh-CN" dirty="0"/>
              <a:t>);</a:t>
            </a:r>
          </a:p>
          <a:p>
            <a:pPr marL="0" indent="0">
              <a:lnSpc>
                <a:spcPct val="132000"/>
              </a:lnSpc>
              <a:spcBef>
                <a:spcPct val="0"/>
              </a:spcBef>
              <a:buFont typeface="Wingdings 2" panose="05020102010507070707" pitchFamily="18" charset="2"/>
              <a:buNone/>
            </a:pPr>
            <a:r>
              <a:rPr lang="en-US" altLang="zh-CN" dirty="0"/>
              <a:t>}</a:t>
            </a:r>
          </a:p>
        </p:txBody>
      </p:sp>
      <p:cxnSp>
        <p:nvCxnSpPr>
          <p:cNvPr id="7" name="直接连接符 6"/>
          <p:cNvCxnSpPr/>
          <p:nvPr/>
        </p:nvCxnSpPr>
        <p:spPr>
          <a:xfrm>
            <a:off x="6205403" y="4998128"/>
            <a:ext cx="5442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205401" y="5184559"/>
            <a:ext cx="5442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205401" y="5379868"/>
            <a:ext cx="5442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205401" y="5575176"/>
            <a:ext cx="5442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205401" y="5770485"/>
            <a:ext cx="5442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205401" y="5974671"/>
            <a:ext cx="54421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4270" y="2152650"/>
            <a:ext cx="9346565" cy="2306955"/>
          </a:xfrm>
          <a:prstGeom prst="rect">
            <a:avLst/>
          </a:prstGeom>
        </p:spPr>
        <p:txBody>
          <a:bodyPr wrap="square">
            <a:spAutoFit/>
          </a:bodyPr>
          <a:lstStyle/>
          <a:p>
            <a:pPr marL="266700" indent="-266700" algn="just" defTabSz="266700">
              <a:spcBef>
                <a:spcPct val="0"/>
              </a:spcBef>
              <a:spcAft>
                <a:spcPct val="0"/>
              </a:spcAft>
            </a:pPr>
            <a:r>
              <a:rPr lang="en-US" altLang="zh-CN" sz="2400" b="1">
                <a:latin typeface="宋体" panose="02010600030101010101" pitchFamily="2" charset="-122"/>
                <a:ea typeface="宋体" panose="02010600030101010101" pitchFamily="2" charset="-122"/>
              </a:rPr>
              <a:t>1. </a:t>
            </a:r>
            <a:r>
              <a:rPr lang="zh-CN" altLang="en-US" sz="2400" b="1">
                <a:latin typeface="宋体" panose="02010600030101010101" pitchFamily="2" charset="-122"/>
                <a:ea typeface="宋体" panose="02010600030101010101" pitchFamily="2" charset="-122"/>
              </a:rPr>
              <a:t>下列关于管道</a:t>
            </a:r>
            <a:r>
              <a:rPr lang="en-US" altLang="zh-CN" sz="2400" b="1">
                <a:latin typeface="宋体" panose="02010600030101010101" pitchFamily="2" charset="-122"/>
                <a:ea typeface="宋体" panose="02010600030101010101" pitchFamily="2" charset="-122"/>
              </a:rPr>
              <a:t>( Pipe )</a:t>
            </a:r>
            <a:r>
              <a:rPr lang="zh-CN" altLang="en-US" sz="2400" b="1">
                <a:latin typeface="宋体" panose="02010600030101010101" pitchFamily="2" charset="-122"/>
                <a:ea typeface="宋体" panose="02010600030101010101" pitchFamily="2" charset="-122"/>
              </a:rPr>
              <a:t>通信的叙述中，正确的是</a:t>
            </a:r>
            <a:r>
              <a:rPr lang="en-US" altLang="zh-CN" sz="2400" b="1">
                <a:latin typeface="宋体" panose="02010600030101010101" pitchFamily="2" charset="-122"/>
                <a:ea typeface="宋体" panose="02010600030101010101" pitchFamily="2" charset="-122"/>
              </a:rPr>
              <a:t>(	C )</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2014</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A.</a:t>
            </a:r>
            <a:r>
              <a:rPr lang="zh-CN" altLang="en-US" sz="2400" b="1">
                <a:latin typeface="宋体" panose="02010600030101010101" pitchFamily="2" charset="-122"/>
                <a:ea typeface="宋体" panose="02010600030101010101" pitchFamily="2" charset="-122"/>
              </a:rPr>
              <a:t>一个管道可实现双向数据传输</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B.</a:t>
            </a:r>
            <a:r>
              <a:rPr lang="zh-CN" altLang="en-US" sz="2400" b="1">
                <a:latin typeface="宋体" panose="02010600030101010101" pitchFamily="2" charset="-122"/>
                <a:ea typeface="宋体" panose="02010600030101010101" pitchFamily="2" charset="-122"/>
              </a:rPr>
              <a:t>管道的容量仅受磁盘容量大小限制</a:t>
            </a:r>
          </a:p>
          <a:p>
            <a:pPr marL="0" indent="0" algn="just" defTabSz="266700">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rPr>
              <a:t>C.</a:t>
            </a:r>
            <a:r>
              <a:rPr lang="zh-CN" altLang="en-US" sz="2400" b="1">
                <a:latin typeface="宋体" panose="02010600030101010101" pitchFamily="2" charset="-122"/>
                <a:ea typeface="宋体" panose="02010600030101010101" pitchFamily="2" charset="-122"/>
              </a:rPr>
              <a:t>进程对管道进行读操作和写操作都可能被阻塞</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D.</a:t>
            </a:r>
            <a:r>
              <a:rPr lang="zh-CN" altLang="en-US" sz="2400" b="1">
                <a:latin typeface="宋体" panose="02010600030101010101" pitchFamily="2" charset="-122"/>
                <a:ea typeface="宋体" panose="02010600030101010101" pitchFamily="2" charset="-122"/>
              </a:rPr>
              <a:t>一个管道只能有一个读进程或一个写进程对其操作</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361663" y="3247028"/>
            <a:ext cx="4329575" cy="530594"/>
          </a:xfrm>
          <a:prstGeom prst="rect">
            <a:avLst/>
          </a:prstGeom>
        </p:spPr>
        <p:txBody>
          <a:bodyPr wrap="square">
            <a:spAutoFit/>
          </a:bodyPr>
          <a:lstStyle/>
          <a:p>
            <a:pPr algn="ctr">
              <a:lnSpc>
                <a:spcPct val="132000"/>
              </a:lnSpc>
            </a:pPr>
            <a:r>
              <a:rPr lang="zh-CN" altLang="en-US" sz="2400" dirty="0">
                <a:solidFill>
                  <a:srgbClr val="002060"/>
                </a:solidFill>
              </a:rPr>
              <a:t>主讲：王红玲    主审：汤小丹</a:t>
            </a:r>
            <a:endParaRPr lang="en-US" altLang="zh-CN" sz="2400" dirty="0">
              <a:solidFill>
                <a:srgbClr val="002060"/>
              </a:solidFill>
            </a:endParaRPr>
          </a:p>
        </p:txBody>
      </p: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solidFill>
                  <a:srgbClr val="0000FF"/>
                </a:solidFill>
                <a:latin typeface="+mj-ea"/>
              </a:rPr>
              <a:t>2.5 </a:t>
            </a:r>
            <a:r>
              <a:rPr lang="zh-CN" altLang="en-US" sz="2400" dirty="0">
                <a:solidFill>
                  <a:srgbClr val="0000FF"/>
                </a:solidFill>
                <a:latin typeface="+mj-ea"/>
              </a:rPr>
              <a:t>线程的基本概念</a:t>
            </a: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线程的概念</a:t>
            </a:r>
          </a:p>
        </p:txBody>
      </p:sp>
      <p:sp>
        <p:nvSpPr>
          <p:cNvPr id="220" name="íšḻîḋè"/>
          <p:cNvSpPr/>
          <p:nvPr/>
        </p:nvSpPr>
        <p:spPr>
          <a:xfrm>
            <a:off x="2628029" y="3564463"/>
            <a:ext cx="3382157"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使多个程序并发执行</a:t>
            </a:r>
          </a:p>
        </p:txBody>
      </p:sp>
      <p:sp>
        <p:nvSpPr>
          <p:cNvPr id="221" name="i$lîďê"/>
          <p:cNvSpPr/>
          <p:nvPr/>
        </p:nvSpPr>
        <p:spPr>
          <a:xfrm>
            <a:off x="2628029" y="2986584"/>
            <a:ext cx="3696051" cy="392877"/>
          </a:xfrm>
          <a:prstGeom prst="rect">
            <a:avLst/>
          </a:prstGeom>
          <a:noFill/>
          <a:ln>
            <a:noFill/>
          </a:ln>
        </p:spPr>
        <p:txBody>
          <a:bodyPr wrap="square" lIns="91440" tIns="45720" rIns="91440" bIns="45720" anchor="ctr" anchorCtr="0">
            <a:noAutofit/>
          </a:bodyPr>
          <a:lstStyle/>
          <a:p>
            <a:pPr marL="609600" indent="-609600" algn="just"/>
            <a:r>
              <a:rPr lang="zh-CN" altLang="en-US" sz="2800" dirty="0"/>
              <a:t>引入进程的目的</a:t>
            </a:r>
          </a:p>
        </p:txBody>
      </p:sp>
      <p:sp>
        <p:nvSpPr>
          <p:cNvPr id="222" name="î$ļíḋè"/>
          <p:cNvSpPr/>
          <p:nvPr/>
        </p:nvSpPr>
        <p:spPr>
          <a:xfrm>
            <a:off x="3311533" y="4946710"/>
            <a:ext cx="6702482" cy="103684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进程是一个可拥有资源的独立单位；</a:t>
            </a:r>
          </a:p>
          <a:p>
            <a:pPr marL="342900" indent="-342900">
              <a:lnSpc>
                <a:spcPct val="120000"/>
              </a:lnSpc>
              <a:buClr>
                <a:srgbClr val="FF0000"/>
              </a:buClr>
              <a:buFont typeface="Wingdings" panose="05000000000000000000" pitchFamily="2" charset="2"/>
              <a:buChar char="Ø"/>
            </a:pPr>
            <a:r>
              <a:rPr lang="zh-CN" altLang="en-US" sz="2400" dirty="0"/>
              <a:t>进程是一个可独立调度和分派的基本单位。</a:t>
            </a:r>
            <a:endParaRPr lang="pt-BR" altLang="zh-CN" sz="2400" dirty="0"/>
          </a:p>
        </p:txBody>
      </p:sp>
      <p:sp>
        <p:nvSpPr>
          <p:cNvPr id="223" name="ïṧḷïḋè"/>
          <p:cNvSpPr/>
          <p:nvPr/>
        </p:nvSpPr>
        <p:spPr>
          <a:xfrm>
            <a:off x="3311533" y="4371789"/>
            <a:ext cx="3696051" cy="415102"/>
          </a:xfrm>
          <a:prstGeom prst="rect">
            <a:avLst/>
          </a:prstGeom>
          <a:noFill/>
          <a:ln>
            <a:noFill/>
          </a:ln>
        </p:spPr>
        <p:txBody>
          <a:bodyPr wrap="square" lIns="91440" tIns="45720" rIns="91440" bIns="45720" anchor="ctr" anchorCtr="0">
            <a:noAutofit/>
          </a:bodyPr>
          <a:lstStyle/>
          <a:p>
            <a:r>
              <a:rPr lang="zh-CN" altLang="en-US" sz="2400" dirty="0"/>
              <a:t>进程的</a:t>
            </a:r>
            <a:r>
              <a:rPr lang="en-US" altLang="zh-CN" sz="2400" dirty="0"/>
              <a:t>2</a:t>
            </a:r>
            <a:r>
              <a:rPr lang="zh-CN" altLang="en-US" sz="2400" dirty="0"/>
              <a:t>个</a:t>
            </a:r>
            <a:r>
              <a:rPr lang="zh-CN" altLang="en-US" sz="2400" dirty="0">
                <a:solidFill>
                  <a:srgbClr val="FF0000"/>
                </a:solidFill>
              </a:rPr>
              <a:t>基本属性：</a:t>
            </a:r>
          </a:p>
        </p:txBody>
      </p:sp>
      <p:sp>
        <p:nvSpPr>
          <p:cNvPr id="224" name="îs1iďé"/>
          <p:cNvSpPr/>
          <p:nvPr/>
        </p:nvSpPr>
        <p:spPr>
          <a:xfrm>
            <a:off x="1516678" y="1793383"/>
            <a:ext cx="4218299" cy="39287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t>60</a:t>
            </a:r>
            <a:r>
              <a:rPr lang="zh-CN" altLang="en-US" sz="2200" dirty="0"/>
              <a:t>年代中期：提出进程概念</a:t>
            </a:r>
          </a:p>
        </p:txBody>
      </p:sp>
      <p:sp>
        <p:nvSpPr>
          <p:cNvPr id="225" name="íšḻíḑê"/>
          <p:cNvSpPr/>
          <p:nvPr/>
        </p:nvSpPr>
        <p:spPr>
          <a:xfrm>
            <a:off x="1495474" y="1329488"/>
            <a:ext cx="3696051" cy="405747"/>
          </a:xfrm>
          <a:prstGeom prst="rect">
            <a:avLst/>
          </a:prstGeom>
          <a:noFill/>
          <a:ln>
            <a:noFill/>
          </a:ln>
        </p:spPr>
        <p:txBody>
          <a:bodyPr wrap="square" lIns="91440" tIns="45720" rIns="91440" bIns="45720" anchor="ctr" anchorCtr="0">
            <a:noAutofit/>
          </a:bodyPr>
          <a:lstStyle/>
          <a:p>
            <a:pPr marL="609600" indent="-609600" algn="just">
              <a:lnSpc>
                <a:spcPct val="90000"/>
              </a:lnSpc>
            </a:pPr>
            <a:r>
              <a:rPr lang="zh-CN" altLang="en-US" sz="2800" dirty="0"/>
              <a:t>时间</a:t>
            </a:r>
          </a:p>
        </p:txBody>
      </p:sp>
      <p:sp>
        <p:nvSpPr>
          <p:cNvPr id="226" name="îSļiḓè"/>
          <p:cNvSpPr/>
          <p:nvPr/>
        </p:nvSpPr>
        <p:spPr>
          <a:xfrm>
            <a:off x="811971" y="121956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7" name="íṥḻîḓe"/>
          <p:cNvSpPr/>
          <p:nvPr/>
        </p:nvSpPr>
        <p:spPr>
          <a:xfrm>
            <a:off x="2628029" y="428918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8" name="îşļiḓè"/>
          <p:cNvSpPr/>
          <p:nvPr/>
        </p:nvSpPr>
        <p:spPr>
          <a:xfrm>
            <a:off x="1944527" y="297621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9" name="îṡḷíďe"/>
          <p:cNvSpPr/>
          <p:nvPr/>
        </p:nvSpPr>
        <p:spPr>
          <a:xfrm>
            <a:off x="1002226" y="1415705"/>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230" name="íSlíḋe"/>
          <p:cNvSpPr/>
          <p:nvPr/>
        </p:nvSpPr>
        <p:spPr>
          <a:xfrm>
            <a:off x="2134781" y="319822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231" name="ïśḷïḓe"/>
          <p:cNvSpPr/>
          <p:nvPr/>
        </p:nvSpPr>
        <p:spPr>
          <a:xfrm>
            <a:off x="2847222" y="447864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18" name="îs1iďé"/>
          <p:cNvSpPr/>
          <p:nvPr/>
        </p:nvSpPr>
        <p:spPr>
          <a:xfrm>
            <a:off x="1516679" y="2262402"/>
            <a:ext cx="4218298" cy="415103"/>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t>80</a:t>
            </a:r>
            <a:r>
              <a:rPr lang="zh-CN" altLang="en-US" sz="2200" dirty="0"/>
              <a:t>年代中期：提出线程概念</a:t>
            </a:r>
          </a:p>
        </p:txBody>
      </p:sp>
      <p:sp>
        <p:nvSpPr>
          <p:cNvPr id="19" name="îs1iďé"/>
          <p:cNvSpPr/>
          <p:nvPr/>
        </p:nvSpPr>
        <p:spPr>
          <a:xfrm>
            <a:off x="5734977" y="1820151"/>
            <a:ext cx="4868026" cy="41494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t>90</a:t>
            </a:r>
            <a:r>
              <a:rPr lang="zh-CN" altLang="en-US" sz="2200" dirty="0"/>
              <a:t>年代后：多处理机系统引入线程</a:t>
            </a:r>
          </a:p>
        </p:txBody>
      </p:sp>
      <p:sp>
        <p:nvSpPr>
          <p:cNvPr id="21" name="íšḻîḋè"/>
          <p:cNvSpPr/>
          <p:nvPr/>
        </p:nvSpPr>
        <p:spPr>
          <a:xfrm>
            <a:off x="5734977" y="3564462"/>
            <a:ext cx="4540479"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提高资源利用率及系统吞吐量</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线程的概念</a:t>
            </a:r>
          </a:p>
        </p:txBody>
      </p:sp>
      <p:sp>
        <p:nvSpPr>
          <p:cNvPr id="221" name="i$lîďê"/>
          <p:cNvSpPr/>
          <p:nvPr/>
        </p:nvSpPr>
        <p:spPr>
          <a:xfrm>
            <a:off x="2628029" y="3341696"/>
            <a:ext cx="8566713" cy="392877"/>
          </a:xfrm>
          <a:prstGeom prst="rect">
            <a:avLst/>
          </a:prstGeom>
          <a:noFill/>
          <a:ln>
            <a:noFill/>
          </a:ln>
        </p:spPr>
        <p:txBody>
          <a:bodyPr wrap="square" lIns="91440" tIns="45720" rIns="91440" bIns="45720" anchor="ctr" anchorCtr="0">
            <a:noAutofit/>
          </a:bodyPr>
          <a:lstStyle/>
          <a:p>
            <a:pPr marL="609600" indent="-609600" algn="just"/>
            <a:r>
              <a:rPr lang="zh-CN" altLang="en-US" sz="2800" dirty="0">
                <a:solidFill>
                  <a:srgbClr val="0000FF"/>
                </a:solidFill>
              </a:rPr>
              <a:t>进程</a:t>
            </a:r>
            <a:r>
              <a:rPr lang="zh-CN" altLang="en-US" sz="2800" dirty="0"/>
              <a:t>是拥有资源的基本单位（传统进程称为重型进程）</a:t>
            </a:r>
          </a:p>
        </p:txBody>
      </p:sp>
      <p:sp>
        <p:nvSpPr>
          <p:cNvPr id="223" name="ïṧḷïḋè"/>
          <p:cNvSpPr/>
          <p:nvPr/>
        </p:nvSpPr>
        <p:spPr>
          <a:xfrm>
            <a:off x="3311533" y="4620365"/>
            <a:ext cx="8193927" cy="415102"/>
          </a:xfrm>
          <a:prstGeom prst="rect">
            <a:avLst/>
          </a:prstGeom>
          <a:noFill/>
          <a:ln>
            <a:noFill/>
          </a:ln>
        </p:spPr>
        <p:txBody>
          <a:bodyPr wrap="square" lIns="91440" tIns="45720" rIns="91440" bIns="45720" anchor="ctr" anchorCtr="0">
            <a:noAutofit/>
          </a:bodyPr>
          <a:lstStyle/>
          <a:p>
            <a:r>
              <a:rPr lang="zh-CN" altLang="en-US" sz="2800" dirty="0">
                <a:solidFill>
                  <a:srgbClr val="FF0000"/>
                </a:solidFill>
              </a:rPr>
              <a:t>线程</a:t>
            </a:r>
            <a:r>
              <a:rPr lang="zh-CN" altLang="en-US" sz="2800" dirty="0"/>
              <a:t>作为调度和分派的基本单位（又称为轻型进程）</a:t>
            </a:r>
          </a:p>
        </p:txBody>
      </p:sp>
      <p:sp>
        <p:nvSpPr>
          <p:cNvPr id="224" name="îs1iďé"/>
          <p:cNvSpPr/>
          <p:nvPr/>
        </p:nvSpPr>
        <p:spPr>
          <a:xfrm>
            <a:off x="1516678" y="1793383"/>
            <a:ext cx="6562002" cy="124502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减少程序在并发执行时所付出的时空开销</a:t>
            </a:r>
          </a:p>
          <a:p>
            <a:pPr marL="342900" indent="-342900">
              <a:lnSpc>
                <a:spcPct val="120000"/>
              </a:lnSpc>
              <a:buClr>
                <a:srgbClr val="FF0000"/>
              </a:buClr>
              <a:buFont typeface="Wingdings" panose="05000000000000000000" pitchFamily="2" charset="2"/>
              <a:buChar char="Ø"/>
            </a:pPr>
            <a:r>
              <a:rPr lang="zh-CN" altLang="en-US" sz="2200" dirty="0"/>
              <a:t>使</a:t>
            </a:r>
            <a:r>
              <a:rPr lang="en-US" altLang="zh-CN" sz="2200" dirty="0"/>
              <a:t>OS</a:t>
            </a:r>
            <a:r>
              <a:rPr lang="zh-CN" altLang="en-US" sz="2200" dirty="0"/>
              <a:t>具有更好的并发性</a:t>
            </a:r>
          </a:p>
          <a:p>
            <a:pPr marL="342900" indent="-342900">
              <a:lnSpc>
                <a:spcPct val="120000"/>
              </a:lnSpc>
              <a:buClr>
                <a:srgbClr val="FF0000"/>
              </a:buClr>
              <a:buFont typeface="Wingdings" panose="05000000000000000000" pitchFamily="2" charset="2"/>
              <a:buChar char="Ø"/>
            </a:pPr>
            <a:r>
              <a:rPr lang="zh-CN" altLang="en-US" sz="2200" dirty="0"/>
              <a:t>适用于</a:t>
            </a:r>
            <a:r>
              <a:rPr lang="en-US" altLang="zh-CN" sz="2200" dirty="0"/>
              <a:t>SMP</a:t>
            </a:r>
            <a:r>
              <a:rPr lang="zh-CN" altLang="en-US" sz="2200" dirty="0"/>
              <a:t>结构的计算机系统</a:t>
            </a:r>
          </a:p>
        </p:txBody>
      </p:sp>
      <p:sp>
        <p:nvSpPr>
          <p:cNvPr id="225" name="íšḻíḑê"/>
          <p:cNvSpPr/>
          <p:nvPr/>
        </p:nvSpPr>
        <p:spPr>
          <a:xfrm>
            <a:off x="1495474" y="1329488"/>
            <a:ext cx="3696051" cy="405747"/>
          </a:xfrm>
          <a:prstGeom prst="rect">
            <a:avLst/>
          </a:prstGeom>
          <a:noFill/>
          <a:ln>
            <a:noFill/>
          </a:ln>
        </p:spPr>
        <p:txBody>
          <a:bodyPr wrap="square" lIns="91440" tIns="45720" rIns="91440" bIns="45720" anchor="ctr" anchorCtr="0">
            <a:noAutofit/>
          </a:bodyPr>
          <a:lstStyle/>
          <a:p>
            <a:pPr marL="609600" indent="-609600" algn="just">
              <a:lnSpc>
                <a:spcPct val="90000"/>
              </a:lnSpc>
            </a:pPr>
            <a:r>
              <a:rPr lang="zh-CN" altLang="en-US" sz="2800" dirty="0"/>
              <a:t>提出线程的目的</a:t>
            </a:r>
          </a:p>
        </p:txBody>
      </p:sp>
      <p:sp>
        <p:nvSpPr>
          <p:cNvPr id="226" name="îSļiḓè"/>
          <p:cNvSpPr/>
          <p:nvPr/>
        </p:nvSpPr>
        <p:spPr>
          <a:xfrm>
            <a:off x="811971" y="121956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7" name="íṥḻîḓe"/>
          <p:cNvSpPr/>
          <p:nvPr/>
        </p:nvSpPr>
        <p:spPr>
          <a:xfrm>
            <a:off x="2628029" y="4537763"/>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8" name="îşļiḓè"/>
          <p:cNvSpPr/>
          <p:nvPr/>
        </p:nvSpPr>
        <p:spPr>
          <a:xfrm>
            <a:off x="1944527" y="322478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9" name="îṡḷíďe"/>
          <p:cNvSpPr/>
          <p:nvPr/>
        </p:nvSpPr>
        <p:spPr>
          <a:xfrm>
            <a:off x="1002226" y="1415705"/>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230" name="íSlíḋe"/>
          <p:cNvSpPr/>
          <p:nvPr/>
        </p:nvSpPr>
        <p:spPr>
          <a:xfrm>
            <a:off x="2134781" y="3446804"/>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231" name="ïśḷïḓe"/>
          <p:cNvSpPr/>
          <p:nvPr/>
        </p:nvSpPr>
        <p:spPr>
          <a:xfrm>
            <a:off x="2847222" y="472722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线程和进程的比较</a:t>
            </a:r>
            <a:r>
              <a:rPr lang="en-US" altLang="zh-CN" sz="2800" b="1" dirty="0">
                <a:solidFill>
                  <a:schemeClr val="bg1"/>
                </a:solidFill>
              </a:rPr>
              <a:t>(1)</a:t>
            </a:r>
            <a:endParaRPr lang="zh-CN" altLang="en-US" sz="2800" b="1" dirty="0">
              <a:solidFill>
                <a:schemeClr val="bg1"/>
              </a:solidFill>
            </a:endParaRPr>
          </a:p>
        </p:txBody>
      </p:sp>
      <p:sp>
        <p:nvSpPr>
          <p:cNvPr id="30" name="iśḷíḑe"/>
          <p:cNvSpPr/>
          <p:nvPr/>
        </p:nvSpPr>
        <p:spPr>
          <a:xfrm>
            <a:off x="784302" y="1352848"/>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31" name="内容占位符 2"/>
          <p:cNvSpPr txBox="1"/>
          <p:nvPr/>
        </p:nvSpPr>
        <p:spPr>
          <a:xfrm>
            <a:off x="1734478" y="1397274"/>
            <a:ext cx="9992924" cy="29200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FF0000"/>
                </a:solidFill>
              </a:rPr>
              <a:t>调度</a:t>
            </a:r>
            <a:r>
              <a:rPr lang="zh-CN" altLang="en-US" sz="2400" dirty="0"/>
              <a:t>的基本单位</a:t>
            </a:r>
          </a:p>
          <a:p>
            <a:pPr marL="0" lvl="1" indent="0">
              <a:lnSpc>
                <a:spcPct val="132000"/>
              </a:lnSpc>
              <a:buClr>
                <a:srgbClr val="0000FF"/>
              </a:buClr>
              <a:buFont typeface="Wingdings" panose="05000000000000000000" pitchFamily="2" charset="2"/>
              <a:buChar char="Ø"/>
            </a:pPr>
            <a:r>
              <a:rPr lang="zh-CN" altLang="en-US" sz="2200" dirty="0"/>
              <a:t>在传统的</a:t>
            </a:r>
            <a:r>
              <a:rPr lang="en-US" altLang="zh-CN" sz="2200" dirty="0"/>
              <a:t>OS</a:t>
            </a:r>
            <a:r>
              <a:rPr lang="zh-CN" altLang="en-US" sz="2200" dirty="0"/>
              <a:t>中，拥有资源、独立调度和分派的基本单位都是进程；</a:t>
            </a:r>
          </a:p>
          <a:p>
            <a:pPr marL="0" lvl="1" indent="0">
              <a:lnSpc>
                <a:spcPct val="132000"/>
              </a:lnSpc>
              <a:buClr>
                <a:srgbClr val="0000FF"/>
              </a:buClr>
              <a:buFont typeface="Wingdings" panose="05000000000000000000" pitchFamily="2" charset="2"/>
              <a:buChar char="Ø"/>
            </a:pPr>
            <a:r>
              <a:rPr lang="zh-CN" altLang="en-US" sz="2200" dirty="0"/>
              <a:t>在引入线程的</a:t>
            </a:r>
            <a:r>
              <a:rPr lang="en-US" altLang="zh-CN" sz="2200" dirty="0"/>
              <a:t>OS</a:t>
            </a:r>
            <a:r>
              <a:rPr lang="zh-CN" altLang="en-US" sz="2200" dirty="0"/>
              <a:t>中，线程作为调度和分派的基本单位，进程作为资源拥有的基本单位；</a:t>
            </a:r>
          </a:p>
          <a:p>
            <a:pPr marL="0" lvl="1" indent="0">
              <a:lnSpc>
                <a:spcPct val="132000"/>
              </a:lnSpc>
              <a:buClr>
                <a:srgbClr val="0000FF"/>
              </a:buClr>
              <a:buFont typeface="Wingdings" panose="05000000000000000000" pitchFamily="2" charset="2"/>
              <a:buChar char="Ø"/>
            </a:pPr>
            <a:r>
              <a:rPr lang="zh-CN" altLang="en-US" sz="2200" dirty="0"/>
              <a:t>在同一进程中，线程的切换不会引起进程切换，在由一个进程中的线程切换到另一个进程中的线程时，将会引起进程切换。</a:t>
            </a:r>
          </a:p>
        </p:txBody>
      </p:sp>
      <p:sp>
        <p:nvSpPr>
          <p:cNvPr id="33" name="ïś1ïḑè"/>
          <p:cNvSpPr/>
          <p:nvPr/>
        </p:nvSpPr>
        <p:spPr>
          <a:xfrm>
            <a:off x="784303" y="4397220"/>
            <a:ext cx="774099" cy="774099"/>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34" name="内容占位符 2"/>
          <p:cNvSpPr txBox="1"/>
          <p:nvPr/>
        </p:nvSpPr>
        <p:spPr>
          <a:xfrm>
            <a:off x="1734478" y="4628114"/>
            <a:ext cx="2573361"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并发性</a:t>
            </a:r>
          </a:p>
        </p:txBody>
      </p:sp>
      <p:sp>
        <p:nvSpPr>
          <p:cNvPr id="35" name="内容占位符 2"/>
          <p:cNvSpPr txBox="1"/>
          <p:nvPr/>
        </p:nvSpPr>
        <p:spPr>
          <a:xfrm>
            <a:off x="1321480" y="5171319"/>
            <a:ext cx="10405922" cy="10711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在引入</a:t>
            </a:r>
            <a:r>
              <a:rPr lang="zh-CN" altLang="en-US" sz="2200" dirty="0">
                <a:solidFill>
                  <a:srgbClr val="FF0000"/>
                </a:solidFill>
              </a:rPr>
              <a:t>线程</a:t>
            </a:r>
            <a:r>
              <a:rPr lang="zh-CN" altLang="en-US" sz="2200" dirty="0"/>
              <a:t>的操作系统中，不仅</a:t>
            </a:r>
            <a:r>
              <a:rPr lang="zh-CN" altLang="en-US" sz="2200" dirty="0">
                <a:solidFill>
                  <a:srgbClr val="0000FF"/>
                </a:solidFill>
              </a:rPr>
              <a:t>进程</a:t>
            </a:r>
            <a:r>
              <a:rPr lang="zh-CN" altLang="en-US" sz="2200" dirty="0"/>
              <a:t>之间可以并发执行，而且在一个</a:t>
            </a:r>
            <a:r>
              <a:rPr lang="zh-CN" altLang="en-US" sz="2200" dirty="0">
                <a:solidFill>
                  <a:srgbClr val="0000FF"/>
                </a:solidFill>
              </a:rPr>
              <a:t>进程</a:t>
            </a:r>
            <a:r>
              <a:rPr lang="zh-CN" altLang="en-US" sz="2200" dirty="0"/>
              <a:t>中的多个</a:t>
            </a:r>
            <a:r>
              <a:rPr lang="zh-CN" altLang="en-US" sz="2200" dirty="0">
                <a:solidFill>
                  <a:srgbClr val="FF0000"/>
                </a:solidFill>
              </a:rPr>
              <a:t>线程</a:t>
            </a:r>
            <a:r>
              <a:rPr lang="zh-CN" altLang="en-US" sz="2200" dirty="0"/>
              <a:t>之间，也可并发执行。</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线程和进程的比较</a:t>
            </a:r>
            <a:r>
              <a:rPr lang="en-US" altLang="zh-CN" sz="2800" b="1" dirty="0">
                <a:solidFill>
                  <a:schemeClr val="bg1"/>
                </a:solidFill>
              </a:rPr>
              <a:t>(2)</a:t>
            </a:r>
            <a:endParaRPr lang="zh-CN" altLang="en-US" sz="2800" b="1" dirty="0">
              <a:solidFill>
                <a:schemeClr val="bg1"/>
              </a:solidFill>
            </a:endParaRPr>
          </a:p>
        </p:txBody>
      </p:sp>
      <p:sp>
        <p:nvSpPr>
          <p:cNvPr id="30" name="iśḷíḑe"/>
          <p:cNvSpPr/>
          <p:nvPr/>
        </p:nvSpPr>
        <p:spPr>
          <a:xfrm>
            <a:off x="784302" y="1352848"/>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31" name="内容占位符 2"/>
          <p:cNvSpPr txBox="1"/>
          <p:nvPr/>
        </p:nvSpPr>
        <p:spPr>
          <a:xfrm>
            <a:off x="1734478" y="1397274"/>
            <a:ext cx="9992924" cy="224898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拥有资源</a:t>
            </a:r>
          </a:p>
          <a:p>
            <a:pPr marL="0" lvl="1" indent="0">
              <a:lnSpc>
                <a:spcPct val="132000"/>
              </a:lnSpc>
              <a:buClr>
                <a:srgbClr val="0000FF"/>
              </a:buClr>
              <a:buFont typeface="Wingdings" panose="05000000000000000000" pitchFamily="2" charset="2"/>
              <a:buChar char="Ø"/>
            </a:pPr>
            <a:r>
              <a:rPr lang="zh-CN" altLang="en-US" sz="2200" dirty="0">
                <a:solidFill>
                  <a:srgbClr val="0000FF"/>
                </a:solidFill>
              </a:rPr>
              <a:t>进程</a:t>
            </a:r>
            <a:r>
              <a:rPr lang="zh-CN" altLang="en-US" sz="2200" dirty="0"/>
              <a:t>是系统中拥有资源的一个基本单位，它可以拥有资源。</a:t>
            </a:r>
          </a:p>
          <a:p>
            <a:pPr marL="0" lvl="1" indent="0">
              <a:lnSpc>
                <a:spcPct val="132000"/>
              </a:lnSpc>
              <a:buClr>
                <a:srgbClr val="0000FF"/>
              </a:buClr>
              <a:buFont typeface="Wingdings" panose="05000000000000000000" pitchFamily="2" charset="2"/>
              <a:buChar char="Ø"/>
            </a:pPr>
            <a:r>
              <a:rPr lang="zh-CN" altLang="en-US" sz="2200" dirty="0">
                <a:solidFill>
                  <a:srgbClr val="FF0000"/>
                </a:solidFill>
              </a:rPr>
              <a:t>线程</a:t>
            </a:r>
            <a:r>
              <a:rPr lang="zh-CN" altLang="en-US" sz="2200" dirty="0"/>
              <a:t>本身不拥有系统资源，仅有一点保证独立运行的资源。</a:t>
            </a:r>
          </a:p>
          <a:p>
            <a:pPr marL="0" lvl="1" indent="0">
              <a:lnSpc>
                <a:spcPct val="132000"/>
              </a:lnSpc>
              <a:buClr>
                <a:srgbClr val="0000FF"/>
              </a:buClr>
              <a:buFont typeface="Wingdings" panose="05000000000000000000" pitchFamily="2" charset="2"/>
              <a:buChar char="Ø"/>
            </a:pPr>
            <a:r>
              <a:rPr lang="zh-CN" altLang="en-US" sz="2200" dirty="0"/>
              <a:t>允许多个</a:t>
            </a:r>
            <a:r>
              <a:rPr lang="zh-CN" altLang="en-US" sz="2200" dirty="0">
                <a:solidFill>
                  <a:srgbClr val="FF0000"/>
                </a:solidFill>
              </a:rPr>
              <a:t>线程</a:t>
            </a:r>
            <a:r>
              <a:rPr lang="zh-CN" altLang="en-US" sz="2200" dirty="0"/>
              <a:t>共享其隶属</a:t>
            </a:r>
            <a:r>
              <a:rPr lang="zh-CN" altLang="en-US" sz="2200" dirty="0">
                <a:solidFill>
                  <a:srgbClr val="0000FF"/>
                </a:solidFill>
              </a:rPr>
              <a:t>进程</a:t>
            </a:r>
            <a:r>
              <a:rPr lang="zh-CN" altLang="en-US" sz="2200" dirty="0"/>
              <a:t>所拥有的资源。</a:t>
            </a:r>
          </a:p>
        </p:txBody>
      </p:sp>
      <p:sp>
        <p:nvSpPr>
          <p:cNvPr id="8" name="ïś1ïḑè"/>
          <p:cNvSpPr/>
          <p:nvPr/>
        </p:nvSpPr>
        <p:spPr>
          <a:xfrm>
            <a:off x="784303" y="3667548"/>
            <a:ext cx="774099" cy="774099"/>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9" name="内容占位符 2"/>
          <p:cNvSpPr txBox="1"/>
          <p:nvPr/>
        </p:nvSpPr>
        <p:spPr>
          <a:xfrm>
            <a:off x="1734478" y="3898442"/>
            <a:ext cx="2573361"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FF0000"/>
                </a:solidFill>
              </a:rPr>
              <a:t>独立性</a:t>
            </a:r>
          </a:p>
        </p:txBody>
      </p:sp>
      <p:sp>
        <p:nvSpPr>
          <p:cNvPr id="10" name="内容占位符 2"/>
          <p:cNvSpPr txBox="1"/>
          <p:nvPr/>
        </p:nvSpPr>
        <p:spPr>
          <a:xfrm>
            <a:off x="1321480" y="4441648"/>
            <a:ext cx="10405922" cy="7452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同一进程中的不同线程之间的独立性要比不同进程之间的独立性低得多。</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线程和进程的比较</a:t>
            </a:r>
            <a:r>
              <a:rPr lang="en-US" altLang="zh-CN" sz="2800" b="1" dirty="0">
                <a:solidFill>
                  <a:schemeClr val="bg1"/>
                </a:solidFill>
              </a:rPr>
              <a:t>(2)</a:t>
            </a:r>
            <a:endParaRPr lang="zh-CN" altLang="en-US" sz="2800" b="1" dirty="0">
              <a:solidFill>
                <a:schemeClr val="bg1"/>
              </a:solidFill>
            </a:endParaRPr>
          </a:p>
        </p:txBody>
      </p:sp>
      <p:sp>
        <p:nvSpPr>
          <p:cNvPr id="30" name="iśḷíḑe"/>
          <p:cNvSpPr/>
          <p:nvPr/>
        </p:nvSpPr>
        <p:spPr>
          <a:xfrm>
            <a:off x="784302" y="1352848"/>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05</a:t>
            </a:r>
            <a:endParaRPr lang="zh-CN" altLang="en-US" sz="2400" b="1" kern="0" dirty="0">
              <a:solidFill>
                <a:prstClr val="white"/>
              </a:solidFill>
            </a:endParaRPr>
          </a:p>
        </p:txBody>
      </p:sp>
      <p:sp>
        <p:nvSpPr>
          <p:cNvPr id="31" name="内容占位符 2"/>
          <p:cNvSpPr txBox="1"/>
          <p:nvPr/>
        </p:nvSpPr>
        <p:spPr>
          <a:xfrm>
            <a:off x="1734478" y="1397274"/>
            <a:ext cx="9992924" cy="224898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系统开销</a:t>
            </a:r>
          </a:p>
          <a:p>
            <a:pPr marL="0" lvl="1" indent="0">
              <a:lnSpc>
                <a:spcPct val="132000"/>
              </a:lnSpc>
              <a:buClr>
                <a:srgbClr val="0000FF"/>
              </a:buClr>
              <a:buFont typeface="Wingdings" panose="05000000000000000000" pitchFamily="2" charset="2"/>
              <a:buChar char="Ø"/>
            </a:pPr>
            <a:r>
              <a:rPr lang="zh-CN" altLang="en-US" sz="2200" dirty="0"/>
              <a:t>在创建或撤消进程时，</a:t>
            </a:r>
            <a:r>
              <a:rPr lang="en-US" altLang="zh-CN" sz="2200" dirty="0"/>
              <a:t>OS</a:t>
            </a:r>
            <a:r>
              <a:rPr lang="zh-CN" altLang="en-US" sz="2200" dirty="0"/>
              <a:t>所付出的开销将显著大于创建或撤消线程时的开销。</a:t>
            </a:r>
          </a:p>
          <a:p>
            <a:pPr marL="0" lvl="1" indent="0">
              <a:lnSpc>
                <a:spcPct val="132000"/>
              </a:lnSpc>
              <a:buClr>
                <a:srgbClr val="0000FF"/>
              </a:buClr>
              <a:buFont typeface="Wingdings" panose="05000000000000000000" pitchFamily="2" charset="2"/>
              <a:buChar char="Ø"/>
            </a:pPr>
            <a:r>
              <a:rPr lang="zh-CN" altLang="en-US" sz="2200" dirty="0"/>
              <a:t>线程切换的代价远低于进程切换的代价。</a:t>
            </a:r>
          </a:p>
          <a:p>
            <a:pPr marL="0" lvl="1" indent="0">
              <a:lnSpc>
                <a:spcPct val="132000"/>
              </a:lnSpc>
              <a:buClr>
                <a:srgbClr val="0000FF"/>
              </a:buClr>
              <a:buFont typeface="Wingdings" panose="05000000000000000000" pitchFamily="2" charset="2"/>
              <a:buChar char="Ø"/>
            </a:pPr>
            <a:r>
              <a:rPr lang="zh-CN" altLang="en-US" sz="2200" dirty="0"/>
              <a:t>同一进程中的多个线程之间的同步和通信也比进程的简单。</a:t>
            </a:r>
          </a:p>
        </p:txBody>
      </p:sp>
      <p:sp>
        <p:nvSpPr>
          <p:cNvPr id="8" name="ïś1ïḑè"/>
          <p:cNvSpPr/>
          <p:nvPr/>
        </p:nvSpPr>
        <p:spPr>
          <a:xfrm>
            <a:off x="784303" y="3667548"/>
            <a:ext cx="774099" cy="774099"/>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06</a:t>
            </a:r>
            <a:endParaRPr lang="zh-CN" altLang="en-US" sz="2400" b="1" kern="0" dirty="0">
              <a:solidFill>
                <a:prstClr val="white"/>
              </a:solidFill>
            </a:endParaRPr>
          </a:p>
        </p:txBody>
      </p:sp>
      <p:sp>
        <p:nvSpPr>
          <p:cNvPr id="9" name="内容占位符 2"/>
          <p:cNvSpPr txBox="1"/>
          <p:nvPr/>
        </p:nvSpPr>
        <p:spPr>
          <a:xfrm>
            <a:off x="1734478" y="3898442"/>
            <a:ext cx="3396815"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支持多处理机系统</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线程的状态和线程控制块</a:t>
            </a:r>
          </a:p>
        </p:txBody>
      </p:sp>
      <p:grpSp>
        <p:nvGrpSpPr>
          <p:cNvPr id="6"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28057"/>
            <a:ext cx="11531600" cy="5183965"/>
            <a:chOff x="660400" y="1128057"/>
            <a:chExt cx="11531600" cy="5183965"/>
          </a:xfrm>
        </p:grpSpPr>
        <p:sp>
          <p:nvSpPr>
            <p:cNvPr id="7" name="iṥlídè"/>
            <p:cNvSpPr/>
            <p:nvPr/>
          </p:nvSpPr>
          <p:spPr>
            <a:xfrm>
              <a:off x="6958245" y="1128057"/>
              <a:ext cx="5233755" cy="5008286"/>
            </a:xfrm>
            <a:prstGeom prst="rect">
              <a:avLst/>
            </a:prstGeom>
            <a:blipFill>
              <a:blip r:embed="rId3"/>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10" name="iṡļiḓe"/>
            <p:cNvGrpSpPr/>
            <p:nvPr/>
          </p:nvGrpSpPr>
          <p:grpSpPr>
            <a:xfrm>
              <a:off x="660400" y="1834087"/>
              <a:ext cx="6876351" cy="1254559"/>
              <a:chOff x="660400" y="1834087"/>
              <a:chExt cx="6876351" cy="1254559"/>
            </a:xfrm>
          </p:grpSpPr>
          <p:grpSp>
            <p:nvGrpSpPr>
              <p:cNvPr id="21" name="iSḻíḓè"/>
              <p:cNvGrpSpPr/>
              <p:nvPr/>
            </p:nvGrpSpPr>
            <p:grpSpPr>
              <a:xfrm>
                <a:off x="1530997" y="1834087"/>
                <a:ext cx="6005754" cy="1254559"/>
                <a:chOff x="1592242" y="1834087"/>
                <a:chExt cx="7574760" cy="1254559"/>
              </a:xfrm>
            </p:grpSpPr>
            <p:sp>
              <p:nvSpPr>
                <p:cNvPr id="25" name="îṧľîḋé"/>
                <p:cNvSpPr txBox="1"/>
                <p:nvPr/>
              </p:nvSpPr>
              <p:spPr>
                <a:xfrm>
                  <a:off x="1592242" y="183408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线程状态</a:t>
                  </a:r>
                </a:p>
              </p:txBody>
            </p:sp>
            <p:sp>
              <p:nvSpPr>
                <p:cNvPr id="26" name="íşļîḓé"/>
                <p:cNvSpPr/>
                <p:nvPr/>
              </p:nvSpPr>
              <p:spPr bwMode="auto">
                <a:xfrm>
                  <a:off x="1592242" y="2277810"/>
                  <a:ext cx="7574760" cy="810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solidFill>
                        <a:srgbClr val="0000FF"/>
                      </a:solidFill>
                    </a:rPr>
                    <a:t>执行态、就绪态、阻塞态</a:t>
                  </a:r>
                  <a:endParaRPr lang="en-US" altLang="zh-CN" sz="2400" dirty="0">
                    <a:solidFill>
                      <a:srgbClr val="0000FF"/>
                    </a:solidFill>
                  </a:endParaRP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线程状态转换与进程状态转换一样</a:t>
                  </a:r>
                </a:p>
              </p:txBody>
            </p:sp>
          </p:grpSp>
          <p:grpSp>
            <p:nvGrpSpPr>
              <p:cNvPr id="22" name="ïS1íḋé"/>
              <p:cNvGrpSpPr/>
              <p:nvPr/>
            </p:nvGrpSpPr>
            <p:grpSpPr>
              <a:xfrm>
                <a:off x="660400" y="1860585"/>
                <a:ext cx="733394" cy="733394"/>
                <a:chOff x="660400" y="1860585"/>
                <a:chExt cx="733394" cy="733394"/>
              </a:xfrm>
            </p:grpSpPr>
            <p:sp>
              <p:nvSpPr>
                <p:cNvPr id="23" name="islîḋe"/>
                <p:cNvSpPr/>
                <p:nvPr/>
              </p:nvSpPr>
              <p:spPr>
                <a:xfrm>
                  <a:off x="660400" y="1860585"/>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24" name="îŝlîďe"/>
                <p:cNvSpPr/>
                <p:nvPr/>
              </p:nvSpPr>
              <p:spPr>
                <a:xfrm>
                  <a:off x="797603" y="2045456"/>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 name="iŝļïḓê"/>
            <p:cNvGrpSpPr/>
            <p:nvPr/>
          </p:nvGrpSpPr>
          <p:grpSpPr>
            <a:xfrm>
              <a:off x="660400" y="4251929"/>
              <a:ext cx="8421456" cy="2060093"/>
              <a:chOff x="660400" y="1860585"/>
              <a:chExt cx="8421456" cy="2060093"/>
            </a:xfrm>
          </p:grpSpPr>
          <p:grpSp>
            <p:nvGrpSpPr>
              <p:cNvPr id="13" name="ïṧļïḓe"/>
              <p:cNvGrpSpPr/>
              <p:nvPr/>
            </p:nvGrpSpPr>
            <p:grpSpPr>
              <a:xfrm>
                <a:off x="1539875" y="1889655"/>
                <a:ext cx="7541981" cy="2031023"/>
                <a:chOff x="1603439" y="1889655"/>
                <a:chExt cx="9512327" cy="2031023"/>
              </a:xfrm>
            </p:grpSpPr>
            <p:sp>
              <p:nvSpPr>
                <p:cNvPr id="18" name="ïšļíďè"/>
                <p:cNvSpPr txBox="1"/>
                <p:nvPr/>
              </p:nvSpPr>
              <p:spPr>
                <a:xfrm>
                  <a:off x="1603439" y="1889655"/>
                  <a:ext cx="9512327"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solidFill>
                        <a:srgbClr val="FF0000"/>
                      </a:solidFill>
                    </a:rPr>
                    <a:t>线程控制块（</a:t>
                  </a:r>
                  <a:r>
                    <a:rPr lang="en-US" altLang="zh-CN" sz="2800" dirty="0"/>
                    <a:t>thread control block</a:t>
                  </a:r>
                  <a:r>
                    <a:rPr lang="zh-CN" altLang="en-US" sz="2800" dirty="0"/>
                    <a:t>，</a:t>
                  </a:r>
                  <a:r>
                    <a:rPr lang="en-US" altLang="zh-CN" sz="2800" dirty="0">
                      <a:solidFill>
                        <a:srgbClr val="FF0000"/>
                      </a:solidFill>
                    </a:rPr>
                    <a:t>TCB</a:t>
                  </a:r>
                  <a:r>
                    <a:rPr lang="zh-CN" altLang="en-US" sz="2800" dirty="0">
                      <a:solidFill>
                        <a:srgbClr val="FF0000"/>
                      </a:solidFill>
                    </a:rPr>
                    <a:t>）</a:t>
                  </a:r>
                </a:p>
              </p:txBody>
            </p:sp>
            <p:sp>
              <p:nvSpPr>
                <p:cNvPr id="19" name="íşľíḑè"/>
                <p:cNvSpPr/>
                <p:nvPr/>
              </p:nvSpPr>
              <p:spPr bwMode="auto">
                <a:xfrm>
                  <a:off x="1619683" y="2384893"/>
                  <a:ext cx="6293555" cy="1535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buFont typeface="Wingdings" panose="05000000000000000000" pitchFamily="2" charset="2"/>
                    <a:buChar char="Ø"/>
                  </a:pPr>
                  <a:r>
                    <a:rPr lang="zh-CN" altLang="en-US" sz="2400" dirty="0"/>
                    <a:t>线程标识符、一组寄存器、线程运行状态、优先级、线程专有存储区、信号屏蔽、堆栈指针</a:t>
                  </a:r>
                </a:p>
              </p:txBody>
            </p:sp>
          </p:grpSp>
          <p:grpSp>
            <p:nvGrpSpPr>
              <p:cNvPr id="15" name="ïŝľídè"/>
              <p:cNvGrpSpPr/>
              <p:nvPr/>
            </p:nvGrpSpPr>
            <p:grpSpPr>
              <a:xfrm>
                <a:off x="660400" y="1860585"/>
                <a:ext cx="733394" cy="733394"/>
                <a:chOff x="660400" y="1860585"/>
                <a:chExt cx="733394" cy="733394"/>
              </a:xfrm>
            </p:grpSpPr>
            <p:sp>
              <p:nvSpPr>
                <p:cNvPr id="16" name="ïṡľïde"/>
                <p:cNvSpPr/>
                <p:nvPr/>
              </p:nvSpPr>
              <p:spPr>
                <a:xfrm>
                  <a:off x="660400" y="1860585"/>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ïšliḍe"/>
                <p:cNvSpPr/>
                <p:nvPr/>
              </p:nvSpPr>
              <p:spPr>
                <a:xfrm>
                  <a:off x="806481" y="2072090"/>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12" name="直接连接符 11"/>
            <p:cNvCxnSpPr/>
            <p:nvPr/>
          </p:nvCxnSpPr>
          <p:spPr>
            <a:xfrm>
              <a:off x="660400" y="3632200"/>
              <a:ext cx="54000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361663" y="3247028"/>
            <a:ext cx="4329575" cy="530594"/>
          </a:xfrm>
          <a:prstGeom prst="rect">
            <a:avLst/>
          </a:prstGeom>
        </p:spPr>
        <p:txBody>
          <a:bodyPr wrap="square">
            <a:spAutoFit/>
          </a:bodyPr>
          <a:lstStyle/>
          <a:p>
            <a:pPr algn="ctr">
              <a:lnSpc>
                <a:spcPct val="132000"/>
              </a:lnSpc>
            </a:pPr>
            <a:r>
              <a:rPr lang="zh-CN" altLang="en-US" sz="2400" dirty="0">
                <a:solidFill>
                  <a:srgbClr val="002060"/>
                </a:solidFill>
              </a:rPr>
              <a:t>主讲：王红玲    主审：汤小丹</a:t>
            </a:r>
            <a:endParaRPr lang="en-US" altLang="zh-CN" sz="2400" dirty="0">
              <a:solidFill>
                <a:srgbClr val="002060"/>
              </a:solidFill>
            </a:endParaRPr>
          </a:p>
        </p:txBody>
      </p: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solidFill>
                  <a:srgbClr val="0000FF"/>
                </a:solidFill>
                <a:latin typeface="+mj-ea"/>
              </a:rPr>
              <a:t>2.6 </a:t>
            </a:r>
            <a:r>
              <a:rPr lang="zh-CN" altLang="en-US" sz="2400" dirty="0">
                <a:solidFill>
                  <a:srgbClr val="0000FF"/>
                </a:solidFill>
                <a:latin typeface="+mj-ea"/>
              </a:rPr>
              <a:t>线程的实现</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线程的实现</a:t>
            </a:r>
          </a:p>
        </p:txBody>
      </p:sp>
      <p:sp>
        <p:nvSpPr>
          <p:cNvPr id="16"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7"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8" name="îṧľîdé"/>
          <p:cNvSpPr/>
          <p:nvPr/>
        </p:nvSpPr>
        <p:spPr>
          <a:xfrm>
            <a:off x="3703687" y="1765549"/>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内容占位符 2"/>
          <p:cNvSpPr txBox="1"/>
          <p:nvPr/>
        </p:nvSpPr>
        <p:spPr>
          <a:xfrm>
            <a:off x="894703" y="2556677"/>
            <a:ext cx="403493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实现方式：</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FF0000"/>
                </a:solidFill>
              </a:rPr>
              <a:t>内核支持线程</a:t>
            </a:r>
            <a:r>
              <a:rPr lang="en-US" altLang="zh-CN" sz="2400" dirty="0">
                <a:solidFill>
                  <a:schemeClr val="tx1">
                    <a:lumMod val="65000"/>
                    <a:lumOff val="35000"/>
                  </a:schemeClr>
                </a:solidFill>
              </a:rPr>
              <a:t>KST</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FF0000"/>
                </a:solidFill>
              </a:rPr>
              <a:t>用户级线程</a:t>
            </a:r>
            <a:r>
              <a:rPr lang="en-US" altLang="zh-CN" sz="2400" dirty="0">
                <a:solidFill>
                  <a:schemeClr val="tx1">
                    <a:lumMod val="65000"/>
                    <a:lumOff val="35000"/>
                  </a:schemeClr>
                </a:solidFill>
              </a:rPr>
              <a:t>ULT</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组合方式</a:t>
            </a:r>
          </a:p>
        </p:txBody>
      </p:sp>
      <p:sp>
        <p:nvSpPr>
          <p:cNvPr id="33" name="内容占位符 2"/>
          <p:cNvSpPr txBox="1"/>
          <p:nvPr/>
        </p:nvSpPr>
        <p:spPr>
          <a:xfrm>
            <a:off x="7696200" y="3235045"/>
            <a:ext cx="414661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具体实现：</a:t>
            </a:r>
            <a:endParaRPr lang="en-US" altLang="zh-CN"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内核支持线程的实现（利用系统调用）</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用户级线程的实现（借助中间系统）</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内核支持线程</a:t>
            </a:r>
            <a:r>
              <a:rPr lang="en-US" altLang="zh-CN" sz="2800" b="1" dirty="0">
                <a:solidFill>
                  <a:schemeClr val="bg1"/>
                </a:solidFill>
              </a:rPr>
              <a:t>KST</a:t>
            </a:r>
            <a:endParaRPr lang="zh-CN" altLang="en-US" sz="2800" b="1" dirty="0">
              <a:solidFill>
                <a:schemeClr val="bg1"/>
              </a:solidFill>
            </a:endParaRPr>
          </a:p>
        </p:txBody>
      </p:sp>
      <p:sp>
        <p:nvSpPr>
          <p:cNvPr id="2" name="矩形 1"/>
          <p:cNvSpPr/>
          <p:nvPr/>
        </p:nvSpPr>
        <p:spPr>
          <a:xfrm>
            <a:off x="669925" y="1268517"/>
            <a:ext cx="10850563" cy="613550"/>
          </a:xfrm>
          <a:prstGeom prst="rect">
            <a:avLst/>
          </a:prstGeom>
        </p:spPr>
        <p:txBody>
          <a:bodyPr wrap="square">
            <a:noAutofit/>
          </a:bodyPr>
          <a:lstStyle/>
          <a:p>
            <a:pPr indent="457200">
              <a:lnSpc>
                <a:spcPct val="132000"/>
              </a:lnSpc>
              <a:spcBef>
                <a:spcPts val="600"/>
              </a:spcBef>
              <a:spcAft>
                <a:spcPts val="600"/>
              </a:spcAft>
            </a:pPr>
            <a:r>
              <a:rPr lang="zh-CN" altLang="en-US" sz="2400" dirty="0">
                <a:latin typeface="+mn-ea"/>
              </a:rPr>
              <a:t>在内核空间实现</a:t>
            </a:r>
          </a:p>
        </p:txBody>
      </p:sp>
      <p:sp>
        <p:nvSpPr>
          <p:cNvPr id="10" name="矩形 9"/>
          <p:cNvSpPr/>
          <p:nvPr/>
        </p:nvSpPr>
        <p:spPr>
          <a:xfrm>
            <a:off x="1832437" y="2057873"/>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FF0000"/>
                </a:solidFill>
                <a:latin typeface="+mn-ea"/>
              </a:rPr>
              <a:t>优点：</a:t>
            </a:r>
          </a:p>
        </p:txBody>
      </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261764" y="2059358"/>
            <a:ext cx="527050" cy="527050"/>
          </a:xfrm>
          <a:prstGeom prst="rect">
            <a:avLst/>
          </a:prstGeom>
          <a:ln>
            <a:noFill/>
          </a:ln>
          <a:effectLst>
            <a:softEdge rad="0"/>
          </a:effectLst>
        </p:spPr>
      </p:pic>
      <p:sp>
        <p:nvSpPr>
          <p:cNvPr id="16" name="矩形 15"/>
          <p:cNvSpPr/>
          <p:nvPr/>
        </p:nvSpPr>
        <p:spPr>
          <a:xfrm>
            <a:off x="1832437" y="4650618"/>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0000FF"/>
                </a:solidFill>
                <a:latin typeface="+mn-ea"/>
              </a:rPr>
              <a:t>缺点：</a:t>
            </a:r>
          </a:p>
        </p:txBody>
      </p: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239953" y="4712409"/>
            <a:ext cx="527050" cy="527050"/>
          </a:xfrm>
          <a:prstGeom prst="rect">
            <a:avLst/>
          </a:prstGeom>
          <a:ln>
            <a:noFill/>
          </a:ln>
          <a:effectLst>
            <a:softEdge rad="0"/>
          </a:effectLst>
        </p:spPr>
      </p:pic>
      <p:sp>
        <p:nvSpPr>
          <p:cNvPr id="18" name="内容占位符 2"/>
          <p:cNvSpPr txBox="1"/>
          <p:nvPr/>
        </p:nvSpPr>
        <p:spPr>
          <a:xfrm>
            <a:off x="1788814" y="2548696"/>
            <a:ext cx="9992924" cy="224898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在多处理机系统中，内核可同时调度同一进程的多个线程</a:t>
            </a:r>
          </a:p>
          <a:p>
            <a:pPr marL="0" lvl="1" indent="0">
              <a:lnSpc>
                <a:spcPct val="132000"/>
              </a:lnSpc>
              <a:buClr>
                <a:srgbClr val="0000FF"/>
              </a:buClr>
              <a:buFont typeface="Wingdings" panose="05000000000000000000" pitchFamily="2" charset="2"/>
              <a:buChar char="Ø"/>
            </a:pPr>
            <a:r>
              <a:rPr lang="zh-CN" altLang="en-US" sz="2200" dirty="0"/>
              <a:t>如一个线程阻塞了，内核可调度其他线程</a:t>
            </a:r>
            <a:r>
              <a:rPr lang="en-US" altLang="zh-CN" sz="2200" dirty="0"/>
              <a:t>(</a:t>
            </a:r>
            <a:r>
              <a:rPr lang="zh-CN" altLang="en-US" sz="2200" dirty="0"/>
              <a:t>同一或其他进程</a:t>
            </a:r>
            <a:r>
              <a:rPr lang="en-US" altLang="zh-CN" sz="2200" dirty="0"/>
              <a:t>)</a:t>
            </a:r>
            <a:r>
              <a:rPr lang="zh-CN" altLang="en-US" sz="2200" dirty="0"/>
              <a:t>。</a:t>
            </a:r>
          </a:p>
          <a:p>
            <a:pPr marL="0" lvl="1" indent="0">
              <a:lnSpc>
                <a:spcPct val="132000"/>
              </a:lnSpc>
              <a:buClr>
                <a:srgbClr val="0000FF"/>
              </a:buClr>
              <a:buFont typeface="Wingdings" panose="05000000000000000000" pitchFamily="2" charset="2"/>
              <a:buChar char="Ø"/>
            </a:pPr>
            <a:r>
              <a:rPr lang="zh-CN" altLang="en-US" sz="2200" dirty="0"/>
              <a:t>线程的切换比较快，开销小。</a:t>
            </a:r>
          </a:p>
          <a:p>
            <a:pPr marL="0" lvl="1" indent="0">
              <a:lnSpc>
                <a:spcPct val="132000"/>
              </a:lnSpc>
              <a:buClr>
                <a:srgbClr val="0000FF"/>
              </a:buClr>
              <a:buFont typeface="Wingdings" panose="05000000000000000000" pitchFamily="2" charset="2"/>
              <a:buChar char="Ø"/>
            </a:pPr>
            <a:r>
              <a:rPr lang="zh-CN" altLang="en-US" sz="2200" dirty="0"/>
              <a:t>内核本身可采用多线程技术，提高执行速度和效率。</a:t>
            </a:r>
          </a:p>
        </p:txBody>
      </p:sp>
      <p:sp>
        <p:nvSpPr>
          <p:cNvPr id="19" name="内容占位符 2"/>
          <p:cNvSpPr txBox="1"/>
          <p:nvPr/>
        </p:nvSpPr>
        <p:spPr>
          <a:xfrm>
            <a:off x="1788814" y="5287020"/>
            <a:ext cx="9992924" cy="7675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对用户线程切换，开销较大。</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用户级线程</a:t>
            </a:r>
            <a:r>
              <a:rPr lang="en-US" altLang="zh-CN" sz="2800" b="1" dirty="0">
                <a:solidFill>
                  <a:schemeClr val="bg1"/>
                </a:solidFill>
              </a:rPr>
              <a:t>ULT</a:t>
            </a:r>
            <a:endParaRPr lang="zh-CN" altLang="en-US" sz="2800" b="1" dirty="0">
              <a:solidFill>
                <a:schemeClr val="bg1"/>
              </a:solidFill>
            </a:endParaRPr>
          </a:p>
        </p:txBody>
      </p:sp>
      <p:sp>
        <p:nvSpPr>
          <p:cNvPr id="2" name="矩形 1"/>
          <p:cNvSpPr/>
          <p:nvPr/>
        </p:nvSpPr>
        <p:spPr>
          <a:xfrm>
            <a:off x="669925" y="1268517"/>
            <a:ext cx="10850563" cy="613550"/>
          </a:xfrm>
          <a:prstGeom prst="rect">
            <a:avLst/>
          </a:prstGeom>
        </p:spPr>
        <p:txBody>
          <a:bodyPr wrap="square">
            <a:noAutofit/>
          </a:bodyPr>
          <a:lstStyle/>
          <a:p>
            <a:pPr indent="457200">
              <a:lnSpc>
                <a:spcPct val="132000"/>
              </a:lnSpc>
              <a:spcBef>
                <a:spcPts val="600"/>
              </a:spcBef>
              <a:spcAft>
                <a:spcPts val="600"/>
              </a:spcAft>
            </a:pPr>
            <a:r>
              <a:rPr lang="zh-CN" altLang="en-US" sz="2400" dirty="0">
                <a:latin typeface="+mn-ea"/>
              </a:rPr>
              <a:t>在用户空间实现</a:t>
            </a:r>
          </a:p>
        </p:txBody>
      </p:sp>
      <p:sp>
        <p:nvSpPr>
          <p:cNvPr id="10" name="矩形 9"/>
          <p:cNvSpPr/>
          <p:nvPr/>
        </p:nvSpPr>
        <p:spPr>
          <a:xfrm>
            <a:off x="1832437" y="2057873"/>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FF0000"/>
                </a:solidFill>
                <a:latin typeface="+mn-ea"/>
              </a:rPr>
              <a:t>优点：</a:t>
            </a:r>
          </a:p>
        </p:txBody>
      </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261764" y="2059358"/>
            <a:ext cx="527050" cy="527050"/>
          </a:xfrm>
          <a:prstGeom prst="rect">
            <a:avLst/>
          </a:prstGeom>
          <a:ln>
            <a:noFill/>
          </a:ln>
          <a:effectLst>
            <a:softEdge rad="0"/>
          </a:effectLst>
        </p:spPr>
      </p:pic>
      <p:sp>
        <p:nvSpPr>
          <p:cNvPr id="16" name="矩形 15"/>
          <p:cNvSpPr/>
          <p:nvPr/>
        </p:nvSpPr>
        <p:spPr>
          <a:xfrm>
            <a:off x="1832437" y="4339899"/>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0000FF"/>
                </a:solidFill>
                <a:latin typeface="+mn-ea"/>
              </a:rPr>
              <a:t>缺点：</a:t>
            </a:r>
          </a:p>
        </p:txBody>
      </p: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239953" y="4401690"/>
            <a:ext cx="527050" cy="527050"/>
          </a:xfrm>
          <a:prstGeom prst="rect">
            <a:avLst/>
          </a:prstGeom>
          <a:ln>
            <a:noFill/>
          </a:ln>
          <a:effectLst>
            <a:softEdge rad="0"/>
          </a:effectLst>
        </p:spPr>
      </p:pic>
      <p:sp>
        <p:nvSpPr>
          <p:cNvPr id="18" name="内容占位符 2"/>
          <p:cNvSpPr txBox="1"/>
          <p:nvPr/>
        </p:nvSpPr>
        <p:spPr>
          <a:xfrm>
            <a:off x="1788814" y="2548696"/>
            <a:ext cx="9992924" cy="17228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线程切换不需要转换到内核空间。</a:t>
            </a:r>
          </a:p>
          <a:p>
            <a:pPr marL="0" lvl="1" indent="0">
              <a:lnSpc>
                <a:spcPct val="132000"/>
              </a:lnSpc>
              <a:buClr>
                <a:srgbClr val="0000FF"/>
              </a:buClr>
              <a:buFont typeface="Wingdings" panose="05000000000000000000" pitchFamily="2" charset="2"/>
              <a:buChar char="Ø"/>
            </a:pPr>
            <a:r>
              <a:rPr lang="zh-CN" altLang="en-US" sz="2200" dirty="0"/>
              <a:t>调度算法可以是进程专用的。</a:t>
            </a:r>
          </a:p>
          <a:p>
            <a:pPr marL="0" lvl="1" indent="0">
              <a:lnSpc>
                <a:spcPct val="132000"/>
              </a:lnSpc>
              <a:buClr>
                <a:srgbClr val="0000FF"/>
              </a:buClr>
              <a:buFont typeface="Wingdings" panose="05000000000000000000" pitchFamily="2" charset="2"/>
              <a:buChar char="Ø"/>
            </a:pPr>
            <a:r>
              <a:rPr lang="zh-CN" altLang="en-US" sz="2200" dirty="0"/>
              <a:t>线程的实现与</a:t>
            </a:r>
            <a:r>
              <a:rPr lang="en-US" altLang="zh-CN" sz="2200" dirty="0"/>
              <a:t>OS</a:t>
            </a:r>
            <a:r>
              <a:rPr lang="zh-CN" altLang="en-US" sz="2200" dirty="0"/>
              <a:t>平台无关。</a:t>
            </a:r>
          </a:p>
        </p:txBody>
      </p:sp>
      <p:sp>
        <p:nvSpPr>
          <p:cNvPr id="19" name="内容占位符 2"/>
          <p:cNvSpPr txBox="1"/>
          <p:nvPr/>
        </p:nvSpPr>
        <p:spPr>
          <a:xfrm>
            <a:off x="1788814" y="4976301"/>
            <a:ext cx="9992924" cy="7675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系统调用的阻塞问题。</a:t>
            </a:r>
          </a:p>
          <a:p>
            <a:pPr marL="0" lvl="1" indent="0">
              <a:lnSpc>
                <a:spcPct val="132000"/>
              </a:lnSpc>
              <a:buClr>
                <a:srgbClr val="0000FF"/>
              </a:buClr>
              <a:buFont typeface="Wingdings" panose="05000000000000000000" pitchFamily="2" charset="2"/>
              <a:buChar char="Ø"/>
            </a:pPr>
            <a:r>
              <a:rPr lang="zh-CN" altLang="en-US" sz="2200" dirty="0"/>
              <a:t>多线程应用不能利用多处理机进行多重处理的优点。</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ULT</a:t>
            </a:r>
            <a:r>
              <a:rPr lang="zh-CN" altLang="en-US" sz="2800" b="1" dirty="0">
                <a:solidFill>
                  <a:schemeClr val="bg1"/>
                </a:solidFill>
              </a:rPr>
              <a:t>与</a:t>
            </a:r>
            <a:r>
              <a:rPr lang="en-US" altLang="zh-CN" sz="2800" b="1" dirty="0">
                <a:solidFill>
                  <a:schemeClr val="bg1"/>
                </a:solidFill>
              </a:rPr>
              <a:t>KST</a:t>
            </a:r>
            <a:r>
              <a:rPr lang="zh-CN" altLang="en-US" sz="2800" b="1" dirty="0">
                <a:solidFill>
                  <a:schemeClr val="bg1"/>
                </a:solidFill>
              </a:rPr>
              <a:t>组合方式</a:t>
            </a:r>
          </a:p>
        </p:txBody>
      </p:sp>
      <p:grpSp>
        <p:nvGrpSpPr>
          <p:cNvPr id="21"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335678"/>
            <a:ext cx="11075232" cy="4734027"/>
            <a:chOff x="660400" y="1181131"/>
            <a:chExt cx="11075232" cy="4734027"/>
          </a:xfrm>
        </p:grpSpPr>
        <p:sp>
          <p:nvSpPr>
            <p:cNvPr id="22" name="íṥḻîḑe"/>
            <p:cNvSpPr/>
            <p:nvPr/>
          </p:nvSpPr>
          <p:spPr>
            <a:xfrm>
              <a:off x="682048" y="1580300"/>
              <a:ext cx="3476055" cy="2567583"/>
            </a:xfrm>
            <a:prstGeom prst="rect">
              <a:avLst/>
            </a:prstGeom>
            <a:blipFill>
              <a:blip r:embed="rId3"/>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3" name="ïşḻiḍé"/>
            <p:cNvSpPr/>
            <p:nvPr/>
          </p:nvSpPr>
          <p:spPr>
            <a:xfrm>
              <a:off x="660400"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171450" indent="-171450">
                <a:lnSpc>
                  <a:spcPct val="150000"/>
                </a:lnSpc>
                <a:buFont typeface="Arial" panose="020B0604020202020204" pitchFamily="34" charset="0"/>
                <a:buChar char="•"/>
              </a:pPr>
              <a:r>
                <a:rPr lang="zh-CN" altLang="en-US" sz="2400" dirty="0">
                  <a:solidFill>
                    <a:srgbClr val="0000FF"/>
                  </a:solidFill>
                </a:rPr>
                <a:t>多对一模型</a:t>
              </a:r>
              <a:br>
                <a:rPr lang="zh-CN" altLang="en-US" sz="2400" dirty="0">
                  <a:solidFill>
                    <a:srgbClr val="0000FF"/>
                  </a:solidFill>
                </a:rPr>
              </a:br>
              <a:endParaRPr lang="zh-CN" altLang="en-US" sz="2400" dirty="0">
                <a:solidFill>
                  <a:srgbClr val="0000FF"/>
                </a:solidFill>
              </a:endParaRPr>
            </a:p>
          </p:txBody>
        </p:sp>
        <p:sp>
          <p:nvSpPr>
            <p:cNvPr id="24" name="îŝļiḋe"/>
            <p:cNvSpPr/>
            <p:nvPr/>
          </p:nvSpPr>
          <p:spPr>
            <a:xfrm>
              <a:off x="4352677" y="1580300"/>
              <a:ext cx="3476055" cy="2567583"/>
            </a:xfrm>
            <a:prstGeom prst="rect">
              <a:avLst/>
            </a:prstGeom>
            <a:blipFill>
              <a:blip r:embed="rId4"/>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5" name="ïšlïḑè"/>
            <p:cNvSpPr/>
            <p:nvPr/>
          </p:nvSpPr>
          <p:spPr>
            <a:xfrm>
              <a:off x="4331029"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marL="171450" indent="-171450">
                <a:lnSpc>
                  <a:spcPct val="150000"/>
                </a:lnSpc>
                <a:buFont typeface="Arial" panose="020B0604020202020204" pitchFamily="34" charset="0"/>
                <a:buChar char="•"/>
              </a:pPr>
              <a:r>
                <a:rPr lang="zh-CN" altLang="en-US" sz="2400" dirty="0">
                  <a:solidFill>
                    <a:srgbClr val="0000FF"/>
                  </a:solidFill>
                </a:rPr>
                <a:t>一对一模型</a:t>
              </a:r>
            </a:p>
          </p:txBody>
        </p:sp>
        <p:sp>
          <p:nvSpPr>
            <p:cNvPr id="26" name="íŝḻiďé"/>
            <p:cNvSpPr/>
            <p:nvPr/>
          </p:nvSpPr>
          <p:spPr>
            <a:xfrm>
              <a:off x="8023305" y="1580300"/>
              <a:ext cx="3712327" cy="2567583"/>
            </a:xfrm>
            <a:prstGeom prst="rect">
              <a:avLst/>
            </a:prstGeom>
            <a:blipFill>
              <a:blip r:embed="rId5"/>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7" name="í$ḷîḋe"/>
            <p:cNvSpPr/>
            <p:nvPr/>
          </p:nvSpPr>
          <p:spPr>
            <a:xfrm>
              <a:off x="8001657" y="4245058"/>
              <a:ext cx="3733975"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342900" indent="-342900">
                <a:lnSpc>
                  <a:spcPct val="130000"/>
                </a:lnSpc>
                <a:buClr>
                  <a:srgbClr val="0000FF"/>
                </a:buClr>
                <a:buFont typeface="Arial" panose="020B0604020202020204" pitchFamily="34" charset="0"/>
                <a:buChar char="•"/>
              </a:pPr>
              <a:r>
                <a:rPr lang="zh-CN" altLang="en-US" sz="2400" dirty="0">
                  <a:solidFill>
                    <a:srgbClr val="0000FF"/>
                  </a:solidFill>
                </a:rPr>
                <a:t>多对多模型</a:t>
              </a:r>
            </a:p>
          </p:txBody>
        </p:sp>
        <p:sp>
          <p:nvSpPr>
            <p:cNvPr id="28" name="ï$lïďè"/>
            <p:cNvSpPr/>
            <p:nvPr/>
          </p:nvSpPr>
          <p:spPr bwMode="auto">
            <a:xfrm>
              <a:off x="2253506" y="1181131"/>
              <a:ext cx="333138" cy="310404"/>
            </a:xfrm>
            <a:custGeom>
              <a:avLst/>
              <a:gdLst>
                <a:gd name="connsiteX0" fmla="*/ 484855 w 606016"/>
                <a:gd name="connsiteY0" fmla="*/ 473988 h 564664"/>
                <a:gd name="connsiteX1" fmla="*/ 505037 w 606016"/>
                <a:gd name="connsiteY1" fmla="*/ 494170 h 564664"/>
                <a:gd name="connsiteX2" fmla="*/ 484855 w 606016"/>
                <a:gd name="connsiteY2" fmla="*/ 514352 h 564664"/>
                <a:gd name="connsiteX3" fmla="*/ 464673 w 606016"/>
                <a:gd name="connsiteY3" fmla="*/ 494170 h 564664"/>
                <a:gd name="connsiteX4" fmla="*/ 484855 w 606016"/>
                <a:gd name="connsiteY4" fmla="*/ 473988 h 564664"/>
                <a:gd name="connsiteX5" fmla="*/ 121232 w 606016"/>
                <a:gd name="connsiteY5" fmla="*/ 473988 h 564664"/>
                <a:gd name="connsiteX6" fmla="*/ 141414 w 606016"/>
                <a:gd name="connsiteY6" fmla="*/ 494170 h 564664"/>
                <a:gd name="connsiteX7" fmla="*/ 121232 w 606016"/>
                <a:gd name="connsiteY7" fmla="*/ 514352 h 564664"/>
                <a:gd name="connsiteX8" fmla="*/ 101050 w 606016"/>
                <a:gd name="connsiteY8" fmla="*/ 494170 h 564664"/>
                <a:gd name="connsiteX9" fmla="*/ 121232 w 606016"/>
                <a:gd name="connsiteY9" fmla="*/ 473988 h 564664"/>
                <a:gd name="connsiteX10" fmla="*/ 484813 w 606016"/>
                <a:gd name="connsiteY10" fmla="*/ 443658 h 564664"/>
                <a:gd name="connsiteX11" fmla="*/ 434364 w 606016"/>
                <a:gd name="connsiteY11" fmla="*/ 494115 h 564664"/>
                <a:gd name="connsiteX12" fmla="*/ 484813 w 606016"/>
                <a:gd name="connsiteY12" fmla="*/ 544482 h 564664"/>
                <a:gd name="connsiteX13" fmla="*/ 535352 w 606016"/>
                <a:gd name="connsiteY13" fmla="*/ 494115 h 564664"/>
                <a:gd name="connsiteX14" fmla="*/ 484813 w 606016"/>
                <a:gd name="connsiteY14" fmla="*/ 443658 h 564664"/>
                <a:gd name="connsiteX15" fmla="*/ 121293 w 606016"/>
                <a:gd name="connsiteY15" fmla="*/ 443658 h 564664"/>
                <a:gd name="connsiteX16" fmla="*/ 70755 w 606016"/>
                <a:gd name="connsiteY16" fmla="*/ 494115 h 564664"/>
                <a:gd name="connsiteX17" fmla="*/ 121293 w 606016"/>
                <a:gd name="connsiteY17" fmla="*/ 544482 h 564664"/>
                <a:gd name="connsiteX18" fmla="*/ 171742 w 606016"/>
                <a:gd name="connsiteY18" fmla="*/ 494115 h 564664"/>
                <a:gd name="connsiteX19" fmla="*/ 121293 w 606016"/>
                <a:gd name="connsiteY19" fmla="*/ 443658 h 564664"/>
                <a:gd name="connsiteX20" fmla="*/ 303053 w 606016"/>
                <a:gd name="connsiteY20" fmla="*/ 373109 h 564664"/>
                <a:gd name="connsiteX21" fmla="*/ 292945 w 606016"/>
                <a:gd name="connsiteY21" fmla="*/ 383200 h 564664"/>
                <a:gd name="connsiteX22" fmla="*/ 303053 w 606016"/>
                <a:gd name="connsiteY22" fmla="*/ 393292 h 564664"/>
                <a:gd name="connsiteX23" fmla="*/ 343484 w 606016"/>
                <a:gd name="connsiteY23" fmla="*/ 393292 h 564664"/>
                <a:gd name="connsiteX24" fmla="*/ 343484 w 606016"/>
                <a:gd name="connsiteY24" fmla="*/ 403383 h 564664"/>
                <a:gd name="connsiteX25" fmla="*/ 353592 w 606016"/>
                <a:gd name="connsiteY25" fmla="*/ 413474 h 564664"/>
                <a:gd name="connsiteX26" fmla="*/ 363610 w 606016"/>
                <a:gd name="connsiteY26" fmla="*/ 403383 h 564664"/>
                <a:gd name="connsiteX27" fmla="*/ 363610 w 606016"/>
                <a:gd name="connsiteY27" fmla="*/ 383200 h 564664"/>
                <a:gd name="connsiteX28" fmla="*/ 353592 w 606016"/>
                <a:gd name="connsiteY28" fmla="*/ 373109 h 564664"/>
                <a:gd name="connsiteX29" fmla="*/ 313169 w 606016"/>
                <a:gd name="connsiteY29" fmla="*/ 282403 h 564664"/>
                <a:gd name="connsiteX30" fmla="*/ 447018 w 606016"/>
                <a:gd name="connsiteY30" fmla="*/ 282403 h 564664"/>
                <a:gd name="connsiteX31" fmla="*/ 465069 w 606016"/>
                <a:gd name="connsiteY31" fmla="*/ 311699 h 564664"/>
                <a:gd name="connsiteX32" fmla="*/ 473282 w 606016"/>
                <a:gd name="connsiteY32" fmla="*/ 322696 h 564664"/>
                <a:gd name="connsiteX33" fmla="*/ 313169 w 606016"/>
                <a:gd name="connsiteY33" fmla="*/ 322696 h 564664"/>
                <a:gd name="connsiteX34" fmla="*/ 161665 w 606016"/>
                <a:gd name="connsiteY34" fmla="*/ 282403 h 564664"/>
                <a:gd name="connsiteX35" fmla="*/ 292917 w 606016"/>
                <a:gd name="connsiteY35" fmla="*/ 282403 h 564664"/>
                <a:gd name="connsiteX36" fmla="*/ 292917 w 606016"/>
                <a:gd name="connsiteY36" fmla="*/ 322696 h 564664"/>
                <a:gd name="connsiteX37" fmla="*/ 161665 w 606016"/>
                <a:gd name="connsiteY37" fmla="*/ 322696 h 564664"/>
                <a:gd name="connsiteX38" fmla="*/ 191958 w 606016"/>
                <a:gd name="connsiteY38" fmla="*/ 0 h 564664"/>
                <a:gd name="connsiteX39" fmla="*/ 202066 w 606016"/>
                <a:gd name="connsiteY39" fmla="*/ 10092 h 564664"/>
                <a:gd name="connsiteX40" fmla="*/ 202066 w 606016"/>
                <a:gd name="connsiteY40" fmla="*/ 40366 h 564664"/>
                <a:gd name="connsiteX41" fmla="*/ 222281 w 606016"/>
                <a:gd name="connsiteY41" fmla="*/ 40366 h 564664"/>
                <a:gd name="connsiteX42" fmla="*/ 222281 w 606016"/>
                <a:gd name="connsiteY42" fmla="*/ 10092 h 564664"/>
                <a:gd name="connsiteX43" fmla="*/ 232389 w 606016"/>
                <a:gd name="connsiteY43" fmla="*/ 0 h 564664"/>
                <a:gd name="connsiteX44" fmla="*/ 242406 w 606016"/>
                <a:gd name="connsiteY44" fmla="*/ 10092 h 564664"/>
                <a:gd name="connsiteX45" fmla="*/ 242406 w 606016"/>
                <a:gd name="connsiteY45" fmla="*/ 40366 h 564664"/>
                <a:gd name="connsiteX46" fmla="*/ 252514 w 606016"/>
                <a:gd name="connsiteY46" fmla="*/ 50457 h 564664"/>
                <a:gd name="connsiteX47" fmla="*/ 252514 w 606016"/>
                <a:gd name="connsiteY47" fmla="*/ 100823 h 564664"/>
                <a:gd name="connsiteX48" fmla="*/ 242406 w 606016"/>
                <a:gd name="connsiteY48" fmla="*/ 110915 h 564664"/>
                <a:gd name="connsiteX49" fmla="*/ 221379 w 606016"/>
                <a:gd name="connsiteY49" fmla="*/ 110915 h 564664"/>
                <a:gd name="connsiteX50" fmla="*/ 161634 w 606016"/>
                <a:gd name="connsiteY50" fmla="*/ 161371 h 564664"/>
                <a:gd name="connsiteX51" fmla="*/ 101078 w 606016"/>
                <a:gd name="connsiteY51" fmla="*/ 100823 h 564664"/>
                <a:gd name="connsiteX52" fmla="*/ 60647 w 606016"/>
                <a:gd name="connsiteY52" fmla="*/ 60548 h 564664"/>
                <a:gd name="connsiteX53" fmla="*/ 20216 w 606016"/>
                <a:gd name="connsiteY53" fmla="*/ 100823 h 564664"/>
                <a:gd name="connsiteX54" fmla="*/ 20216 w 606016"/>
                <a:gd name="connsiteY54" fmla="*/ 231921 h 564664"/>
                <a:gd name="connsiteX55" fmla="*/ 80862 w 606016"/>
                <a:gd name="connsiteY55" fmla="*/ 292469 h 564664"/>
                <a:gd name="connsiteX56" fmla="*/ 82126 w 606016"/>
                <a:gd name="connsiteY56" fmla="*/ 292649 h 564664"/>
                <a:gd name="connsiteX57" fmla="*/ 105229 w 606016"/>
                <a:gd name="connsiteY57" fmla="*/ 255167 h 564664"/>
                <a:gd name="connsiteX58" fmla="*/ 164883 w 606016"/>
                <a:gd name="connsiteY58" fmla="*/ 221829 h 564664"/>
                <a:gd name="connsiteX59" fmla="*/ 370559 w 606016"/>
                <a:gd name="connsiteY59" fmla="*/ 221829 h 564664"/>
                <a:gd name="connsiteX60" fmla="*/ 430213 w 606016"/>
                <a:gd name="connsiteY60" fmla="*/ 255077 h 564664"/>
                <a:gd name="connsiteX61" fmla="*/ 434545 w 606016"/>
                <a:gd name="connsiteY61" fmla="*/ 262195 h 564664"/>
                <a:gd name="connsiteX62" fmla="*/ 159920 w 606016"/>
                <a:gd name="connsiteY62" fmla="*/ 262195 h 564664"/>
                <a:gd name="connsiteX63" fmla="*/ 141419 w 606016"/>
                <a:gd name="connsiteY63" fmla="*/ 280575 h 564664"/>
                <a:gd name="connsiteX64" fmla="*/ 141419 w 606016"/>
                <a:gd name="connsiteY64" fmla="*/ 324455 h 564664"/>
                <a:gd name="connsiteX65" fmla="*/ 159920 w 606016"/>
                <a:gd name="connsiteY65" fmla="*/ 342835 h 564664"/>
                <a:gd name="connsiteX66" fmla="*/ 498801 w 606016"/>
                <a:gd name="connsiteY66" fmla="*/ 342835 h 564664"/>
                <a:gd name="connsiteX67" fmla="*/ 538962 w 606016"/>
                <a:gd name="connsiteY67" fmla="*/ 352926 h 564664"/>
                <a:gd name="connsiteX68" fmla="*/ 580566 w 606016"/>
                <a:gd name="connsiteY68" fmla="*/ 352926 h 564664"/>
                <a:gd name="connsiteX69" fmla="*/ 606016 w 606016"/>
                <a:gd name="connsiteY69" fmla="*/ 378335 h 564664"/>
                <a:gd name="connsiteX70" fmla="*/ 606016 w 606016"/>
                <a:gd name="connsiteY70" fmla="*/ 403383 h 564664"/>
                <a:gd name="connsiteX71" fmla="*/ 555567 w 606016"/>
                <a:gd name="connsiteY71" fmla="*/ 403383 h 564664"/>
                <a:gd name="connsiteX72" fmla="*/ 545460 w 606016"/>
                <a:gd name="connsiteY72" fmla="*/ 413474 h 564664"/>
                <a:gd name="connsiteX73" fmla="*/ 555567 w 606016"/>
                <a:gd name="connsiteY73" fmla="*/ 423476 h 564664"/>
                <a:gd name="connsiteX74" fmla="*/ 606016 w 606016"/>
                <a:gd name="connsiteY74" fmla="*/ 423476 h 564664"/>
                <a:gd name="connsiteX75" fmla="*/ 606016 w 606016"/>
                <a:gd name="connsiteY75" fmla="*/ 463391 h 564664"/>
                <a:gd name="connsiteX76" fmla="*/ 565224 w 606016"/>
                <a:gd name="connsiteY76" fmla="*/ 504206 h 564664"/>
                <a:gd name="connsiteX77" fmla="*/ 554755 w 606016"/>
                <a:gd name="connsiteY77" fmla="*/ 504206 h 564664"/>
                <a:gd name="connsiteX78" fmla="*/ 484813 w 606016"/>
                <a:gd name="connsiteY78" fmla="*/ 564664 h 564664"/>
                <a:gd name="connsiteX79" fmla="*/ 414961 w 606016"/>
                <a:gd name="connsiteY79" fmla="*/ 504206 h 564664"/>
                <a:gd name="connsiteX80" fmla="*/ 191145 w 606016"/>
                <a:gd name="connsiteY80" fmla="*/ 504206 h 564664"/>
                <a:gd name="connsiteX81" fmla="*/ 121293 w 606016"/>
                <a:gd name="connsiteY81" fmla="*/ 564664 h 564664"/>
                <a:gd name="connsiteX82" fmla="*/ 51351 w 606016"/>
                <a:gd name="connsiteY82" fmla="*/ 504206 h 564664"/>
                <a:gd name="connsiteX83" fmla="*/ 35377 w 606016"/>
                <a:gd name="connsiteY83" fmla="*/ 504206 h 564664"/>
                <a:gd name="connsiteX84" fmla="*/ 90 w 606016"/>
                <a:gd name="connsiteY84" fmla="*/ 468977 h 564664"/>
                <a:gd name="connsiteX85" fmla="*/ 0 w 606016"/>
                <a:gd name="connsiteY85" fmla="*/ 423476 h 564664"/>
                <a:gd name="connsiteX86" fmla="*/ 50539 w 606016"/>
                <a:gd name="connsiteY86" fmla="*/ 423476 h 564664"/>
                <a:gd name="connsiteX87" fmla="*/ 60647 w 606016"/>
                <a:gd name="connsiteY87" fmla="*/ 413474 h 564664"/>
                <a:gd name="connsiteX88" fmla="*/ 50539 w 606016"/>
                <a:gd name="connsiteY88" fmla="*/ 403383 h 564664"/>
                <a:gd name="connsiteX89" fmla="*/ 0 w 606016"/>
                <a:gd name="connsiteY89" fmla="*/ 403383 h 564664"/>
                <a:gd name="connsiteX90" fmla="*/ 0 w 606016"/>
                <a:gd name="connsiteY90" fmla="*/ 378335 h 564664"/>
                <a:gd name="connsiteX91" fmla="*/ 7400 w 606016"/>
                <a:gd name="connsiteY91" fmla="*/ 360405 h 564664"/>
                <a:gd name="connsiteX92" fmla="*/ 25540 w 606016"/>
                <a:gd name="connsiteY92" fmla="*/ 352926 h 564664"/>
                <a:gd name="connsiteX93" fmla="*/ 54961 w 606016"/>
                <a:gd name="connsiteY93" fmla="*/ 336798 h 564664"/>
                <a:gd name="connsiteX94" fmla="*/ 70303 w 606016"/>
                <a:gd name="connsiteY94" fmla="*/ 311840 h 564664"/>
                <a:gd name="connsiteX95" fmla="*/ 90 w 606016"/>
                <a:gd name="connsiteY95" fmla="*/ 231921 h 564664"/>
                <a:gd name="connsiteX96" fmla="*/ 90 w 606016"/>
                <a:gd name="connsiteY96" fmla="*/ 100823 h 564664"/>
                <a:gd name="connsiteX97" fmla="*/ 60647 w 606016"/>
                <a:gd name="connsiteY97" fmla="*/ 40366 h 564664"/>
                <a:gd name="connsiteX98" fmla="*/ 121293 w 606016"/>
                <a:gd name="connsiteY98" fmla="*/ 100823 h 564664"/>
                <a:gd name="connsiteX99" fmla="*/ 161634 w 606016"/>
                <a:gd name="connsiteY99" fmla="*/ 141189 h 564664"/>
                <a:gd name="connsiteX100" fmla="*/ 200622 w 606016"/>
                <a:gd name="connsiteY100" fmla="*/ 110915 h 564664"/>
                <a:gd name="connsiteX101" fmla="*/ 181850 w 606016"/>
                <a:gd name="connsiteY101" fmla="*/ 110915 h 564664"/>
                <a:gd name="connsiteX102" fmla="*/ 171742 w 606016"/>
                <a:gd name="connsiteY102" fmla="*/ 100823 h 564664"/>
                <a:gd name="connsiteX103" fmla="*/ 171742 w 606016"/>
                <a:gd name="connsiteY103" fmla="*/ 50457 h 564664"/>
                <a:gd name="connsiteX104" fmla="*/ 181850 w 606016"/>
                <a:gd name="connsiteY104" fmla="*/ 40366 h 564664"/>
                <a:gd name="connsiteX105" fmla="*/ 181850 w 606016"/>
                <a:gd name="connsiteY105" fmla="*/ 10092 h 564664"/>
                <a:gd name="connsiteX106" fmla="*/ 191958 w 606016"/>
                <a:gd name="connsiteY106" fmla="*/ 0 h 56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6016" h="564664">
                  <a:moveTo>
                    <a:pt x="484855" y="473988"/>
                  </a:moveTo>
                  <a:cubicBezTo>
                    <a:pt x="496001" y="473988"/>
                    <a:pt x="505037" y="483024"/>
                    <a:pt x="505037" y="494170"/>
                  </a:cubicBezTo>
                  <a:cubicBezTo>
                    <a:pt x="505037" y="505316"/>
                    <a:pt x="496001" y="514352"/>
                    <a:pt x="484855" y="514352"/>
                  </a:cubicBezTo>
                  <a:cubicBezTo>
                    <a:pt x="473709" y="514352"/>
                    <a:pt x="464673" y="505316"/>
                    <a:pt x="464673" y="494170"/>
                  </a:cubicBezTo>
                  <a:cubicBezTo>
                    <a:pt x="464673" y="483024"/>
                    <a:pt x="473709" y="473988"/>
                    <a:pt x="484855" y="473988"/>
                  </a:cubicBezTo>
                  <a:close/>
                  <a:moveTo>
                    <a:pt x="121232" y="473988"/>
                  </a:moveTo>
                  <a:cubicBezTo>
                    <a:pt x="132378" y="473988"/>
                    <a:pt x="141414" y="483024"/>
                    <a:pt x="141414" y="494170"/>
                  </a:cubicBezTo>
                  <a:cubicBezTo>
                    <a:pt x="141414" y="505316"/>
                    <a:pt x="132378" y="514352"/>
                    <a:pt x="121232" y="514352"/>
                  </a:cubicBezTo>
                  <a:cubicBezTo>
                    <a:pt x="110086" y="514352"/>
                    <a:pt x="101050" y="505316"/>
                    <a:pt x="101050" y="494170"/>
                  </a:cubicBezTo>
                  <a:cubicBezTo>
                    <a:pt x="101050" y="483024"/>
                    <a:pt x="110086" y="473988"/>
                    <a:pt x="121232" y="473988"/>
                  </a:cubicBezTo>
                  <a:close/>
                  <a:moveTo>
                    <a:pt x="484813" y="443658"/>
                  </a:moveTo>
                  <a:cubicBezTo>
                    <a:pt x="457016" y="443658"/>
                    <a:pt x="434364" y="466274"/>
                    <a:pt x="434364" y="494115"/>
                  </a:cubicBezTo>
                  <a:cubicBezTo>
                    <a:pt x="434364" y="521866"/>
                    <a:pt x="457016" y="544482"/>
                    <a:pt x="484813" y="544482"/>
                  </a:cubicBezTo>
                  <a:cubicBezTo>
                    <a:pt x="512699" y="544482"/>
                    <a:pt x="535352" y="521866"/>
                    <a:pt x="535352" y="494115"/>
                  </a:cubicBezTo>
                  <a:cubicBezTo>
                    <a:pt x="535352" y="466274"/>
                    <a:pt x="512699" y="443658"/>
                    <a:pt x="484813" y="443658"/>
                  </a:cubicBezTo>
                  <a:close/>
                  <a:moveTo>
                    <a:pt x="121293" y="443658"/>
                  </a:moveTo>
                  <a:cubicBezTo>
                    <a:pt x="93407" y="443658"/>
                    <a:pt x="70755" y="466274"/>
                    <a:pt x="70755" y="494115"/>
                  </a:cubicBezTo>
                  <a:cubicBezTo>
                    <a:pt x="70755" y="521866"/>
                    <a:pt x="93407" y="544482"/>
                    <a:pt x="121293" y="544482"/>
                  </a:cubicBezTo>
                  <a:cubicBezTo>
                    <a:pt x="149090" y="544482"/>
                    <a:pt x="171742" y="521866"/>
                    <a:pt x="171742" y="494115"/>
                  </a:cubicBezTo>
                  <a:cubicBezTo>
                    <a:pt x="171742" y="466274"/>
                    <a:pt x="149090" y="443658"/>
                    <a:pt x="121293" y="443658"/>
                  </a:cubicBezTo>
                  <a:close/>
                  <a:moveTo>
                    <a:pt x="303053" y="373109"/>
                  </a:moveTo>
                  <a:cubicBezTo>
                    <a:pt x="297458" y="373109"/>
                    <a:pt x="292945" y="377614"/>
                    <a:pt x="292945" y="383200"/>
                  </a:cubicBezTo>
                  <a:cubicBezTo>
                    <a:pt x="292945" y="388787"/>
                    <a:pt x="297458" y="393292"/>
                    <a:pt x="303053" y="393292"/>
                  </a:cubicBezTo>
                  <a:lnTo>
                    <a:pt x="343484" y="393292"/>
                  </a:lnTo>
                  <a:lnTo>
                    <a:pt x="343484" y="403383"/>
                  </a:lnTo>
                  <a:cubicBezTo>
                    <a:pt x="343484" y="408879"/>
                    <a:pt x="347997" y="413474"/>
                    <a:pt x="353592" y="413474"/>
                  </a:cubicBezTo>
                  <a:cubicBezTo>
                    <a:pt x="359097" y="413474"/>
                    <a:pt x="363610" y="408969"/>
                    <a:pt x="363610" y="403383"/>
                  </a:cubicBezTo>
                  <a:lnTo>
                    <a:pt x="363610" y="383200"/>
                  </a:lnTo>
                  <a:cubicBezTo>
                    <a:pt x="363610" y="377614"/>
                    <a:pt x="359097" y="373109"/>
                    <a:pt x="353592" y="373109"/>
                  </a:cubicBezTo>
                  <a:close/>
                  <a:moveTo>
                    <a:pt x="313169" y="282403"/>
                  </a:moveTo>
                  <a:lnTo>
                    <a:pt x="447018" y="282403"/>
                  </a:lnTo>
                  <a:lnTo>
                    <a:pt x="465069" y="311699"/>
                  </a:lnTo>
                  <a:cubicBezTo>
                    <a:pt x="467506" y="315665"/>
                    <a:pt x="470304" y="319271"/>
                    <a:pt x="473282" y="322696"/>
                  </a:cubicBezTo>
                  <a:lnTo>
                    <a:pt x="313169" y="322696"/>
                  </a:lnTo>
                  <a:close/>
                  <a:moveTo>
                    <a:pt x="161665" y="282403"/>
                  </a:moveTo>
                  <a:lnTo>
                    <a:pt x="292917" y="282403"/>
                  </a:lnTo>
                  <a:lnTo>
                    <a:pt x="292917" y="322696"/>
                  </a:lnTo>
                  <a:lnTo>
                    <a:pt x="161665" y="322696"/>
                  </a:lnTo>
                  <a:close/>
                  <a:moveTo>
                    <a:pt x="191958" y="0"/>
                  </a:moveTo>
                  <a:cubicBezTo>
                    <a:pt x="197553" y="0"/>
                    <a:pt x="202066" y="4505"/>
                    <a:pt x="202066" y="10092"/>
                  </a:cubicBezTo>
                  <a:lnTo>
                    <a:pt x="202066" y="40366"/>
                  </a:lnTo>
                  <a:lnTo>
                    <a:pt x="222281" y="40366"/>
                  </a:lnTo>
                  <a:lnTo>
                    <a:pt x="222281" y="10092"/>
                  </a:lnTo>
                  <a:cubicBezTo>
                    <a:pt x="222281" y="4505"/>
                    <a:pt x="226793" y="0"/>
                    <a:pt x="232389" y="0"/>
                  </a:cubicBezTo>
                  <a:cubicBezTo>
                    <a:pt x="237894" y="0"/>
                    <a:pt x="242406" y="4505"/>
                    <a:pt x="242406" y="10092"/>
                  </a:cubicBezTo>
                  <a:lnTo>
                    <a:pt x="242406" y="40366"/>
                  </a:lnTo>
                  <a:cubicBezTo>
                    <a:pt x="248002" y="40366"/>
                    <a:pt x="252514" y="44871"/>
                    <a:pt x="252514" y="50457"/>
                  </a:cubicBezTo>
                  <a:lnTo>
                    <a:pt x="252514" y="100823"/>
                  </a:lnTo>
                  <a:cubicBezTo>
                    <a:pt x="252514" y="106410"/>
                    <a:pt x="248002" y="110915"/>
                    <a:pt x="242406" y="110915"/>
                  </a:cubicBezTo>
                  <a:lnTo>
                    <a:pt x="221379" y="110915"/>
                  </a:lnTo>
                  <a:cubicBezTo>
                    <a:pt x="216505" y="139477"/>
                    <a:pt x="191597" y="161371"/>
                    <a:pt x="161634" y="161371"/>
                  </a:cubicBezTo>
                  <a:cubicBezTo>
                    <a:pt x="128243" y="161371"/>
                    <a:pt x="101078" y="134251"/>
                    <a:pt x="101078" y="100823"/>
                  </a:cubicBezTo>
                  <a:cubicBezTo>
                    <a:pt x="101078" y="78568"/>
                    <a:pt x="82938" y="60548"/>
                    <a:pt x="60647" y="60548"/>
                  </a:cubicBezTo>
                  <a:cubicBezTo>
                    <a:pt x="38355" y="60548"/>
                    <a:pt x="20216" y="78568"/>
                    <a:pt x="20216" y="100823"/>
                  </a:cubicBezTo>
                  <a:lnTo>
                    <a:pt x="20216" y="231921"/>
                  </a:lnTo>
                  <a:cubicBezTo>
                    <a:pt x="20216" y="265258"/>
                    <a:pt x="47470" y="292469"/>
                    <a:pt x="80862" y="292469"/>
                  </a:cubicBezTo>
                  <a:cubicBezTo>
                    <a:pt x="81314" y="292469"/>
                    <a:pt x="81675" y="292649"/>
                    <a:pt x="82126" y="292649"/>
                  </a:cubicBezTo>
                  <a:lnTo>
                    <a:pt x="105229" y="255167"/>
                  </a:lnTo>
                  <a:cubicBezTo>
                    <a:pt x="117864" y="234624"/>
                    <a:pt x="140697" y="221829"/>
                    <a:pt x="164883" y="221829"/>
                  </a:cubicBezTo>
                  <a:lnTo>
                    <a:pt x="370559" y="221829"/>
                  </a:lnTo>
                  <a:cubicBezTo>
                    <a:pt x="394655" y="221829"/>
                    <a:pt x="417578" y="234624"/>
                    <a:pt x="430213" y="255077"/>
                  </a:cubicBezTo>
                  <a:lnTo>
                    <a:pt x="434545" y="262195"/>
                  </a:lnTo>
                  <a:lnTo>
                    <a:pt x="159920" y="262195"/>
                  </a:lnTo>
                  <a:cubicBezTo>
                    <a:pt x="149722" y="262195"/>
                    <a:pt x="141419" y="270484"/>
                    <a:pt x="141419" y="280575"/>
                  </a:cubicBezTo>
                  <a:lnTo>
                    <a:pt x="141419" y="324455"/>
                  </a:lnTo>
                  <a:cubicBezTo>
                    <a:pt x="141419" y="334546"/>
                    <a:pt x="149722" y="342835"/>
                    <a:pt x="159920" y="342835"/>
                  </a:cubicBezTo>
                  <a:lnTo>
                    <a:pt x="498801" y="342835"/>
                  </a:lnTo>
                  <a:cubicBezTo>
                    <a:pt x="511075" y="349322"/>
                    <a:pt x="524793" y="352926"/>
                    <a:pt x="538962" y="352926"/>
                  </a:cubicBezTo>
                  <a:lnTo>
                    <a:pt x="580566" y="352926"/>
                  </a:lnTo>
                  <a:cubicBezTo>
                    <a:pt x="594645" y="352926"/>
                    <a:pt x="606016" y="364369"/>
                    <a:pt x="606016" y="378335"/>
                  </a:cubicBezTo>
                  <a:lnTo>
                    <a:pt x="606016" y="403383"/>
                  </a:lnTo>
                  <a:lnTo>
                    <a:pt x="555567" y="403383"/>
                  </a:lnTo>
                  <a:cubicBezTo>
                    <a:pt x="549972" y="403383"/>
                    <a:pt x="545460" y="407888"/>
                    <a:pt x="545460" y="413474"/>
                  </a:cubicBezTo>
                  <a:cubicBezTo>
                    <a:pt x="545460" y="418971"/>
                    <a:pt x="549972" y="423476"/>
                    <a:pt x="555567" y="423476"/>
                  </a:cubicBezTo>
                  <a:lnTo>
                    <a:pt x="606016" y="423476"/>
                  </a:lnTo>
                  <a:lnTo>
                    <a:pt x="606016" y="463391"/>
                  </a:lnTo>
                  <a:cubicBezTo>
                    <a:pt x="606016" y="485916"/>
                    <a:pt x="587696" y="504206"/>
                    <a:pt x="565224" y="504206"/>
                  </a:cubicBezTo>
                  <a:lnTo>
                    <a:pt x="554755" y="504206"/>
                  </a:lnTo>
                  <a:cubicBezTo>
                    <a:pt x="549791" y="538355"/>
                    <a:pt x="520371" y="564664"/>
                    <a:pt x="484813" y="564664"/>
                  </a:cubicBezTo>
                  <a:cubicBezTo>
                    <a:pt x="449345" y="564664"/>
                    <a:pt x="419924" y="538355"/>
                    <a:pt x="414961" y="504206"/>
                  </a:cubicBezTo>
                  <a:lnTo>
                    <a:pt x="191145" y="504206"/>
                  </a:lnTo>
                  <a:cubicBezTo>
                    <a:pt x="186182" y="538355"/>
                    <a:pt x="156761" y="564664"/>
                    <a:pt x="121293" y="564664"/>
                  </a:cubicBezTo>
                  <a:cubicBezTo>
                    <a:pt x="85736" y="564664"/>
                    <a:pt x="56315" y="538355"/>
                    <a:pt x="51351" y="504206"/>
                  </a:cubicBezTo>
                  <a:lnTo>
                    <a:pt x="35377" y="504206"/>
                  </a:lnTo>
                  <a:cubicBezTo>
                    <a:pt x="15884" y="504206"/>
                    <a:pt x="90" y="488349"/>
                    <a:pt x="90" y="468977"/>
                  </a:cubicBezTo>
                  <a:lnTo>
                    <a:pt x="0" y="423476"/>
                  </a:lnTo>
                  <a:lnTo>
                    <a:pt x="50539" y="423476"/>
                  </a:lnTo>
                  <a:cubicBezTo>
                    <a:pt x="56134" y="423476"/>
                    <a:pt x="60647" y="418971"/>
                    <a:pt x="60647" y="413474"/>
                  </a:cubicBezTo>
                  <a:cubicBezTo>
                    <a:pt x="60647" y="407888"/>
                    <a:pt x="56134" y="403383"/>
                    <a:pt x="50539" y="403383"/>
                  </a:cubicBezTo>
                  <a:lnTo>
                    <a:pt x="0" y="403383"/>
                  </a:lnTo>
                  <a:lnTo>
                    <a:pt x="0" y="378335"/>
                  </a:lnTo>
                  <a:cubicBezTo>
                    <a:pt x="0" y="371577"/>
                    <a:pt x="2617" y="365180"/>
                    <a:pt x="7400" y="360405"/>
                  </a:cubicBezTo>
                  <a:cubicBezTo>
                    <a:pt x="12274" y="355630"/>
                    <a:pt x="18681" y="352926"/>
                    <a:pt x="25540" y="352926"/>
                  </a:cubicBezTo>
                  <a:cubicBezTo>
                    <a:pt x="37814" y="352926"/>
                    <a:pt x="48824" y="346710"/>
                    <a:pt x="54961" y="336798"/>
                  </a:cubicBezTo>
                  <a:lnTo>
                    <a:pt x="70303" y="311840"/>
                  </a:lnTo>
                  <a:cubicBezTo>
                    <a:pt x="30775" y="306614"/>
                    <a:pt x="90" y="272827"/>
                    <a:pt x="90" y="231921"/>
                  </a:cubicBezTo>
                  <a:lnTo>
                    <a:pt x="90" y="100823"/>
                  </a:lnTo>
                  <a:cubicBezTo>
                    <a:pt x="90" y="67486"/>
                    <a:pt x="27255" y="40366"/>
                    <a:pt x="60647" y="40366"/>
                  </a:cubicBezTo>
                  <a:cubicBezTo>
                    <a:pt x="94039" y="40366"/>
                    <a:pt x="121293" y="67486"/>
                    <a:pt x="121293" y="100823"/>
                  </a:cubicBezTo>
                  <a:cubicBezTo>
                    <a:pt x="121293" y="123078"/>
                    <a:pt x="139343" y="141189"/>
                    <a:pt x="161634" y="141189"/>
                  </a:cubicBezTo>
                  <a:cubicBezTo>
                    <a:pt x="180406" y="141189"/>
                    <a:pt x="196109" y="128304"/>
                    <a:pt x="200622" y="110915"/>
                  </a:cubicBezTo>
                  <a:lnTo>
                    <a:pt x="181850" y="110915"/>
                  </a:lnTo>
                  <a:cubicBezTo>
                    <a:pt x="176255" y="110915"/>
                    <a:pt x="171742" y="106410"/>
                    <a:pt x="171742" y="100823"/>
                  </a:cubicBezTo>
                  <a:lnTo>
                    <a:pt x="171742" y="50457"/>
                  </a:lnTo>
                  <a:cubicBezTo>
                    <a:pt x="171742" y="44871"/>
                    <a:pt x="176255" y="40366"/>
                    <a:pt x="181850" y="40366"/>
                  </a:cubicBezTo>
                  <a:lnTo>
                    <a:pt x="181850" y="10092"/>
                  </a:lnTo>
                  <a:cubicBezTo>
                    <a:pt x="181850" y="4505"/>
                    <a:pt x="186362" y="0"/>
                    <a:pt x="191958"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endParaRPr/>
            </a:p>
          </p:txBody>
        </p:sp>
        <p:sp>
          <p:nvSpPr>
            <p:cNvPr id="29" name="iś1îḓê"/>
            <p:cNvSpPr/>
            <p:nvPr/>
          </p:nvSpPr>
          <p:spPr bwMode="auto">
            <a:xfrm>
              <a:off x="5924135" y="1186438"/>
              <a:ext cx="333138" cy="299788"/>
            </a:xfrm>
            <a:custGeom>
              <a:avLst/>
              <a:gdLst>
                <a:gd name="connsiteX0" fmla="*/ 225929 w 608344"/>
                <a:gd name="connsiteY0" fmla="*/ 296304 h 547447"/>
                <a:gd name="connsiteX1" fmla="*/ 225929 w 608344"/>
                <a:gd name="connsiteY1" fmla="*/ 341046 h 547447"/>
                <a:gd name="connsiteX2" fmla="*/ 44891 w 608344"/>
                <a:gd name="connsiteY2" fmla="*/ 420403 h 547447"/>
                <a:gd name="connsiteX3" fmla="*/ 287412 w 608344"/>
                <a:gd name="connsiteY3" fmla="*/ 502613 h 547447"/>
                <a:gd name="connsiteX4" fmla="*/ 530026 w 608344"/>
                <a:gd name="connsiteY4" fmla="*/ 420403 h 547447"/>
                <a:gd name="connsiteX5" fmla="*/ 351292 w 608344"/>
                <a:gd name="connsiteY5" fmla="*/ 341322 h 547447"/>
                <a:gd name="connsiteX6" fmla="*/ 351292 w 608344"/>
                <a:gd name="connsiteY6" fmla="*/ 296488 h 547447"/>
                <a:gd name="connsiteX7" fmla="*/ 574825 w 608344"/>
                <a:gd name="connsiteY7" fmla="*/ 420403 h 547447"/>
                <a:gd name="connsiteX8" fmla="*/ 287412 w 608344"/>
                <a:gd name="connsiteY8" fmla="*/ 547447 h 547447"/>
                <a:gd name="connsiteX9" fmla="*/ 0 w 608344"/>
                <a:gd name="connsiteY9" fmla="*/ 420403 h 547447"/>
                <a:gd name="connsiteX10" fmla="*/ 225929 w 608344"/>
                <a:gd name="connsiteY10" fmla="*/ 296304 h 547447"/>
                <a:gd name="connsiteX11" fmla="*/ 288618 w 608344"/>
                <a:gd name="connsiteY11" fmla="*/ 0 h 547447"/>
                <a:gd name="connsiteX12" fmla="*/ 311206 w 608344"/>
                <a:gd name="connsiteY12" fmla="*/ 22551 h 547447"/>
                <a:gd name="connsiteX13" fmla="*/ 311206 w 608344"/>
                <a:gd name="connsiteY13" fmla="*/ 36174 h 547447"/>
                <a:gd name="connsiteX14" fmla="*/ 370947 w 608344"/>
                <a:gd name="connsiteY14" fmla="*/ 21079 h 547447"/>
                <a:gd name="connsiteX15" fmla="*/ 428291 w 608344"/>
                <a:gd name="connsiteY15" fmla="*/ 34978 h 547447"/>
                <a:gd name="connsiteX16" fmla="*/ 486004 w 608344"/>
                <a:gd name="connsiteY16" fmla="*/ 48969 h 547447"/>
                <a:gd name="connsiteX17" fmla="*/ 540766 w 608344"/>
                <a:gd name="connsiteY17" fmla="*/ 36450 h 547447"/>
                <a:gd name="connsiteX18" fmla="*/ 578012 w 608344"/>
                <a:gd name="connsiteY18" fmla="*/ 18409 h 547447"/>
                <a:gd name="connsiteX19" fmla="*/ 587232 w 608344"/>
                <a:gd name="connsiteY19" fmla="*/ 16292 h 547447"/>
                <a:gd name="connsiteX20" fmla="*/ 598479 w 608344"/>
                <a:gd name="connsiteY20" fmla="*/ 19514 h 547447"/>
                <a:gd name="connsiteX21" fmla="*/ 608344 w 608344"/>
                <a:gd name="connsiteY21" fmla="*/ 37371 h 547447"/>
                <a:gd name="connsiteX22" fmla="*/ 608344 w 608344"/>
                <a:gd name="connsiteY22" fmla="*/ 174520 h 547447"/>
                <a:gd name="connsiteX23" fmla="*/ 596451 w 608344"/>
                <a:gd name="connsiteY23" fmla="*/ 193481 h 547447"/>
                <a:gd name="connsiteX24" fmla="*/ 540766 w 608344"/>
                <a:gd name="connsiteY24" fmla="*/ 220451 h 547447"/>
                <a:gd name="connsiteX25" fmla="*/ 486004 w 608344"/>
                <a:gd name="connsiteY25" fmla="*/ 232969 h 547447"/>
                <a:gd name="connsiteX26" fmla="*/ 428291 w 608344"/>
                <a:gd name="connsiteY26" fmla="*/ 218978 h 547447"/>
                <a:gd name="connsiteX27" fmla="*/ 370947 w 608344"/>
                <a:gd name="connsiteY27" fmla="*/ 205079 h 547447"/>
                <a:gd name="connsiteX28" fmla="*/ 311206 w 608344"/>
                <a:gd name="connsiteY28" fmla="*/ 220175 h 547447"/>
                <a:gd name="connsiteX29" fmla="*/ 311206 w 608344"/>
                <a:gd name="connsiteY29" fmla="*/ 426267 h 547447"/>
                <a:gd name="connsiteX30" fmla="*/ 288618 w 608344"/>
                <a:gd name="connsiteY30" fmla="*/ 448726 h 547447"/>
                <a:gd name="connsiteX31" fmla="*/ 266031 w 608344"/>
                <a:gd name="connsiteY31" fmla="*/ 426267 h 547447"/>
                <a:gd name="connsiteX32" fmla="*/ 266031 w 608344"/>
                <a:gd name="connsiteY32" fmla="*/ 22551 h 547447"/>
                <a:gd name="connsiteX33" fmla="*/ 288618 w 608344"/>
                <a:gd name="connsiteY33" fmla="*/ 0 h 54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344" h="547447">
                  <a:moveTo>
                    <a:pt x="225929" y="296304"/>
                  </a:moveTo>
                  <a:lnTo>
                    <a:pt x="225929" y="341046"/>
                  </a:lnTo>
                  <a:cubicBezTo>
                    <a:pt x="112458" y="351817"/>
                    <a:pt x="44891" y="391035"/>
                    <a:pt x="44891" y="420403"/>
                  </a:cubicBezTo>
                  <a:cubicBezTo>
                    <a:pt x="44891" y="454741"/>
                    <a:pt x="137162" y="502613"/>
                    <a:pt x="287412" y="502613"/>
                  </a:cubicBezTo>
                  <a:cubicBezTo>
                    <a:pt x="437663" y="502613"/>
                    <a:pt x="530026" y="454741"/>
                    <a:pt x="530026" y="420403"/>
                  </a:cubicBezTo>
                  <a:cubicBezTo>
                    <a:pt x="530026" y="391219"/>
                    <a:pt x="463289" y="352369"/>
                    <a:pt x="351292" y="341322"/>
                  </a:cubicBezTo>
                  <a:lnTo>
                    <a:pt x="351292" y="296488"/>
                  </a:lnTo>
                  <a:cubicBezTo>
                    <a:pt x="468543" y="307904"/>
                    <a:pt x="574825" y="350436"/>
                    <a:pt x="574825" y="420403"/>
                  </a:cubicBezTo>
                  <a:cubicBezTo>
                    <a:pt x="574825" y="502889"/>
                    <a:pt x="426786" y="547447"/>
                    <a:pt x="287412" y="547447"/>
                  </a:cubicBezTo>
                  <a:cubicBezTo>
                    <a:pt x="148131" y="547447"/>
                    <a:pt x="0" y="502889"/>
                    <a:pt x="0" y="420403"/>
                  </a:cubicBezTo>
                  <a:cubicBezTo>
                    <a:pt x="0" y="349976"/>
                    <a:pt x="107757" y="307351"/>
                    <a:pt x="225929" y="296304"/>
                  </a:cubicBezTo>
                  <a:close/>
                  <a:moveTo>
                    <a:pt x="288618" y="0"/>
                  </a:moveTo>
                  <a:cubicBezTo>
                    <a:pt x="301064" y="0"/>
                    <a:pt x="311206" y="10033"/>
                    <a:pt x="311206" y="22551"/>
                  </a:cubicBezTo>
                  <a:lnTo>
                    <a:pt x="311206" y="36174"/>
                  </a:lnTo>
                  <a:cubicBezTo>
                    <a:pt x="329829" y="26141"/>
                    <a:pt x="350388" y="21079"/>
                    <a:pt x="370947" y="21079"/>
                  </a:cubicBezTo>
                  <a:cubicBezTo>
                    <a:pt x="390584" y="21079"/>
                    <a:pt x="410313" y="25681"/>
                    <a:pt x="428291" y="34978"/>
                  </a:cubicBezTo>
                  <a:cubicBezTo>
                    <a:pt x="446361" y="44366"/>
                    <a:pt x="466182" y="48969"/>
                    <a:pt x="486004" y="48969"/>
                  </a:cubicBezTo>
                  <a:cubicBezTo>
                    <a:pt x="504719" y="48969"/>
                    <a:pt x="523526" y="44827"/>
                    <a:pt x="540766" y="36450"/>
                  </a:cubicBezTo>
                  <a:lnTo>
                    <a:pt x="578012" y="18409"/>
                  </a:lnTo>
                  <a:cubicBezTo>
                    <a:pt x="580963" y="17029"/>
                    <a:pt x="584097" y="16292"/>
                    <a:pt x="587232" y="16292"/>
                  </a:cubicBezTo>
                  <a:cubicBezTo>
                    <a:pt x="591104" y="16292"/>
                    <a:pt x="594976" y="17397"/>
                    <a:pt x="598479" y="19514"/>
                  </a:cubicBezTo>
                  <a:cubicBezTo>
                    <a:pt x="604564" y="23380"/>
                    <a:pt x="608344" y="30099"/>
                    <a:pt x="608344" y="37371"/>
                  </a:cubicBezTo>
                  <a:lnTo>
                    <a:pt x="608344" y="174520"/>
                  </a:lnTo>
                  <a:cubicBezTo>
                    <a:pt x="608344" y="182620"/>
                    <a:pt x="603734" y="189984"/>
                    <a:pt x="596451" y="193481"/>
                  </a:cubicBezTo>
                  <a:lnTo>
                    <a:pt x="540766" y="220451"/>
                  </a:lnTo>
                  <a:cubicBezTo>
                    <a:pt x="523434" y="228827"/>
                    <a:pt x="504719" y="232969"/>
                    <a:pt x="486004" y="232969"/>
                  </a:cubicBezTo>
                  <a:cubicBezTo>
                    <a:pt x="466182" y="232969"/>
                    <a:pt x="446361" y="228367"/>
                    <a:pt x="428291" y="218978"/>
                  </a:cubicBezTo>
                  <a:cubicBezTo>
                    <a:pt x="410313" y="209774"/>
                    <a:pt x="390584" y="205079"/>
                    <a:pt x="370947" y="205079"/>
                  </a:cubicBezTo>
                  <a:cubicBezTo>
                    <a:pt x="350388" y="205079"/>
                    <a:pt x="329829" y="210142"/>
                    <a:pt x="311206" y="220175"/>
                  </a:cubicBezTo>
                  <a:lnTo>
                    <a:pt x="311206" y="426267"/>
                  </a:lnTo>
                  <a:cubicBezTo>
                    <a:pt x="311206" y="438693"/>
                    <a:pt x="301064" y="448726"/>
                    <a:pt x="288618" y="448726"/>
                  </a:cubicBezTo>
                  <a:cubicBezTo>
                    <a:pt x="276172" y="448726"/>
                    <a:pt x="266031" y="438693"/>
                    <a:pt x="266031" y="426267"/>
                  </a:cubicBezTo>
                  <a:lnTo>
                    <a:pt x="266031" y="22551"/>
                  </a:lnTo>
                  <a:cubicBezTo>
                    <a:pt x="266031" y="10033"/>
                    <a:pt x="276172" y="0"/>
                    <a:pt x="288618" y="0"/>
                  </a:cubicBezTo>
                  <a:close/>
                </a:path>
              </a:pathLst>
            </a:custGeom>
            <a:solidFill>
              <a:schemeClr val="accent1"/>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endParaRPr/>
            </a:p>
          </p:txBody>
        </p:sp>
        <p:sp>
          <p:nvSpPr>
            <p:cNvPr id="30" name="išľíḓé"/>
            <p:cNvSpPr/>
            <p:nvPr/>
          </p:nvSpPr>
          <p:spPr bwMode="auto">
            <a:xfrm>
              <a:off x="9594763" y="1183282"/>
              <a:ext cx="333138" cy="306100"/>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8909" h="559493">
                  <a:moveTo>
                    <a:pt x="470180" y="272856"/>
                  </a:moveTo>
                  <a:lnTo>
                    <a:pt x="476019" y="272856"/>
                  </a:lnTo>
                  <a:lnTo>
                    <a:pt x="481953" y="272856"/>
                  </a:lnTo>
                  <a:cubicBezTo>
                    <a:pt x="509171" y="272856"/>
                    <a:pt x="531210" y="294963"/>
                    <a:pt x="531210" y="322056"/>
                  </a:cubicBezTo>
                  <a:lnTo>
                    <a:pt x="531210" y="376617"/>
                  </a:lnTo>
                  <a:cubicBezTo>
                    <a:pt x="531210" y="385084"/>
                    <a:pt x="526783" y="392609"/>
                    <a:pt x="520096" y="397031"/>
                  </a:cubicBezTo>
                  <a:lnTo>
                    <a:pt x="520096" y="449711"/>
                  </a:lnTo>
                  <a:cubicBezTo>
                    <a:pt x="520096" y="450558"/>
                    <a:pt x="520661" y="451498"/>
                    <a:pt x="521509" y="451875"/>
                  </a:cubicBezTo>
                  <a:cubicBezTo>
                    <a:pt x="528949" y="455450"/>
                    <a:pt x="565492" y="473888"/>
                    <a:pt x="599209" y="501639"/>
                  </a:cubicBezTo>
                  <a:cubicBezTo>
                    <a:pt x="605425" y="506625"/>
                    <a:pt x="608909" y="514150"/>
                    <a:pt x="608909" y="522052"/>
                  </a:cubicBezTo>
                  <a:lnTo>
                    <a:pt x="608909" y="559493"/>
                  </a:lnTo>
                  <a:lnTo>
                    <a:pt x="483083" y="559493"/>
                  </a:lnTo>
                  <a:lnTo>
                    <a:pt x="483083" y="515561"/>
                  </a:lnTo>
                  <a:cubicBezTo>
                    <a:pt x="483083" y="499475"/>
                    <a:pt x="476019" y="484424"/>
                    <a:pt x="463587" y="474264"/>
                  </a:cubicBezTo>
                  <a:cubicBezTo>
                    <a:pt x="453039" y="465609"/>
                    <a:pt x="442302" y="457707"/>
                    <a:pt x="431848" y="450558"/>
                  </a:cubicBezTo>
                  <a:cubicBezTo>
                    <a:pt x="431848" y="450370"/>
                    <a:pt x="431942" y="450087"/>
                    <a:pt x="431942" y="449711"/>
                  </a:cubicBezTo>
                  <a:lnTo>
                    <a:pt x="431942" y="397031"/>
                  </a:lnTo>
                  <a:cubicBezTo>
                    <a:pt x="425350" y="392609"/>
                    <a:pt x="420923" y="385084"/>
                    <a:pt x="420923" y="376617"/>
                  </a:cubicBezTo>
                  <a:lnTo>
                    <a:pt x="420923" y="322056"/>
                  </a:lnTo>
                  <a:cubicBezTo>
                    <a:pt x="420923" y="294775"/>
                    <a:pt x="443056" y="272856"/>
                    <a:pt x="470180" y="272856"/>
                  </a:cubicBezTo>
                  <a:close/>
                  <a:moveTo>
                    <a:pt x="127004" y="272856"/>
                  </a:moveTo>
                  <a:lnTo>
                    <a:pt x="132940" y="272856"/>
                  </a:lnTo>
                  <a:lnTo>
                    <a:pt x="138781" y="272856"/>
                  </a:lnTo>
                  <a:cubicBezTo>
                    <a:pt x="166104" y="272856"/>
                    <a:pt x="188057" y="294963"/>
                    <a:pt x="188057" y="322056"/>
                  </a:cubicBezTo>
                  <a:lnTo>
                    <a:pt x="188057" y="376617"/>
                  </a:lnTo>
                  <a:cubicBezTo>
                    <a:pt x="188057" y="385084"/>
                    <a:pt x="183629" y="392609"/>
                    <a:pt x="177033" y="397031"/>
                  </a:cubicBezTo>
                  <a:lnTo>
                    <a:pt x="177033" y="449711"/>
                  </a:lnTo>
                  <a:cubicBezTo>
                    <a:pt x="177033" y="449993"/>
                    <a:pt x="177128" y="450370"/>
                    <a:pt x="177128" y="450558"/>
                  </a:cubicBezTo>
                  <a:cubicBezTo>
                    <a:pt x="166670" y="457613"/>
                    <a:pt x="155929" y="465609"/>
                    <a:pt x="145376" y="474264"/>
                  </a:cubicBezTo>
                  <a:cubicBezTo>
                    <a:pt x="133034" y="484424"/>
                    <a:pt x="125874" y="499475"/>
                    <a:pt x="125874" y="515561"/>
                  </a:cubicBezTo>
                  <a:lnTo>
                    <a:pt x="125874" y="559493"/>
                  </a:lnTo>
                  <a:lnTo>
                    <a:pt x="0" y="559493"/>
                  </a:lnTo>
                  <a:lnTo>
                    <a:pt x="0" y="522052"/>
                  </a:lnTo>
                  <a:cubicBezTo>
                    <a:pt x="0" y="514150"/>
                    <a:pt x="3486" y="506625"/>
                    <a:pt x="9704" y="501639"/>
                  </a:cubicBezTo>
                  <a:cubicBezTo>
                    <a:pt x="43434" y="473888"/>
                    <a:pt x="79990" y="455450"/>
                    <a:pt x="87433" y="451875"/>
                  </a:cubicBezTo>
                  <a:cubicBezTo>
                    <a:pt x="88281" y="451498"/>
                    <a:pt x="88846" y="450558"/>
                    <a:pt x="88846" y="449711"/>
                  </a:cubicBezTo>
                  <a:lnTo>
                    <a:pt x="88846" y="397031"/>
                  </a:lnTo>
                  <a:cubicBezTo>
                    <a:pt x="82157" y="392609"/>
                    <a:pt x="77729" y="385084"/>
                    <a:pt x="77729" y="376617"/>
                  </a:cubicBezTo>
                  <a:lnTo>
                    <a:pt x="77729" y="322056"/>
                  </a:lnTo>
                  <a:cubicBezTo>
                    <a:pt x="77729" y="294775"/>
                    <a:pt x="99870" y="272856"/>
                    <a:pt x="127004" y="272856"/>
                  </a:cubicBezTo>
                  <a:close/>
                  <a:moveTo>
                    <a:pt x="297600" y="222543"/>
                  </a:moveTo>
                  <a:lnTo>
                    <a:pt x="304477" y="222543"/>
                  </a:lnTo>
                  <a:lnTo>
                    <a:pt x="311260" y="222543"/>
                  </a:lnTo>
                  <a:cubicBezTo>
                    <a:pt x="343291" y="222543"/>
                    <a:pt x="369198" y="248506"/>
                    <a:pt x="369198" y="280395"/>
                  </a:cubicBezTo>
                  <a:lnTo>
                    <a:pt x="369198" y="344455"/>
                  </a:lnTo>
                  <a:cubicBezTo>
                    <a:pt x="369198" y="354520"/>
                    <a:pt x="364017" y="363456"/>
                    <a:pt x="356198" y="368536"/>
                  </a:cubicBezTo>
                  <a:lnTo>
                    <a:pt x="356198" y="430432"/>
                  </a:lnTo>
                  <a:cubicBezTo>
                    <a:pt x="356198" y="431561"/>
                    <a:pt x="356857" y="432502"/>
                    <a:pt x="357893" y="433066"/>
                  </a:cubicBezTo>
                  <a:cubicBezTo>
                    <a:pt x="366655" y="437299"/>
                    <a:pt x="409520" y="459029"/>
                    <a:pt x="449275" y="491576"/>
                  </a:cubicBezTo>
                  <a:cubicBezTo>
                    <a:pt x="456435" y="497502"/>
                    <a:pt x="460580" y="506251"/>
                    <a:pt x="460580" y="515563"/>
                  </a:cubicBezTo>
                  <a:lnTo>
                    <a:pt x="460580" y="559493"/>
                  </a:lnTo>
                  <a:lnTo>
                    <a:pt x="304477" y="559493"/>
                  </a:lnTo>
                  <a:lnTo>
                    <a:pt x="148187" y="559493"/>
                  </a:lnTo>
                  <a:lnTo>
                    <a:pt x="148187" y="515563"/>
                  </a:lnTo>
                  <a:cubicBezTo>
                    <a:pt x="148187" y="506251"/>
                    <a:pt x="152332" y="497502"/>
                    <a:pt x="159492" y="491576"/>
                  </a:cubicBezTo>
                  <a:cubicBezTo>
                    <a:pt x="199342" y="459029"/>
                    <a:pt x="242206" y="437299"/>
                    <a:pt x="250967" y="433066"/>
                  </a:cubicBezTo>
                  <a:cubicBezTo>
                    <a:pt x="252004" y="432502"/>
                    <a:pt x="252569" y="431561"/>
                    <a:pt x="252569" y="430432"/>
                  </a:cubicBezTo>
                  <a:lnTo>
                    <a:pt x="252569" y="368536"/>
                  </a:lnTo>
                  <a:cubicBezTo>
                    <a:pt x="244844" y="363456"/>
                    <a:pt x="239663" y="354520"/>
                    <a:pt x="239663" y="344455"/>
                  </a:cubicBezTo>
                  <a:lnTo>
                    <a:pt x="239663" y="280395"/>
                  </a:lnTo>
                  <a:cubicBezTo>
                    <a:pt x="239663" y="248412"/>
                    <a:pt x="265664" y="222543"/>
                    <a:pt x="297600" y="222543"/>
                  </a:cubicBezTo>
                  <a:close/>
                  <a:moveTo>
                    <a:pt x="492495" y="40775"/>
                  </a:moveTo>
                  <a:cubicBezTo>
                    <a:pt x="488350" y="40775"/>
                    <a:pt x="487596" y="41528"/>
                    <a:pt x="487502" y="45854"/>
                  </a:cubicBezTo>
                  <a:lnTo>
                    <a:pt x="487502" y="51498"/>
                  </a:lnTo>
                  <a:cubicBezTo>
                    <a:pt x="487502" y="57142"/>
                    <a:pt x="487502" y="56953"/>
                    <a:pt x="482038" y="59023"/>
                  </a:cubicBezTo>
                  <a:cubicBezTo>
                    <a:pt x="469036" y="63726"/>
                    <a:pt x="460934" y="72661"/>
                    <a:pt x="460086" y="86864"/>
                  </a:cubicBezTo>
                  <a:cubicBezTo>
                    <a:pt x="459332" y="99374"/>
                    <a:pt x="465833" y="107934"/>
                    <a:pt x="476196" y="114048"/>
                  </a:cubicBezTo>
                  <a:cubicBezTo>
                    <a:pt x="482414" y="117810"/>
                    <a:pt x="489480" y="120068"/>
                    <a:pt x="496264" y="123078"/>
                  </a:cubicBezTo>
                  <a:cubicBezTo>
                    <a:pt x="498902" y="124206"/>
                    <a:pt x="501445" y="125617"/>
                    <a:pt x="503706" y="127310"/>
                  </a:cubicBezTo>
                  <a:cubicBezTo>
                    <a:pt x="510207" y="132578"/>
                    <a:pt x="508982" y="141513"/>
                    <a:pt x="501257" y="144900"/>
                  </a:cubicBezTo>
                  <a:cubicBezTo>
                    <a:pt x="497112" y="146781"/>
                    <a:pt x="492778" y="147157"/>
                    <a:pt x="488350" y="146687"/>
                  </a:cubicBezTo>
                  <a:cubicBezTo>
                    <a:pt x="481472" y="145746"/>
                    <a:pt x="474783" y="144053"/>
                    <a:pt x="468659" y="140761"/>
                  </a:cubicBezTo>
                  <a:cubicBezTo>
                    <a:pt x="464985" y="138880"/>
                    <a:pt x="463949" y="139350"/>
                    <a:pt x="462724" y="143301"/>
                  </a:cubicBezTo>
                  <a:cubicBezTo>
                    <a:pt x="461593" y="146687"/>
                    <a:pt x="460557" y="150167"/>
                    <a:pt x="459709" y="153553"/>
                  </a:cubicBezTo>
                  <a:cubicBezTo>
                    <a:pt x="458484" y="158162"/>
                    <a:pt x="458861" y="159291"/>
                    <a:pt x="463572" y="161548"/>
                  </a:cubicBezTo>
                  <a:cubicBezTo>
                    <a:pt x="469130" y="164370"/>
                    <a:pt x="475160" y="165687"/>
                    <a:pt x="481284" y="166722"/>
                  </a:cubicBezTo>
                  <a:cubicBezTo>
                    <a:pt x="486089" y="167474"/>
                    <a:pt x="486371" y="167568"/>
                    <a:pt x="486371" y="172647"/>
                  </a:cubicBezTo>
                  <a:lnTo>
                    <a:pt x="486371" y="179420"/>
                  </a:lnTo>
                  <a:cubicBezTo>
                    <a:pt x="486371" y="182147"/>
                    <a:pt x="487690" y="183934"/>
                    <a:pt x="490611" y="183934"/>
                  </a:cubicBezTo>
                  <a:cubicBezTo>
                    <a:pt x="493908" y="184029"/>
                    <a:pt x="497300" y="184029"/>
                    <a:pt x="500503" y="183934"/>
                  </a:cubicBezTo>
                  <a:cubicBezTo>
                    <a:pt x="503330" y="183934"/>
                    <a:pt x="504649" y="182430"/>
                    <a:pt x="504649" y="179608"/>
                  </a:cubicBezTo>
                  <a:cubicBezTo>
                    <a:pt x="504649" y="176504"/>
                    <a:pt x="504837" y="173494"/>
                    <a:pt x="504649" y="170390"/>
                  </a:cubicBezTo>
                  <a:cubicBezTo>
                    <a:pt x="504554" y="167192"/>
                    <a:pt x="505968" y="165687"/>
                    <a:pt x="508982" y="164840"/>
                  </a:cubicBezTo>
                  <a:cubicBezTo>
                    <a:pt x="515860" y="162959"/>
                    <a:pt x="521889" y="159197"/>
                    <a:pt x="526412" y="153647"/>
                  </a:cubicBezTo>
                  <a:cubicBezTo>
                    <a:pt x="538942" y="138221"/>
                    <a:pt x="534231" y="115835"/>
                    <a:pt x="516237" y="105865"/>
                  </a:cubicBezTo>
                  <a:cubicBezTo>
                    <a:pt x="510584" y="102761"/>
                    <a:pt x="504554" y="100503"/>
                    <a:pt x="498619" y="97964"/>
                  </a:cubicBezTo>
                  <a:cubicBezTo>
                    <a:pt x="495227" y="96647"/>
                    <a:pt x="492024" y="94860"/>
                    <a:pt x="489104" y="92602"/>
                  </a:cubicBezTo>
                  <a:cubicBezTo>
                    <a:pt x="483451" y="88087"/>
                    <a:pt x="484581" y="80657"/>
                    <a:pt x="491270" y="77835"/>
                  </a:cubicBezTo>
                  <a:cubicBezTo>
                    <a:pt x="493155" y="76894"/>
                    <a:pt x="495133" y="76706"/>
                    <a:pt x="497112" y="76518"/>
                  </a:cubicBezTo>
                  <a:cubicBezTo>
                    <a:pt x="504931" y="76142"/>
                    <a:pt x="512186" y="77553"/>
                    <a:pt x="519252" y="80939"/>
                  </a:cubicBezTo>
                  <a:cubicBezTo>
                    <a:pt x="522643" y="82538"/>
                    <a:pt x="523868" y="82067"/>
                    <a:pt x="524998" y="78399"/>
                  </a:cubicBezTo>
                  <a:cubicBezTo>
                    <a:pt x="526317" y="74543"/>
                    <a:pt x="527260" y="70686"/>
                    <a:pt x="528390" y="66736"/>
                  </a:cubicBezTo>
                  <a:cubicBezTo>
                    <a:pt x="529144" y="64102"/>
                    <a:pt x="528296" y="62503"/>
                    <a:pt x="525752" y="61374"/>
                  </a:cubicBezTo>
                  <a:cubicBezTo>
                    <a:pt x="521230" y="59399"/>
                    <a:pt x="516708" y="57988"/>
                    <a:pt x="511809" y="57236"/>
                  </a:cubicBezTo>
                  <a:cubicBezTo>
                    <a:pt x="505402" y="56201"/>
                    <a:pt x="505402" y="56201"/>
                    <a:pt x="505402" y="49805"/>
                  </a:cubicBezTo>
                  <a:cubicBezTo>
                    <a:pt x="505402" y="40775"/>
                    <a:pt x="505402" y="40775"/>
                    <a:pt x="496358" y="40775"/>
                  </a:cubicBezTo>
                  <a:close/>
                  <a:moveTo>
                    <a:pt x="496111" y="0"/>
                  </a:moveTo>
                  <a:cubicBezTo>
                    <a:pt x="524951" y="0"/>
                    <a:pt x="553781" y="10958"/>
                    <a:pt x="575779" y="32874"/>
                  </a:cubicBezTo>
                  <a:cubicBezTo>
                    <a:pt x="619776" y="76894"/>
                    <a:pt x="619776" y="148192"/>
                    <a:pt x="575779" y="192024"/>
                  </a:cubicBezTo>
                  <a:cubicBezTo>
                    <a:pt x="538754" y="229083"/>
                    <a:pt x="482226" y="234821"/>
                    <a:pt x="438982" y="209519"/>
                  </a:cubicBezTo>
                  <a:lnTo>
                    <a:pt x="438700" y="209237"/>
                  </a:lnTo>
                  <a:cubicBezTo>
                    <a:pt x="421742" y="222029"/>
                    <a:pt x="403559" y="224286"/>
                    <a:pt x="390840" y="222311"/>
                  </a:cubicBezTo>
                  <a:cubicBezTo>
                    <a:pt x="386600" y="221653"/>
                    <a:pt x="385752" y="215915"/>
                    <a:pt x="389615" y="214034"/>
                  </a:cubicBezTo>
                  <a:cubicBezTo>
                    <a:pt x="401297" y="208202"/>
                    <a:pt x="408552" y="196915"/>
                    <a:pt x="412886" y="187791"/>
                  </a:cubicBezTo>
                  <a:lnTo>
                    <a:pt x="411567" y="187038"/>
                  </a:lnTo>
                  <a:cubicBezTo>
                    <a:pt x="372374" y="142736"/>
                    <a:pt x="374070" y="75201"/>
                    <a:pt x="416371" y="32874"/>
                  </a:cubicBezTo>
                  <a:cubicBezTo>
                    <a:pt x="438417" y="10958"/>
                    <a:pt x="467270" y="0"/>
                    <a:pt x="496111"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多对一模型</a:t>
            </a:r>
          </a:p>
        </p:txBody>
      </p:sp>
      <p:sp>
        <p:nvSpPr>
          <p:cNvPr id="29" name="iśḷíḑe"/>
          <p:cNvSpPr/>
          <p:nvPr/>
        </p:nvSpPr>
        <p:spPr>
          <a:xfrm>
            <a:off x="829723" y="1148664"/>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31" name="ïś1ïḑè"/>
          <p:cNvSpPr/>
          <p:nvPr/>
        </p:nvSpPr>
        <p:spPr>
          <a:xfrm>
            <a:off x="829723" y="2087689"/>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32" name="iśḷíḑe"/>
          <p:cNvSpPr/>
          <p:nvPr/>
        </p:nvSpPr>
        <p:spPr>
          <a:xfrm>
            <a:off x="829723" y="3024315"/>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34" name="ïś1ïḑè"/>
          <p:cNvSpPr/>
          <p:nvPr/>
        </p:nvSpPr>
        <p:spPr>
          <a:xfrm>
            <a:off x="829723" y="4037391"/>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36" name="内容占位符 2"/>
          <p:cNvSpPr txBox="1"/>
          <p:nvPr/>
        </p:nvSpPr>
        <p:spPr>
          <a:xfrm>
            <a:off x="1779899" y="1184211"/>
            <a:ext cx="5168423"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FF0000"/>
                </a:solidFill>
              </a:rPr>
              <a:t>多个用户级线程映射到一个内核线程。</a:t>
            </a:r>
          </a:p>
        </p:txBody>
      </p:sp>
      <p:sp>
        <p:nvSpPr>
          <p:cNvPr id="38" name="内容占位符 2"/>
          <p:cNvSpPr txBox="1"/>
          <p:nvPr/>
        </p:nvSpPr>
        <p:spPr>
          <a:xfrm>
            <a:off x="1779898" y="2220925"/>
            <a:ext cx="5788426"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多个线程不能并行运行在多个处理器上。</a:t>
            </a:r>
          </a:p>
        </p:txBody>
      </p:sp>
      <p:sp>
        <p:nvSpPr>
          <p:cNvPr id="39" name="内容占位符 2"/>
          <p:cNvSpPr txBox="1"/>
          <p:nvPr/>
        </p:nvSpPr>
        <p:spPr>
          <a:xfrm>
            <a:off x="1779899" y="3004590"/>
            <a:ext cx="8819780"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zh-CN" altLang="en-US" sz="2400" dirty="0"/>
              <a:t>线程管理在用户态执行，因此是高效的，但一个线程的阻塞系统调用会导致整个进程的阻塞 。</a:t>
            </a:r>
          </a:p>
        </p:txBody>
      </p:sp>
      <p:sp>
        <p:nvSpPr>
          <p:cNvPr id="40" name="内容占位符 2"/>
          <p:cNvSpPr txBox="1"/>
          <p:nvPr/>
        </p:nvSpPr>
        <p:spPr>
          <a:xfrm>
            <a:off x="1779898" y="4194941"/>
            <a:ext cx="4775631"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用于不支持内核线程的系统中。</a:t>
            </a:r>
          </a:p>
        </p:txBody>
      </p:sp>
      <p:sp>
        <p:nvSpPr>
          <p:cNvPr id="42" name="iśḷíḑe"/>
          <p:cNvSpPr/>
          <p:nvPr/>
        </p:nvSpPr>
        <p:spPr>
          <a:xfrm>
            <a:off x="829723" y="5021836"/>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05</a:t>
            </a:r>
            <a:endParaRPr lang="zh-CN" altLang="en-US" sz="2400" b="1" kern="0" dirty="0">
              <a:solidFill>
                <a:prstClr val="white"/>
              </a:solidFill>
            </a:endParaRPr>
          </a:p>
        </p:txBody>
      </p:sp>
      <p:sp>
        <p:nvSpPr>
          <p:cNvPr id="44" name="内容占位符 2"/>
          <p:cNvSpPr txBox="1"/>
          <p:nvPr/>
        </p:nvSpPr>
        <p:spPr>
          <a:xfrm>
            <a:off x="1779899" y="5190611"/>
            <a:ext cx="2290026"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例子</a:t>
            </a:r>
            <a:r>
              <a:rPr lang="en-US" altLang="zh-CN" sz="2400" dirty="0"/>
              <a:t>:</a:t>
            </a:r>
          </a:p>
        </p:txBody>
      </p:sp>
      <p:sp>
        <p:nvSpPr>
          <p:cNvPr id="46" name="内容占位符 2"/>
          <p:cNvSpPr txBox="1"/>
          <p:nvPr/>
        </p:nvSpPr>
        <p:spPr>
          <a:xfrm>
            <a:off x="2832731" y="5050467"/>
            <a:ext cx="4775631" cy="10151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en-US" altLang="zh-CN" sz="2200" dirty="0"/>
              <a:t>Solaris Green Threads</a:t>
            </a:r>
          </a:p>
          <a:p>
            <a:pPr marL="0" lvl="1" indent="0">
              <a:lnSpc>
                <a:spcPct val="132000"/>
              </a:lnSpc>
              <a:buClr>
                <a:srgbClr val="0000FF"/>
              </a:buClr>
              <a:buFont typeface="Wingdings" panose="05000000000000000000" pitchFamily="2" charset="2"/>
              <a:buChar char="Ø"/>
            </a:pPr>
            <a:r>
              <a:rPr lang="en-US" altLang="zh-CN" sz="2200" dirty="0"/>
              <a:t>GNU Portable Threads</a:t>
            </a:r>
          </a:p>
        </p:txBody>
      </p:sp>
      <p:pic>
        <p:nvPicPr>
          <p:cNvPr id="4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l="12682" t="1207" r="12682" b="1208"/>
          <a:stretch>
            <a:fillRect/>
          </a:stretch>
        </p:blipFill>
        <p:spPr bwMode="auto">
          <a:xfrm>
            <a:off x="7475479" y="3676385"/>
            <a:ext cx="3124200" cy="2298700"/>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一对一模型</a:t>
            </a:r>
          </a:p>
        </p:txBody>
      </p:sp>
      <p:sp>
        <p:nvSpPr>
          <p:cNvPr id="29" name="iśḷíḑe"/>
          <p:cNvSpPr/>
          <p:nvPr/>
        </p:nvSpPr>
        <p:spPr>
          <a:xfrm>
            <a:off x="829723" y="1148664"/>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31" name="ïś1ïḑè"/>
          <p:cNvSpPr/>
          <p:nvPr/>
        </p:nvSpPr>
        <p:spPr>
          <a:xfrm>
            <a:off x="829723" y="2087689"/>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32" name="iśḷíḑe"/>
          <p:cNvSpPr/>
          <p:nvPr/>
        </p:nvSpPr>
        <p:spPr>
          <a:xfrm>
            <a:off x="829723" y="3024315"/>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34" name="ïś1ïḑè"/>
          <p:cNvSpPr/>
          <p:nvPr/>
        </p:nvSpPr>
        <p:spPr>
          <a:xfrm>
            <a:off x="829723" y="4037391"/>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36" name="内容占位符 2"/>
          <p:cNvSpPr txBox="1"/>
          <p:nvPr/>
        </p:nvSpPr>
        <p:spPr>
          <a:xfrm>
            <a:off x="1779899" y="1184211"/>
            <a:ext cx="5168423"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FF0000"/>
                </a:solidFill>
              </a:rPr>
              <a:t>每个用户级线程映射到一个内核线程。</a:t>
            </a:r>
          </a:p>
        </p:txBody>
      </p:sp>
      <p:sp>
        <p:nvSpPr>
          <p:cNvPr id="38" name="内容占位符 2"/>
          <p:cNvSpPr txBox="1"/>
          <p:nvPr/>
        </p:nvSpPr>
        <p:spPr>
          <a:xfrm>
            <a:off x="1779898" y="2220925"/>
            <a:ext cx="5788426"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比多对一模型有更好的并发性。</a:t>
            </a:r>
          </a:p>
        </p:txBody>
      </p:sp>
      <p:sp>
        <p:nvSpPr>
          <p:cNvPr id="39" name="内容占位符 2"/>
          <p:cNvSpPr txBox="1"/>
          <p:nvPr/>
        </p:nvSpPr>
        <p:spPr>
          <a:xfrm>
            <a:off x="1779899" y="3155511"/>
            <a:ext cx="8819780"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zh-CN" altLang="en-US" sz="2400" dirty="0"/>
              <a:t>允许多个线程并行运行在多个处理器上。</a:t>
            </a:r>
          </a:p>
        </p:txBody>
      </p:sp>
      <p:sp>
        <p:nvSpPr>
          <p:cNvPr id="40" name="内容占位符 2"/>
          <p:cNvSpPr txBox="1"/>
          <p:nvPr/>
        </p:nvSpPr>
        <p:spPr>
          <a:xfrm>
            <a:off x="1779898" y="4194941"/>
            <a:ext cx="6236638"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创建一个</a:t>
            </a:r>
            <a:r>
              <a:rPr lang="en-US" altLang="zh-CN" sz="2400" dirty="0"/>
              <a:t>ULT</a:t>
            </a:r>
            <a:r>
              <a:rPr lang="zh-CN" altLang="en-US" sz="2400" dirty="0"/>
              <a:t>需要创建一个</a:t>
            </a:r>
            <a:r>
              <a:rPr lang="en-US" altLang="zh-CN" sz="2400" dirty="0"/>
              <a:t>KLT</a:t>
            </a:r>
            <a:r>
              <a:rPr lang="zh-CN" altLang="en-US" sz="2400" dirty="0"/>
              <a:t>，效率较差。</a:t>
            </a:r>
          </a:p>
        </p:txBody>
      </p:sp>
      <p:sp>
        <p:nvSpPr>
          <p:cNvPr id="42" name="iśḷíḑe"/>
          <p:cNvSpPr/>
          <p:nvPr/>
        </p:nvSpPr>
        <p:spPr>
          <a:xfrm>
            <a:off x="829723" y="5021836"/>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05</a:t>
            </a:r>
            <a:endParaRPr lang="zh-CN" altLang="en-US" sz="2400" b="1" kern="0" dirty="0">
              <a:solidFill>
                <a:prstClr val="white"/>
              </a:solidFill>
            </a:endParaRPr>
          </a:p>
        </p:txBody>
      </p:sp>
      <p:sp>
        <p:nvSpPr>
          <p:cNvPr id="44" name="内容占位符 2"/>
          <p:cNvSpPr txBox="1"/>
          <p:nvPr/>
        </p:nvSpPr>
        <p:spPr>
          <a:xfrm>
            <a:off x="1779899" y="5190611"/>
            <a:ext cx="2290026"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例子：</a:t>
            </a:r>
          </a:p>
        </p:txBody>
      </p:sp>
      <p:sp>
        <p:nvSpPr>
          <p:cNvPr id="46" name="内容占位符 2"/>
          <p:cNvSpPr txBox="1"/>
          <p:nvPr/>
        </p:nvSpPr>
        <p:spPr>
          <a:xfrm>
            <a:off x="2832731" y="5050467"/>
            <a:ext cx="4775631" cy="10151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en-US" altLang="zh-CN" sz="2200" dirty="0"/>
              <a:t>Windows 95/98/NT/XP/2000</a:t>
            </a:r>
          </a:p>
          <a:p>
            <a:pPr marL="0" lvl="1" indent="0">
              <a:lnSpc>
                <a:spcPct val="132000"/>
              </a:lnSpc>
              <a:buClr>
                <a:srgbClr val="0000FF"/>
              </a:buClr>
              <a:buFont typeface="Wingdings" panose="05000000000000000000" pitchFamily="2" charset="2"/>
              <a:buChar char="Ø"/>
            </a:pPr>
            <a:r>
              <a:rPr lang="en-US" altLang="zh-CN" sz="2200" dirty="0"/>
              <a:t>Linux</a:t>
            </a:r>
          </a:p>
        </p:txBody>
      </p:sp>
      <p:pic>
        <p:nvPicPr>
          <p:cNvPr id="15" name="Picture 7"/>
          <p:cNvPicPr>
            <a:picLocks noChangeAspect="1" noChangeArrowheads="1"/>
          </p:cNvPicPr>
          <p:nvPr/>
        </p:nvPicPr>
        <p:blipFill>
          <a:blip r:embed="rId2">
            <a:extLst>
              <a:ext uri="{28A0092B-C50C-407E-A947-70E740481C1C}">
                <a14:useLocalDpi xmlns:a14="http://schemas.microsoft.com/office/drawing/2010/main" val="0"/>
              </a:ext>
            </a:extLst>
          </a:blip>
          <a:srcRect l="360" t="25420" r="540" b="25180"/>
          <a:stretch>
            <a:fillRect/>
          </a:stretch>
        </p:blipFill>
        <p:spPr bwMode="auto">
          <a:xfrm>
            <a:off x="7324494" y="1415567"/>
            <a:ext cx="4321175" cy="1671638"/>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内容占位符 2"/>
          <p:cNvSpPr txBox="1"/>
          <p:nvPr/>
        </p:nvSpPr>
        <p:spPr>
          <a:xfrm>
            <a:off x="7355676" y="5114484"/>
            <a:ext cx="4775631" cy="10151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en-US" altLang="zh-CN" sz="2200" dirty="0"/>
              <a:t>Solaris 9 and later</a:t>
            </a:r>
          </a:p>
          <a:p>
            <a:pPr marL="0" lvl="1" indent="0">
              <a:lnSpc>
                <a:spcPct val="132000"/>
              </a:lnSpc>
              <a:buClr>
                <a:srgbClr val="0000FF"/>
              </a:buClr>
              <a:buFont typeface="Wingdings" panose="05000000000000000000" pitchFamily="2" charset="2"/>
              <a:buChar char="Ø"/>
            </a:pPr>
            <a:r>
              <a:rPr lang="en-US" altLang="zh-CN" sz="2200" dirty="0"/>
              <a:t>OS/2</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多对多模型</a:t>
            </a:r>
          </a:p>
        </p:txBody>
      </p:sp>
      <p:sp>
        <p:nvSpPr>
          <p:cNvPr id="221" name="i$lîďê"/>
          <p:cNvSpPr/>
          <p:nvPr/>
        </p:nvSpPr>
        <p:spPr>
          <a:xfrm>
            <a:off x="1802479" y="2342652"/>
            <a:ext cx="7279377" cy="392877"/>
          </a:xfrm>
          <a:prstGeom prst="rect">
            <a:avLst/>
          </a:prstGeom>
          <a:noFill/>
          <a:ln>
            <a:noFill/>
          </a:ln>
        </p:spPr>
        <p:txBody>
          <a:bodyPr wrap="square" lIns="91440" tIns="45720" rIns="91440" bIns="45720" anchor="ctr" anchorCtr="0">
            <a:noAutofit/>
          </a:bodyPr>
          <a:lstStyle/>
          <a:p>
            <a:r>
              <a:rPr lang="zh-CN" altLang="en-US" sz="2400" dirty="0"/>
              <a:t>允许操作系统创建足够多的</a:t>
            </a:r>
            <a:r>
              <a:rPr lang="en-US" altLang="zh-CN" sz="2400" dirty="0"/>
              <a:t>KLT</a:t>
            </a:r>
            <a:r>
              <a:rPr lang="zh-CN" altLang="en-US" sz="2400" dirty="0"/>
              <a:t>。</a:t>
            </a:r>
          </a:p>
        </p:txBody>
      </p:sp>
      <p:sp>
        <p:nvSpPr>
          <p:cNvPr id="222" name="î$ļíḋè"/>
          <p:cNvSpPr/>
          <p:nvPr/>
        </p:nvSpPr>
        <p:spPr>
          <a:xfrm>
            <a:off x="1802481" y="3731635"/>
            <a:ext cx="3506366" cy="176480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t>Solaris 9 </a:t>
            </a:r>
            <a:r>
              <a:rPr lang="zh-CN" altLang="en-US" sz="2200" dirty="0"/>
              <a:t>以前的版本；</a:t>
            </a:r>
          </a:p>
          <a:p>
            <a:pPr marL="342900" indent="-342900">
              <a:lnSpc>
                <a:spcPct val="120000"/>
              </a:lnSpc>
              <a:buClr>
                <a:srgbClr val="FF0000"/>
              </a:buClr>
              <a:buFont typeface="Wingdings" panose="05000000000000000000" pitchFamily="2" charset="2"/>
              <a:buChar char="Ø"/>
            </a:pPr>
            <a:r>
              <a:rPr lang="zh-CN" altLang="en-US" sz="2200" dirty="0"/>
              <a:t>带有</a:t>
            </a:r>
            <a:r>
              <a:rPr lang="en-US" altLang="zh-CN" sz="2200" dirty="0" err="1"/>
              <a:t>ThreadFiber</a:t>
            </a:r>
            <a:r>
              <a:rPr lang="zh-CN" altLang="en-US" sz="2200" dirty="0"/>
              <a:t>开发包的</a:t>
            </a:r>
            <a:r>
              <a:rPr lang="en-US" altLang="zh-CN" sz="2200" dirty="0"/>
              <a:t>Windows NT/2000 </a:t>
            </a:r>
            <a:r>
              <a:rPr lang="zh-CN" altLang="en-US" sz="2200" dirty="0"/>
              <a:t>。</a:t>
            </a:r>
          </a:p>
        </p:txBody>
      </p:sp>
      <p:sp>
        <p:nvSpPr>
          <p:cNvPr id="223" name="ïṧḷïḋè"/>
          <p:cNvSpPr/>
          <p:nvPr/>
        </p:nvSpPr>
        <p:spPr>
          <a:xfrm>
            <a:off x="1802481" y="3218860"/>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例子：</a:t>
            </a:r>
          </a:p>
        </p:txBody>
      </p:sp>
      <p:sp>
        <p:nvSpPr>
          <p:cNvPr id="225" name="íšḻíḑê"/>
          <p:cNvSpPr/>
          <p:nvPr/>
        </p:nvSpPr>
        <p:spPr>
          <a:xfrm>
            <a:off x="1802480" y="1361556"/>
            <a:ext cx="8957256"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多个用户级线程映射为相等或小于数目的内核线程。</a:t>
            </a:r>
          </a:p>
        </p:txBody>
      </p:sp>
      <p:sp>
        <p:nvSpPr>
          <p:cNvPr id="226"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7" name="íṥḻîḓe"/>
          <p:cNvSpPr/>
          <p:nvPr/>
        </p:nvSpPr>
        <p:spPr>
          <a:xfrm>
            <a:off x="1118977" y="313625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8" name="îşļiḓè"/>
          <p:cNvSpPr/>
          <p:nvPr/>
        </p:nvSpPr>
        <p:spPr>
          <a:xfrm>
            <a:off x="1118977" y="224212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9"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230" name="íSlíḋe"/>
          <p:cNvSpPr/>
          <p:nvPr/>
        </p:nvSpPr>
        <p:spPr>
          <a:xfrm>
            <a:off x="1309231" y="2464143"/>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231" name="ïśḷïḓe"/>
          <p:cNvSpPr/>
          <p:nvPr/>
        </p:nvSpPr>
        <p:spPr>
          <a:xfrm>
            <a:off x="1338170" y="3325718"/>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pic>
        <p:nvPicPr>
          <p:cNvPr id="23"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l="6703" t="838" r="6912" b="838"/>
          <a:stretch>
            <a:fillRect/>
          </a:stretch>
        </p:blipFill>
        <p:spPr bwMode="auto">
          <a:xfrm>
            <a:off x="7016072" y="3325718"/>
            <a:ext cx="3606800" cy="2249805"/>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79525" y="2336800"/>
            <a:ext cx="9227820" cy="2306955"/>
          </a:xfrm>
          <a:prstGeom prst="rect">
            <a:avLst/>
          </a:prstGeom>
        </p:spPr>
        <p:txBody>
          <a:bodyPr wrap="square">
            <a:spAutoFit/>
          </a:bodyPr>
          <a:lstStyle/>
          <a:p>
            <a:pPr marL="266700" indent="-266700" algn="just" defTabSz="266700">
              <a:spcBef>
                <a:spcPct val="0"/>
              </a:spcBef>
              <a:spcAft>
                <a:spcPct val="0"/>
              </a:spcAft>
            </a:pPr>
            <a:r>
              <a:rPr lang="en-US" altLang="zh-CN" sz="2400" b="1">
                <a:latin typeface="宋体" panose="02010600030101010101" pitchFamily="2" charset="-122"/>
                <a:ea typeface="宋体" panose="02010600030101010101" pitchFamily="2" charset="-122"/>
              </a:rPr>
              <a:t>1. </a:t>
            </a:r>
            <a:r>
              <a:rPr lang="zh-CN" altLang="en-US" sz="2400" b="1">
                <a:latin typeface="宋体" panose="02010600030101010101" pitchFamily="2" charset="-122"/>
                <a:ea typeface="宋体" panose="02010600030101010101" pitchFamily="2" charset="-122"/>
              </a:rPr>
              <a:t>在支持多线程的系统中，进程</a:t>
            </a:r>
            <a:r>
              <a:rPr lang="en-US" altLang="zh-CN" sz="2400" b="1">
                <a:latin typeface="宋体" panose="02010600030101010101" pitchFamily="2" charset="-122"/>
                <a:ea typeface="宋体" panose="02010600030101010101" pitchFamily="2" charset="-122"/>
              </a:rPr>
              <a:t>P</a:t>
            </a:r>
            <a:r>
              <a:rPr lang="zh-CN" altLang="en-US" sz="2400" b="1">
                <a:latin typeface="宋体" panose="02010600030101010101" pitchFamily="2" charset="-122"/>
                <a:ea typeface="宋体" panose="02010600030101010101" pitchFamily="2" charset="-122"/>
              </a:rPr>
              <a:t>创建的若干线程不能共享的是</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2011</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A.</a:t>
            </a:r>
            <a:r>
              <a:rPr lang="zh-CN" altLang="en-US" sz="2400" b="1">
                <a:latin typeface="宋体" panose="02010600030101010101" pitchFamily="2" charset="-122"/>
                <a:ea typeface="宋体" panose="02010600030101010101" pitchFamily="2" charset="-122"/>
              </a:rPr>
              <a:t>进程</a:t>
            </a:r>
            <a:r>
              <a:rPr lang="en-US" altLang="zh-CN" sz="2400" b="1">
                <a:latin typeface="宋体" panose="02010600030101010101" pitchFamily="2" charset="-122"/>
                <a:ea typeface="宋体" panose="02010600030101010101" pitchFamily="2" charset="-122"/>
              </a:rPr>
              <a:t>P</a:t>
            </a:r>
            <a:r>
              <a:rPr lang="zh-CN" altLang="en-US" sz="2400" b="1">
                <a:latin typeface="宋体" panose="02010600030101010101" pitchFamily="2" charset="-122"/>
                <a:ea typeface="宋体" panose="02010600030101010101" pitchFamily="2" charset="-122"/>
              </a:rPr>
              <a:t>的代码段</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B.</a:t>
            </a:r>
            <a:r>
              <a:rPr lang="zh-CN" altLang="en-US" sz="2400" b="1">
                <a:latin typeface="宋体" panose="02010600030101010101" pitchFamily="2" charset="-122"/>
                <a:ea typeface="宋体" panose="02010600030101010101" pitchFamily="2" charset="-122"/>
              </a:rPr>
              <a:t>进程</a:t>
            </a:r>
            <a:r>
              <a:rPr lang="en-US" altLang="zh-CN" sz="2400" b="1">
                <a:latin typeface="宋体" panose="02010600030101010101" pitchFamily="2" charset="-122"/>
                <a:ea typeface="宋体" panose="02010600030101010101" pitchFamily="2" charset="-122"/>
              </a:rPr>
              <a:t>P</a:t>
            </a:r>
            <a:r>
              <a:rPr lang="zh-CN" altLang="en-US" sz="2400" b="1">
                <a:latin typeface="宋体" panose="02010600030101010101" pitchFamily="2" charset="-122"/>
                <a:ea typeface="宋体" panose="02010600030101010101" pitchFamily="2" charset="-122"/>
              </a:rPr>
              <a:t>中打开的文件</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C.</a:t>
            </a:r>
            <a:r>
              <a:rPr lang="zh-CN" altLang="en-US" sz="2400" b="1">
                <a:latin typeface="宋体" panose="02010600030101010101" pitchFamily="2" charset="-122"/>
                <a:ea typeface="宋体" panose="02010600030101010101" pitchFamily="2" charset="-122"/>
              </a:rPr>
              <a:t>进程</a:t>
            </a:r>
            <a:r>
              <a:rPr lang="en-US" altLang="zh-CN" sz="2400" b="1">
                <a:latin typeface="宋体" panose="02010600030101010101" pitchFamily="2" charset="-122"/>
                <a:ea typeface="宋体" panose="02010600030101010101" pitchFamily="2" charset="-122"/>
              </a:rPr>
              <a:t>P</a:t>
            </a:r>
            <a:r>
              <a:rPr lang="zh-CN" altLang="en-US" sz="2400" b="1">
                <a:latin typeface="宋体" panose="02010600030101010101" pitchFamily="2" charset="-122"/>
                <a:ea typeface="宋体" panose="02010600030101010101" pitchFamily="2" charset="-122"/>
              </a:rPr>
              <a:t>的全局变量</a:t>
            </a:r>
          </a:p>
          <a:p>
            <a:pPr marL="0" indent="0" algn="just" defTabSz="266700">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rPr>
              <a:t>D.</a:t>
            </a:r>
            <a:r>
              <a:rPr lang="zh-CN" altLang="en-US" sz="2400" b="1">
                <a:latin typeface="宋体" panose="02010600030101010101" pitchFamily="2" charset="-122"/>
                <a:ea typeface="宋体" panose="02010600030101010101" pitchFamily="2" charset="-122"/>
              </a:rPr>
              <a:t>进程</a:t>
            </a:r>
            <a:r>
              <a:rPr lang="en-US" altLang="zh-CN" sz="2400" b="1">
                <a:latin typeface="宋体" panose="02010600030101010101" pitchFamily="2" charset="-122"/>
                <a:ea typeface="宋体" panose="02010600030101010101" pitchFamily="2" charset="-122"/>
              </a:rPr>
              <a:t>P</a:t>
            </a:r>
            <a:r>
              <a:rPr lang="zh-CN" altLang="en-US" sz="2400" b="1">
                <a:latin typeface="宋体" panose="02010600030101010101" pitchFamily="2" charset="-122"/>
                <a:ea typeface="宋体" panose="02010600030101010101" pitchFamily="2" charset="-122"/>
              </a:rPr>
              <a:t>中某线程的栈指针</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43305" y="1844675"/>
            <a:ext cx="9548495" cy="1938020"/>
          </a:xfrm>
          <a:prstGeom prst="rect">
            <a:avLst/>
          </a:prstGeom>
        </p:spPr>
        <p:txBody>
          <a:bodyPr wrap="square">
            <a:spAutoFit/>
          </a:bodyPr>
          <a:lstStyle/>
          <a:p>
            <a:pPr marL="266700" indent="-266700" algn="just" defTabSz="266700">
              <a:spcBef>
                <a:spcPct val="0"/>
              </a:spcBef>
              <a:spcAft>
                <a:spcPct val="0"/>
              </a:spcAft>
            </a:pPr>
            <a:r>
              <a:rPr lang="en-US" altLang="zh-CN" sz="2400" b="1">
                <a:latin typeface="宋体" panose="02010600030101010101" pitchFamily="2" charset="-122"/>
                <a:ea typeface="宋体" panose="02010600030101010101" pitchFamily="2" charset="-122"/>
              </a:rPr>
              <a:t>1. </a:t>
            </a:r>
            <a:r>
              <a:rPr lang="zh-CN" altLang="en-US" sz="2400" b="1">
                <a:latin typeface="宋体" panose="02010600030101010101" pitchFamily="2" charset="-122"/>
                <a:ea typeface="宋体" panose="02010600030101010101" pitchFamily="2" charset="-122"/>
              </a:rPr>
              <a:t>下列关于进程和线程的叙述中，正确的是</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2012</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A.</a:t>
            </a:r>
            <a:r>
              <a:rPr lang="zh-CN" altLang="en-US" sz="2400" b="1">
                <a:latin typeface="宋体" panose="02010600030101010101" pitchFamily="2" charset="-122"/>
                <a:ea typeface="宋体" panose="02010600030101010101" pitchFamily="2" charset="-122"/>
              </a:rPr>
              <a:t>不管系统是否支持线程，进程都是资源分配的基本单位</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B.</a:t>
            </a:r>
            <a:r>
              <a:rPr lang="zh-CN" altLang="en-US" sz="2400" b="1">
                <a:latin typeface="宋体" panose="02010600030101010101" pitchFamily="2" charset="-122"/>
                <a:ea typeface="宋体" panose="02010600030101010101" pitchFamily="2" charset="-122"/>
              </a:rPr>
              <a:t>线程是资源分配的基本单位，进程是调度的基本单位</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C.</a:t>
            </a:r>
            <a:r>
              <a:rPr lang="zh-CN" altLang="en-US" sz="2400" b="1">
                <a:latin typeface="宋体" panose="02010600030101010101" pitchFamily="2" charset="-122"/>
                <a:ea typeface="宋体" panose="02010600030101010101" pitchFamily="2" charset="-122"/>
              </a:rPr>
              <a:t>系统级线程和用户级线程的切换都需要内核的支持</a:t>
            </a:r>
          </a:p>
          <a:p>
            <a:pPr marL="0" indent="0" algn="just" defTabSz="266700">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rPr>
              <a:t>D.</a:t>
            </a:r>
            <a:r>
              <a:rPr lang="zh-CN" altLang="en-US" sz="2400" b="1">
                <a:latin typeface="宋体" panose="02010600030101010101" pitchFamily="2" charset="-122"/>
                <a:ea typeface="宋体" panose="02010600030101010101" pitchFamily="2" charset="-122"/>
              </a:rPr>
              <a:t>同一进程中的各个线程拥有各自不同的地址空间</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998345"/>
            <a:ext cx="9362440" cy="1938020"/>
          </a:xfrm>
          <a:prstGeom prst="rect">
            <a:avLst/>
          </a:prstGeom>
        </p:spPr>
        <p:txBody>
          <a:bodyPr wrap="square">
            <a:spAutoFit/>
          </a:bodyPr>
          <a:lstStyle/>
          <a:p>
            <a:pPr marL="266700" indent="-266700" algn="just" defTabSz="266700">
              <a:spcBef>
                <a:spcPct val="0"/>
              </a:spcBef>
              <a:spcAft>
                <a:spcPct val="0"/>
              </a:spcAft>
            </a:pPr>
            <a:r>
              <a:rPr lang="en-US" altLang="zh-CN" sz="2400" b="1">
                <a:latin typeface="宋体" panose="02010600030101010101" pitchFamily="2" charset="-122"/>
                <a:ea typeface="宋体" panose="02010600030101010101" pitchFamily="2" charset="-122"/>
              </a:rPr>
              <a:t>1. </a:t>
            </a:r>
            <a:r>
              <a:rPr lang="zh-CN" altLang="en-US" sz="2400" b="1">
                <a:latin typeface="宋体" panose="02010600030101010101" pitchFamily="2" charset="-122"/>
                <a:ea typeface="宋体" panose="02010600030101010101" pitchFamily="2" charset="-122"/>
              </a:rPr>
              <a:t>下列关于线程的叙述中，错误的（	</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2019</a:t>
            </a:r>
            <a:r>
              <a:rPr lang="zh-CN" altLang="en-US" sz="2400" b="1">
                <a:latin typeface="宋体" panose="02010600030101010101" pitchFamily="2" charset="-122"/>
                <a:ea typeface="宋体" panose="02010600030101010101" pitchFamily="2" charset="-122"/>
              </a:rPr>
              <a:t>年</a:t>
            </a:r>
            <a:r>
              <a:rPr lang="en-US" altLang="zh-CN" sz="2400">
                <a:latin typeface="宋体" panose="02010600030101010101" pitchFamily="2" charset="-122"/>
                <a:ea typeface="宋体" panose="02010600030101010101" pitchFamily="2" charset="-122"/>
              </a:rPr>
              <a:t>]</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A.</a:t>
            </a:r>
            <a:r>
              <a:rPr lang="zh-CN" altLang="en-US" sz="2400" b="1">
                <a:latin typeface="宋体" panose="02010600030101010101" pitchFamily="2" charset="-122"/>
                <a:ea typeface="宋体" panose="02010600030101010101" pitchFamily="2" charset="-122"/>
              </a:rPr>
              <a:t>内核级线程的调度由操作系统完成</a:t>
            </a:r>
          </a:p>
          <a:p>
            <a:pPr marL="0" indent="0" algn="just" defTabSz="266700">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rPr>
              <a:t>B</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操作系统为每个用户级线程建立一个线程控制块</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C.</a:t>
            </a:r>
            <a:r>
              <a:rPr lang="zh-CN" altLang="en-US" sz="2400" b="1">
                <a:latin typeface="宋体" panose="02010600030101010101" pitchFamily="2" charset="-122"/>
                <a:ea typeface="宋体" panose="02010600030101010101" pitchFamily="2" charset="-122"/>
              </a:rPr>
              <a:t>用户级线程间的切换比内核级线程间的切换效率高</a:t>
            </a:r>
          </a:p>
          <a:p>
            <a:pPr marL="0" indent="0" algn="just" defTabSz="266700">
              <a:spcBef>
                <a:spcPct val="0"/>
              </a:spcBef>
              <a:spcAft>
                <a:spcPct val="0"/>
              </a:spcAft>
            </a:pPr>
            <a:r>
              <a:rPr lang="en-US" altLang="zh-CN" sz="2400" b="1">
                <a:latin typeface="宋体" panose="02010600030101010101" pitchFamily="2" charset="-122"/>
                <a:ea typeface="宋体" panose="02010600030101010101" pitchFamily="2" charset="-122"/>
              </a:rPr>
              <a:t>D.</a:t>
            </a:r>
            <a:r>
              <a:rPr lang="zh-CN" altLang="en-US" sz="2400" b="1">
                <a:latin typeface="宋体" panose="02010600030101010101" pitchFamily="2" charset="-122"/>
                <a:ea typeface="宋体" panose="02010600030101010101" pitchFamily="2" charset="-122"/>
              </a:rPr>
              <a:t>用户级线程可以在不支持内核级线程的操作系统上实现</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0" name="矩形 19"/>
          <p:cNvSpPr/>
          <p:nvPr/>
        </p:nvSpPr>
        <p:spPr>
          <a:xfrm>
            <a:off x="771525" y="257830"/>
            <a:ext cx="4334841" cy="523220"/>
          </a:xfrm>
          <a:prstGeom prst="rect">
            <a:avLst/>
          </a:prstGeom>
        </p:spPr>
        <p:txBody>
          <a:bodyPr wrap="none">
            <a:spAutoFit/>
          </a:bodyPr>
          <a:lstStyle/>
          <a:p>
            <a:r>
              <a:rPr lang="zh-CN" altLang="en-US" sz="2800" b="1" dirty="0">
                <a:solidFill>
                  <a:schemeClr val="bg1"/>
                </a:solidFill>
              </a:rPr>
              <a:t>学而时习之（第</a:t>
            </a:r>
            <a:r>
              <a:rPr lang="en-US" altLang="zh-CN" sz="2800" b="1" dirty="0">
                <a:solidFill>
                  <a:schemeClr val="bg1"/>
                </a:solidFill>
              </a:rPr>
              <a:t>2</a:t>
            </a:r>
            <a:r>
              <a:rPr lang="zh-CN" altLang="en-US" sz="2800" b="1" dirty="0">
                <a:solidFill>
                  <a:schemeClr val="bg1"/>
                </a:solidFill>
              </a:rPr>
              <a:t>章总结）</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8" name="表格 7"/>
          <p:cNvGraphicFramePr/>
          <p:nvPr>
            <p:custDataLst>
              <p:tags r:id="rId1"/>
            </p:custDataLst>
          </p:nvPr>
        </p:nvGraphicFramePr>
        <p:xfrm>
          <a:off x="508000" y="1658960"/>
          <a:ext cx="3973848" cy="4754718"/>
        </p:xfrm>
        <a:graphic>
          <a:graphicData uri="http://schemas.openxmlformats.org/drawingml/2006/table">
            <a:tbl>
              <a:tblPr firstRow="1" bandRow="1">
                <a:tableStyleId>{72833802-FEF1-4C79-8D5D-14CF1EAF98D9}</a:tableStyleId>
              </a:tblPr>
              <a:tblGrid>
                <a:gridCol w="1162676">
                  <a:extLst>
                    <a:ext uri="{9D8B030D-6E8A-4147-A177-3AD203B41FA5}">
                      <a16:colId xmlns:a16="http://schemas.microsoft.com/office/drawing/2014/main" val="20000"/>
                    </a:ext>
                  </a:extLst>
                </a:gridCol>
                <a:gridCol w="2811172">
                  <a:extLst>
                    <a:ext uri="{9D8B030D-6E8A-4147-A177-3AD203B41FA5}">
                      <a16:colId xmlns:a16="http://schemas.microsoft.com/office/drawing/2014/main" val="20001"/>
                    </a:ext>
                  </a:extLst>
                </a:gridCol>
              </a:tblGrid>
              <a:tr h="479689">
                <a:tc>
                  <a:txBody>
                    <a:bodyPr/>
                    <a:lstStyle/>
                    <a:p>
                      <a:pPr indent="0" algn="ctr">
                        <a:lnSpc>
                          <a:spcPct val="100000"/>
                        </a:lnSpc>
                        <a:buNone/>
                      </a:pPr>
                      <a:r>
                        <a:rPr lang="en-US" sz="1600" b="0" kern="1200" dirty="0">
                          <a:solidFill>
                            <a:schemeClr val="tx1"/>
                          </a:solidFill>
                          <a:latin typeface="+mn-ea"/>
                          <a:ea typeface="+mn-ea"/>
                          <a:cs typeface="+mn-cs"/>
                        </a:rPr>
                        <a:t>第1章</a:t>
                      </a:r>
                      <a:endParaRPr lang="en-US" altLang="en-US" sz="1600" b="0" kern="1200" dirty="0">
                        <a:solidFill>
                          <a:schemeClr val="tx1"/>
                        </a:solidFill>
                        <a:latin typeface="+mn-ea"/>
                        <a:ea typeface="+mn-ea"/>
                        <a:cs typeface="+mn-cs"/>
                      </a:endParaRPr>
                    </a:p>
                  </a:txBody>
                  <a:tcPr marL="51435" marR="51435" marT="0" marB="0" anchor="ctr">
                    <a:solidFill>
                      <a:schemeClr val="bg1"/>
                    </a:solidFill>
                  </a:tcPr>
                </a:tc>
                <a:tc>
                  <a:txBody>
                    <a:bodyPr/>
                    <a:lstStyle/>
                    <a:p>
                      <a:pPr indent="0" algn="l">
                        <a:lnSpc>
                          <a:spcPct val="100000"/>
                        </a:lnSpc>
                        <a:buNone/>
                      </a:pPr>
                      <a:r>
                        <a:rPr lang="en-US" sz="1600" b="0" kern="1200" dirty="0" err="1">
                          <a:solidFill>
                            <a:schemeClr val="tx1"/>
                          </a:solidFill>
                          <a:latin typeface="+mn-ea"/>
                          <a:ea typeface="+mn-ea"/>
                          <a:cs typeface="+mn-cs"/>
                        </a:rPr>
                        <a:t>操作系统引论</a:t>
                      </a:r>
                      <a:endParaRPr lang="en-US" altLang="en-US" sz="1600" b="0" kern="1200" dirty="0">
                        <a:solidFill>
                          <a:schemeClr val="tx1"/>
                        </a:solidFill>
                        <a:latin typeface="+mn-ea"/>
                        <a:ea typeface="+mn-ea"/>
                        <a:cs typeface="+mn-cs"/>
                      </a:endParaRPr>
                    </a:p>
                  </a:txBody>
                  <a:tcPr marL="51435" marR="51435" marT="0" marB="0" anchor="ctr">
                    <a:solidFill>
                      <a:schemeClr val="bg1"/>
                    </a:solidFill>
                  </a:tcPr>
                </a:tc>
                <a:extLst>
                  <a:ext uri="{0D108BD9-81ED-4DB2-BD59-A6C34878D82A}">
                    <a16:rowId xmlns:a16="http://schemas.microsoft.com/office/drawing/2014/main" val="10000"/>
                  </a:ext>
                </a:extLst>
              </a:tr>
              <a:tr h="379534">
                <a:tc>
                  <a:txBody>
                    <a:bodyPr/>
                    <a:lstStyle/>
                    <a:p>
                      <a:pPr indent="0" algn="ctr">
                        <a:lnSpc>
                          <a:spcPct val="100000"/>
                        </a:lnSpc>
                        <a:buNone/>
                      </a:pPr>
                      <a:r>
                        <a:rPr lang="en-US" sz="1600" b="1" kern="1200" dirty="0">
                          <a:solidFill>
                            <a:schemeClr val="bg1"/>
                          </a:solidFill>
                          <a:latin typeface="+mn-ea"/>
                          <a:ea typeface="+mn-ea"/>
                          <a:cs typeface="+mn-cs"/>
                        </a:rPr>
                        <a:t>第2章</a:t>
                      </a:r>
                      <a:endParaRPr lang="en-US" altLang="en-US" sz="1600" b="1" kern="1200" dirty="0">
                        <a:solidFill>
                          <a:schemeClr val="bg1"/>
                        </a:solidFill>
                        <a:latin typeface="+mn-ea"/>
                        <a:ea typeface="+mn-ea"/>
                        <a:cs typeface="+mn-cs"/>
                      </a:endParaRPr>
                    </a:p>
                  </a:txBody>
                  <a:tcPr marL="51435" marR="51435" marT="0" marB="0" anchor="ctr">
                    <a:solidFill>
                      <a:schemeClr val="accent2"/>
                    </a:solidFill>
                  </a:tcPr>
                </a:tc>
                <a:tc>
                  <a:txBody>
                    <a:bodyPr/>
                    <a:lstStyle/>
                    <a:p>
                      <a:pPr indent="0" algn="l">
                        <a:lnSpc>
                          <a:spcPct val="100000"/>
                        </a:lnSpc>
                        <a:buNone/>
                      </a:pPr>
                      <a:r>
                        <a:rPr lang="en-US" sz="1600" b="1" kern="1200" dirty="0" err="1">
                          <a:solidFill>
                            <a:schemeClr val="bg1"/>
                          </a:solidFill>
                          <a:latin typeface="+mn-ea"/>
                          <a:ea typeface="+mn-ea"/>
                          <a:cs typeface="+mn-cs"/>
                        </a:rPr>
                        <a:t>进程的描述与控制</a:t>
                      </a:r>
                      <a:endParaRPr lang="en-US" altLang="en-US" sz="1600" b="1" kern="1200" dirty="0">
                        <a:solidFill>
                          <a:schemeClr val="bg1"/>
                        </a:solidFill>
                        <a:latin typeface="+mn-ea"/>
                        <a:ea typeface="+mn-ea"/>
                        <a:cs typeface="+mn-cs"/>
                      </a:endParaRPr>
                    </a:p>
                  </a:txBody>
                  <a:tcPr marL="51435" marR="51435" marT="0" marB="0" anchor="ctr">
                    <a:solidFill>
                      <a:schemeClr val="accent2"/>
                    </a:solidFill>
                  </a:tcPr>
                </a:tc>
                <a:extLst>
                  <a:ext uri="{0D108BD9-81ED-4DB2-BD59-A6C34878D82A}">
                    <a16:rowId xmlns:a16="http://schemas.microsoft.com/office/drawing/2014/main" val="10001"/>
                  </a:ext>
                </a:extLst>
              </a:tr>
              <a:tr h="379534">
                <a:tc>
                  <a:txBody>
                    <a:bodyPr/>
                    <a:lstStyle/>
                    <a:p>
                      <a:pPr indent="0" algn="ctr">
                        <a:lnSpc>
                          <a:spcPct val="100000"/>
                        </a:lnSpc>
                        <a:buNone/>
                      </a:pPr>
                      <a:r>
                        <a:rPr lang="en-US" sz="1600">
                          <a:latin typeface="+mn-ea"/>
                          <a:ea typeface="+mn-ea"/>
                        </a:rPr>
                        <a:t>第3章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处理机调度与死锁</a:t>
                      </a:r>
                      <a:endParaRPr lang="en-US" altLang="en-US" sz="1600" b="0" dirty="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2"/>
                  </a:ext>
                </a:extLst>
              </a:tr>
              <a:tr h="379534">
                <a:tc>
                  <a:txBody>
                    <a:bodyPr/>
                    <a:lstStyle/>
                    <a:p>
                      <a:pPr indent="0" algn="ctr">
                        <a:lnSpc>
                          <a:spcPct val="100000"/>
                        </a:lnSpc>
                        <a:buNone/>
                      </a:pPr>
                      <a:r>
                        <a:rPr lang="en-US" sz="1600">
                          <a:latin typeface="+mn-ea"/>
                          <a:ea typeface="+mn-ea"/>
                        </a:rPr>
                        <a:t>第4章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进程同步</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3"/>
                  </a:ext>
                </a:extLst>
              </a:tr>
              <a:tr h="379534">
                <a:tc>
                  <a:txBody>
                    <a:bodyPr/>
                    <a:lstStyle/>
                    <a:p>
                      <a:pPr indent="0" algn="ctr">
                        <a:lnSpc>
                          <a:spcPct val="100000"/>
                        </a:lnSpc>
                        <a:buNone/>
                      </a:pPr>
                      <a:r>
                        <a:rPr lang="en-US" sz="1600">
                          <a:latin typeface="+mn-ea"/>
                          <a:ea typeface="+mn-ea"/>
                        </a:rPr>
                        <a:t>第5章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存储器管理</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4"/>
                  </a:ext>
                </a:extLst>
              </a:tr>
              <a:tr h="379534">
                <a:tc>
                  <a:txBody>
                    <a:bodyPr/>
                    <a:lstStyle/>
                    <a:p>
                      <a:pPr indent="0" algn="ctr">
                        <a:lnSpc>
                          <a:spcPct val="100000"/>
                        </a:lnSpc>
                        <a:buNone/>
                      </a:pPr>
                      <a:r>
                        <a:rPr lang="en-US" sz="1600">
                          <a:latin typeface="+mn-ea"/>
                          <a:ea typeface="+mn-ea"/>
                        </a:rPr>
                        <a:t>第6章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虚拟存储器</a:t>
                      </a:r>
                      <a:endParaRPr lang="en-US" altLang="en-US" sz="1600" b="0" dirty="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5"/>
                  </a:ext>
                </a:extLst>
              </a:tr>
              <a:tr h="379534">
                <a:tc>
                  <a:txBody>
                    <a:bodyPr/>
                    <a:lstStyle/>
                    <a:p>
                      <a:pPr indent="0" algn="ctr">
                        <a:lnSpc>
                          <a:spcPct val="100000"/>
                        </a:lnSpc>
                        <a:buNone/>
                      </a:pPr>
                      <a:r>
                        <a:rPr lang="en-US" sz="1600">
                          <a:latin typeface="+mn-ea"/>
                          <a:ea typeface="+mn-ea"/>
                        </a:rPr>
                        <a:t>第7章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输入/输出系统</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6"/>
                  </a:ext>
                </a:extLst>
              </a:tr>
              <a:tr h="379534">
                <a:tc>
                  <a:txBody>
                    <a:bodyPr/>
                    <a:lstStyle/>
                    <a:p>
                      <a:pPr indent="0" algn="ctr">
                        <a:lnSpc>
                          <a:spcPct val="100000"/>
                        </a:lnSpc>
                        <a:buNone/>
                      </a:pPr>
                      <a:r>
                        <a:rPr lang="en-US" sz="1600">
                          <a:latin typeface="+mn-ea"/>
                          <a:ea typeface="+mn-ea"/>
                        </a:rPr>
                        <a:t>第8章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文件管理</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7"/>
                  </a:ext>
                </a:extLst>
              </a:tr>
              <a:tr h="379534">
                <a:tc>
                  <a:txBody>
                    <a:bodyPr/>
                    <a:lstStyle/>
                    <a:p>
                      <a:pPr indent="0" algn="ctr">
                        <a:lnSpc>
                          <a:spcPct val="100000"/>
                        </a:lnSpc>
                        <a:buNone/>
                      </a:pPr>
                      <a:r>
                        <a:rPr lang="en-US" sz="1600">
                          <a:latin typeface="+mn-ea"/>
                          <a:ea typeface="+mn-ea"/>
                        </a:rPr>
                        <a:t>第9章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磁盘存储器管理</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8"/>
                  </a:ext>
                </a:extLst>
              </a:tr>
              <a:tr h="379534">
                <a:tc>
                  <a:txBody>
                    <a:bodyPr/>
                    <a:lstStyle/>
                    <a:p>
                      <a:pPr indent="0" algn="ctr">
                        <a:lnSpc>
                          <a:spcPct val="100000"/>
                        </a:lnSpc>
                        <a:buNone/>
                      </a:pPr>
                      <a:r>
                        <a:rPr lang="en-US" sz="1600">
                          <a:latin typeface="+mn-ea"/>
                          <a:ea typeface="+mn-ea"/>
                        </a:rPr>
                        <a:t>第10章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多处理机操作系统</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09"/>
                  </a:ext>
                </a:extLst>
              </a:tr>
              <a:tr h="379534">
                <a:tc>
                  <a:txBody>
                    <a:bodyPr/>
                    <a:lstStyle/>
                    <a:p>
                      <a:pPr indent="0" algn="ctr">
                        <a:lnSpc>
                          <a:spcPct val="100000"/>
                        </a:lnSpc>
                        <a:buNone/>
                      </a:pPr>
                      <a:r>
                        <a:rPr lang="en-US" sz="1600">
                          <a:latin typeface="+mn-ea"/>
                          <a:ea typeface="+mn-ea"/>
                        </a:rPr>
                        <a:t>第11章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虚拟化和云计算</a:t>
                      </a:r>
                      <a:endParaRPr lang="en-US" altLang="en-US" sz="1600" b="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10"/>
                  </a:ext>
                </a:extLst>
              </a:tr>
              <a:tr h="479689">
                <a:tc>
                  <a:txBody>
                    <a:bodyPr/>
                    <a:lstStyle/>
                    <a:p>
                      <a:pPr indent="0" algn="ctr">
                        <a:lnSpc>
                          <a:spcPct val="100000"/>
                        </a:lnSpc>
                        <a:buNone/>
                      </a:pPr>
                      <a:r>
                        <a:rPr lang="en-US" sz="1600">
                          <a:latin typeface="+mn-ea"/>
                          <a:ea typeface="+mn-ea"/>
                        </a:rPr>
                        <a:t>第12章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保护和安全</a:t>
                      </a:r>
                      <a:endParaRPr lang="en-US" altLang="en-US" sz="1600" b="0" dirty="0">
                        <a:solidFill>
                          <a:srgbClr val="000000"/>
                        </a:solidFill>
                        <a:latin typeface="+mn-ea"/>
                        <a:ea typeface="+mn-ea"/>
                        <a:cs typeface="华文楷体" panose="02010600040101010101" charset="-122"/>
                      </a:endParaRPr>
                    </a:p>
                  </a:txBody>
                  <a:tcPr marL="51435" marR="51435" marT="0" marB="0" anchor="ctr"/>
                </a:tc>
                <a:extLst>
                  <a:ext uri="{0D108BD9-81ED-4DB2-BD59-A6C34878D82A}">
                    <a16:rowId xmlns:a16="http://schemas.microsoft.com/office/drawing/2014/main" val="10011"/>
                  </a:ext>
                </a:extLst>
              </a:tr>
            </a:tbl>
          </a:graphicData>
        </a:graphic>
      </p:graphicFrame>
      <p:pic>
        <p:nvPicPr>
          <p:cNvPr id="2" name="图片 1" descr="第2章 知识导图"/>
          <p:cNvPicPr>
            <a:picLocks noChangeAspect="1"/>
          </p:cNvPicPr>
          <p:nvPr/>
        </p:nvPicPr>
        <p:blipFill>
          <a:blip r:embed="rId4"/>
          <a:stretch>
            <a:fillRect/>
          </a:stretch>
        </p:blipFill>
        <p:spPr>
          <a:xfrm>
            <a:off x="4729480" y="1512570"/>
            <a:ext cx="7071995" cy="5048885"/>
          </a:xfrm>
          <a:prstGeom prst="rect">
            <a:avLst/>
          </a:prstGeom>
        </p:spPr>
      </p:pic>
      <p:sp>
        <p:nvSpPr>
          <p:cNvPr id="3" name="前凸带形 3"/>
          <p:cNvSpPr/>
          <p:nvPr/>
        </p:nvSpPr>
        <p:spPr>
          <a:xfrm>
            <a:off x="4839289" y="6193338"/>
            <a:ext cx="2503290" cy="557296"/>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mn-ea"/>
              </a:rPr>
              <a:t>本章学习结束</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p>
        </p:txBody>
      </p:sp>
      <p:sp>
        <p:nvSpPr>
          <p:cNvPr id="52" name="内容占位符 3"/>
          <p:cNvSpPr txBox="1"/>
          <p:nvPr/>
        </p:nvSpPr>
        <p:spPr>
          <a:xfrm>
            <a:off x="815266" y="1100568"/>
            <a:ext cx="10561468"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长期“冷战”之后</a:t>
            </a:r>
          </a:p>
          <a:p>
            <a:pPr marL="0" indent="0" algn="ctr">
              <a:lnSpc>
                <a:spcPct val="125000"/>
              </a:lnSpc>
              <a:spcBef>
                <a:spcPts val="300"/>
              </a:spcBef>
              <a:spcAft>
                <a:spcPts val="300"/>
              </a:spcAft>
              <a:buFont typeface="Arial" panose="020B0604020202020204" pitchFamily="34" charset="0"/>
              <a:buNone/>
            </a:pPr>
            <a:r>
              <a:rPr lang="en-US" altLang="zh-CN" sz="2400" dirty="0">
                <a:solidFill>
                  <a:srgbClr val="0000FF"/>
                </a:solidFill>
                <a:latin typeface="+mn-ea"/>
                <a:cs typeface="黑体" panose="02010609060101010101" charset="-122"/>
              </a:rPr>
              <a:t>Linux</a:t>
            </a:r>
            <a:r>
              <a:rPr lang="zh-CN" altLang="en-US" sz="2400" dirty="0">
                <a:solidFill>
                  <a:srgbClr val="0000FF"/>
                </a:solidFill>
                <a:latin typeface="+mn-ea"/>
                <a:cs typeface="黑体" panose="02010609060101010101" charset="-122"/>
              </a:rPr>
              <a:t>与</a:t>
            </a:r>
            <a:r>
              <a:rPr lang="en-US" altLang="zh-CN" sz="2400" dirty="0">
                <a:solidFill>
                  <a:srgbClr val="0000FF"/>
                </a:solidFill>
                <a:latin typeface="+mn-ea"/>
                <a:cs typeface="黑体" panose="02010609060101010101" charset="-122"/>
              </a:rPr>
              <a:t>Windows</a:t>
            </a:r>
            <a:r>
              <a:rPr lang="zh-CN" altLang="en-US" sz="2400" dirty="0">
                <a:solidFill>
                  <a:srgbClr val="0000FF"/>
                </a:solidFill>
                <a:latin typeface="+mn-ea"/>
                <a:cs typeface="黑体" panose="02010609060101010101" charset="-122"/>
              </a:rPr>
              <a:t>究竟谁会更胜一筹？</a:t>
            </a:r>
          </a:p>
          <a:p>
            <a:pPr marL="0" indent="45720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pitchFamily="18" charset="0"/>
                <a:sym typeface="+mn-ea"/>
              </a:rPr>
              <a:t> </a:t>
            </a:r>
            <a:r>
              <a:rPr lang="en-US" altLang="zh-CN" sz="2400" dirty="0">
                <a:latin typeface="+mn-ea"/>
                <a:cs typeface="Times New Roman" panose="02020603050405020304" pitchFamily="18" charset="0"/>
                <a:sym typeface="+mn-ea"/>
              </a:rPr>
              <a:t>20</a:t>
            </a:r>
            <a:r>
              <a:rPr lang="zh-CN" altLang="en-US" sz="2400" dirty="0">
                <a:latin typeface="+mn-ea"/>
                <a:cs typeface="Times New Roman" panose="02020603050405020304" pitchFamily="18" charset="0"/>
                <a:sym typeface="+mn-ea"/>
              </a:rPr>
              <a:t>世纪</a:t>
            </a:r>
            <a:r>
              <a:rPr lang="en-US" altLang="zh-CN" sz="2400" dirty="0">
                <a:latin typeface="+mn-ea"/>
                <a:cs typeface="Times New Roman" panose="02020603050405020304" pitchFamily="18" charset="0"/>
                <a:sym typeface="+mn-ea"/>
              </a:rPr>
              <a:t>90</a:t>
            </a:r>
            <a:r>
              <a:rPr lang="zh-CN" altLang="en-US" sz="2400" dirty="0">
                <a:latin typeface="+mn-ea"/>
                <a:cs typeface="Times New Roman" panose="02020603050405020304" pitchFamily="18" charset="0"/>
                <a:sym typeface="+mn-ea"/>
              </a:rPr>
              <a:t>年代初期，基于</a:t>
            </a:r>
            <a:r>
              <a:rPr lang="en-US" altLang="zh-CN" sz="2400" dirty="0">
                <a:latin typeface="+mn-ea"/>
                <a:cs typeface="Times New Roman" panose="02020603050405020304" pitchFamily="18" charset="0"/>
                <a:sym typeface="+mn-ea"/>
              </a:rPr>
              <a:t>MINIX</a:t>
            </a:r>
            <a:r>
              <a:rPr lang="zh-CN" altLang="en-US" sz="2400" dirty="0">
                <a:latin typeface="+mn-ea"/>
                <a:cs typeface="Times New Roman" panose="02020603050405020304" pitchFamily="18" charset="0"/>
                <a:sym typeface="+mn-ea"/>
              </a:rPr>
              <a:t>和</a:t>
            </a:r>
            <a:r>
              <a:rPr lang="en-US" altLang="zh-CN" sz="2400" dirty="0">
                <a:latin typeface="+mn-ea"/>
                <a:cs typeface="Times New Roman" panose="02020603050405020304" pitchFamily="18" charset="0"/>
                <a:sym typeface="+mn-ea"/>
              </a:rPr>
              <a:t>UNIX</a:t>
            </a:r>
            <a:r>
              <a:rPr lang="zh-CN" altLang="en-US" sz="2400" dirty="0">
                <a:latin typeface="+mn-ea"/>
                <a:cs typeface="Times New Roman" panose="02020603050405020304" pitchFamily="18" charset="0"/>
                <a:sym typeface="+mn-ea"/>
              </a:rPr>
              <a:t>思想而研发的开源</a:t>
            </a:r>
            <a:r>
              <a:rPr lang="en-US" altLang="zh-CN" sz="2400" dirty="0">
                <a:latin typeface="+mn-ea"/>
                <a:cs typeface="Times New Roman" panose="02020603050405020304" pitchFamily="18" charset="0"/>
                <a:sym typeface="+mn-ea"/>
              </a:rPr>
              <a:t>Linux</a:t>
            </a:r>
            <a:r>
              <a:rPr lang="zh-CN" altLang="en-US" sz="2400" dirty="0">
                <a:latin typeface="+mn-ea"/>
                <a:cs typeface="Times New Roman" panose="02020603050405020304" pitchFamily="18" charset="0"/>
                <a:sym typeface="+mn-ea"/>
              </a:rPr>
              <a:t>系统面市，其是一款支持多用户、多任务、多线程和多内核的操作系统，不仅能够运行</a:t>
            </a:r>
            <a:r>
              <a:rPr lang="en-US" altLang="zh-CN" sz="2400" dirty="0">
                <a:latin typeface="+mn-ea"/>
                <a:cs typeface="Times New Roman" panose="02020603050405020304" pitchFamily="18" charset="0"/>
                <a:sym typeface="+mn-ea"/>
              </a:rPr>
              <a:t>UNIX</a:t>
            </a:r>
            <a:r>
              <a:rPr lang="zh-CN" altLang="en-US" sz="2400" dirty="0">
                <a:latin typeface="+mn-ea"/>
                <a:cs typeface="Times New Roman" panose="02020603050405020304" pitchFamily="18" charset="0"/>
                <a:sym typeface="+mn-ea"/>
              </a:rPr>
              <a:t>工具软件、应用程序和网络协议，还具有稳定的系统性能。发展至今，</a:t>
            </a:r>
            <a:r>
              <a:rPr lang="en-US" altLang="zh-CN" sz="2400" dirty="0">
                <a:latin typeface="+mn-ea"/>
                <a:cs typeface="Times New Roman" panose="02020603050405020304" pitchFamily="18" charset="0"/>
                <a:sym typeface="+mn-ea"/>
              </a:rPr>
              <a:t>Linux</a:t>
            </a:r>
            <a:r>
              <a:rPr lang="zh-CN" altLang="en-US" sz="2400" dirty="0">
                <a:latin typeface="+mn-ea"/>
                <a:cs typeface="Times New Roman" panose="02020603050405020304" pitchFamily="18" charset="0"/>
                <a:sym typeface="+mn-ea"/>
              </a:rPr>
              <a:t>已有上百种不同的发行版本。</a:t>
            </a:r>
          </a:p>
          <a:p>
            <a:pPr marL="0" indent="45720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pitchFamily="18" charset="0"/>
                <a:sym typeface="+mn-ea"/>
              </a:rPr>
              <a:t>在</a:t>
            </a:r>
            <a:r>
              <a:rPr lang="en-US" altLang="zh-CN" sz="2400" dirty="0">
                <a:latin typeface="+mn-ea"/>
                <a:cs typeface="Times New Roman" panose="02020603050405020304" pitchFamily="18" charset="0"/>
                <a:sym typeface="+mn-ea"/>
              </a:rPr>
              <a:t>Linux</a:t>
            </a:r>
            <a:r>
              <a:rPr lang="zh-CN" altLang="en-US" sz="2400" dirty="0">
                <a:latin typeface="+mn-ea"/>
                <a:cs typeface="Times New Roman" panose="02020603050405020304" pitchFamily="18" charset="0"/>
                <a:sym typeface="+mn-ea"/>
              </a:rPr>
              <a:t>系统稳步发展过程中，</a:t>
            </a:r>
            <a:r>
              <a:rPr lang="en-US" altLang="zh-CN" sz="2400" dirty="0">
                <a:latin typeface="+mn-ea"/>
                <a:cs typeface="Times New Roman" panose="02020603050405020304" pitchFamily="18" charset="0"/>
                <a:sym typeface="+mn-ea"/>
              </a:rPr>
              <a:t>Windows</a:t>
            </a:r>
            <a:r>
              <a:rPr lang="zh-CN" altLang="en-US" sz="2400" dirty="0">
                <a:latin typeface="+mn-ea"/>
                <a:cs typeface="Times New Roman" panose="02020603050405020304" pitchFamily="18" charset="0"/>
                <a:sym typeface="+mn-ea"/>
              </a:rPr>
              <a:t>系统亦不分昼夜地进行着功能完善、界面美化以及版本更新等工作。进入</a:t>
            </a:r>
            <a:r>
              <a:rPr lang="en-US" altLang="zh-CN" sz="2400" dirty="0">
                <a:latin typeface="+mn-ea"/>
                <a:cs typeface="Times New Roman" panose="02020603050405020304" pitchFamily="18" charset="0"/>
                <a:sym typeface="+mn-ea"/>
              </a:rPr>
              <a:t>21</a:t>
            </a:r>
            <a:r>
              <a:rPr lang="zh-CN" altLang="en-US" sz="2400" dirty="0">
                <a:latin typeface="+mn-ea"/>
                <a:cs typeface="Times New Roman" panose="02020603050405020304" pitchFamily="18" charset="0"/>
                <a:sym typeface="+mn-ea"/>
              </a:rPr>
              <a:t>世纪后，微软公司的</a:t>
            </a:r>
            <a:r>
              <a:rPr lang="en-US" altLang="zh-CN" sz="2400" dirty="0">
                <a:latin typeface="+mn-ea"/>
                <a:cs typeface="Times New Roman" panose="02020603050405020304" pitchFamily="18" charset="0"/>
                <a:sym typeface="+mn-ea"/>
              </a:rPr>
              <a:t>Windows</a:t>
            </a:r>
            <a:r>
              <a:rPr lang="zh-CN" altLang="en-US" sz="2400" dirty="0">
                <a:latin typeface="+mn-ea"/>
                <a:cs typeface="Times New Roman" panose="02020603050405020304" pitchFamily="18" charset="0"/>
                <a:sym typeface="+mn-ea"/>
              </a:rPr>
              <a:t>系统在个人计算机领域基本占领了垄断地位。由垄断所导致的潜在安全问题是各国相关部门尤为关心的核心问题，而解决该问题（即去微软公司化）的主流途径便是采用开源</a:t>
            </a:r>
            <a:r>
              <a:rPr lang="en-US" altLang="zh-CN" sz="2400" dirty="0">
                <a:latin typeface="+mn-ea"/>
                <a:cs typeface="Times New Roman" panose="02020603050405020304" pitchFamily="18" charset="0"/>
                <a:sym typeface="+mn-ea"/>
              </a:rPr>
              <a:t>Linux</a:t>
            </a:r>
            <a:r>
              <a:rPr lang="zh-CN" altLang="en-US" sz="2400" dirty="0">
                <a:latin typeface="+mn-ea"/>
                <a:cs typeface="Times New Roman" panose="02020603050405020304" pitchFamily="18" charset="0"/>
                <a:sym typeface="+mn-ea"/>
              </a:rPr>
              <a:t>系统。</a:t>
            </a:r>
            <a:endParaRPr lang="zh-CN" sz="2400" dirty="0">
              <a:latin typeface="+mn-ea"/>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p>
        </p:txBody>
      </p:sp>
      <p:sp>
        <p:nvSpPr>
          <p:cNvPr id="52" name="内容占位符 3"/>
          <p:cNvSpPr txBox="1"/>
          <p:nvPr/>
        </p:nvSpPr>
        <p:spPr>
          <a:xfrm>
            <a:off x="671744" y="1011791"/>
            <a:ext cx="10848512"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长期“冷战”之后</a:t>
            </a:r>
          </a:p>
          <a:p>
            <a:pPr marL="0" indent="0" algn="ctr">
              <a:lnSpc>
                <a:spcPct val="125000"/>
              </a:lnSpc>
              <a:spcBef>
                <a:spcPts val="300"/>
              </a:spcBef>
              <a:spcAft>
                <a:spcPts val="300"/>
              </a:spcAft>
              <a:buFont typeface="Arial" panose="020B0604020202020204" pitchFamily="34" charset="0"/>
              <a:buNone/>
            </a:pPr>
            <a:r>
              <a:rPr lang="en-US" altLang="zh-CN" sz="2400" dirty="0">
                <a:solidFill>
                  <a:srgbClr val="0000FF"/>
                </a:solidFill>
                <a:latin typeface="+mn-ea"/>
                <a:cs typeface="黑体" panose="02010609060101010101" charset="-122"/>
              </a:rPr>
              <a:t>Linux</a:t>
            </a:r>
            <a:r>
              <a:rPr lang="zh-CN" altLang="en-US" sz="2400" dirty="0">
                <a:solidFill>
                  <a:srgbClr val="0000FF"/>
                </a:solidFill>
                <a:latin typeface="+mn-ea"/>
                <a:cs typeface="黑体" panose="02010609060101010101" charset="-122"/>
              </a:rPr>
              <a:t>与</a:t>
            </a:r>
            <a:r>
              <a:rPr lang="en-US" altLang="zh-CN" sz="2400" dirty="0">
                <a:solidFill>
                  <a:srgbClr val="0000FF"/>
                </a:solidFill>
                <a:latin typeface="+mn-ea"/>
                <a:cs typeface="黑体" panose="02010609060101010101" charset="-122"/>
              </a:rPr>
              <a:t>Windows</a:t>
            </a:r>
            <a:r>
              <a:rPr lang="zh-CN" altLang="en-US" sz="2400" dirty="0">
                <a:solidFill>
                  <a:srgbClr val="0000FF"/>
                </a:solidFill>
                <a:latin typeface="+mn-ea"/>
                <a:cs typeface="黑体" panose="02010609060101010101" charset="-122"/>
              </a:rPr>
              <a:t>究竟谁会更胜一筹？</a:t>
            </a:r>
          </a:p>
          <a:p>
            <a:pPr marL="0" indent="45720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pitchFamily="18" charset="0"/>
                <a:sym typeface="+mn-ea"/>
              </a:rPr>
              <a:t>但是，要想简单地通过采用</a:t>
            </a:r>
            <a:r>
              <a:rPr lang="en-US" altLang="zh-CN" sz="2400" dirty="0">
                <a:latin typeface="+mn-ea"/>
                <a:cs typeface="Times New Roman" panose="02020603050405020304" pitchFamily="18" charset="0"/>
                <a:sym typeface="+mn-ea"/>
              </a:rPr>
              <a:t>Linux</a:t>
            </a:r>
            <a:r>
              <a:rPr lang="zh-CN" altLang="en-US" sz="2400" dirty="0">
                <a:latin typeface="+mn-ea"/>
                <a:cs typeface="Times New Roman" panose="02020603050405020304" pitchFamily="18" charset="0"/>
                <a:sym typeface="+mn-ea"/>
              </a:rPr>
              <a:t>系统实现去微软公司化，实属不易。</a:t>
            </a:r>
            <a:endParaRPr lang="en-US" altLang="zh-CN" sz="2400" dirty="0">
              <a:latin typeface="+mn-ea"/>
              <a:cs typeface="Times New Roman" panose="02020603050405020304" pitchFamily="18" charset="0"/>
              <a:sym typeface="+mn-ea"/>
            </a:endParaRPr>
          </a:p>
          <a:p>
            <a:pPr marL="0" indent="45720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pitchFamily="18" charset="0"/>
              </a:rPr>
              <a:t>典型例子：</a:t>
            </a:r>
            <a:r>
              <a:rPr lang="en-US" altLang="zh-CN" sz="2400" dirty="0">
                <a:latin typeface="+mn-ea"/>
                <a:cs typeface="Times New Roman" panose="02020603050405020304" pitchFamily="18" charset="0"/>
              </a:rPr>
              <a:t>2004</a:t>
            </a:r>
            <a:r>
              <a:rPr lang="zh-CN" altLang="en-US" sz="2400" dirty="0">
                <a:latin typeface="+mn-ea"/>
                <a:cs typeface="Times New Roman" panose="02020603050405020304" pitchFamily="18" charset="0"/>
              </a:rPr>
              <a:t>年，德国慕尼黑政府宣布将政府办公计算机中所采用的</a:t>
            </a:r>
            <a:r>
              <a:rPr lang="en-US" altLang="zh-CN" sz="2400" dirty="0">
                <a:latin typeface="+mn-ea"/>
                <a:cs typeface="Times New Roman" panose="02020603050405020304" pitchFamily="18" charset="0"/>
              </a:rPr>
              <a:t>Windows</a:t>
            </a:r>
            <a:r>
              <a:rPr lang="zh-CN" altLang="en-US" sz="2400" dirty="0">
                <a:latin typeface="+mn-ea"/>
                <a:cs typeface="Times New Roman" panose="02020603050405020304" pitchFamily="18" charset="0"/>
              </a:rPr>
              <a:t>系统换为</a:t>
            </a:r>
            <a:r>
              <a:rPr lang="en-US" altLang="zh-CN" sz="2400" dirty="0">
                <a:latin typeface="+mn-ea"/>
                <a:cs typeface="Times New Roman" panose="02020603050405020304" pitchFamily="18" charset="0"/>
              </a:rPr>
              <a:t>Linux</a:t>
            </a:r>
            <a:r>
              <a:rPr lang="zh-CN" altLang="en-US" sz="2400" dirty="0">
                <a:latin typeface="+mn-ea"/>
                <a:cs typeface="Times New Roman" panose="02020603050405020304" pitchFamily="18" charset="0"/>
              </a:rPr>
              <a:t>系统，希望此举可以降低运维信息化成本；然而</a:t>
            </a:r>
            <a:r>
              <a:rPr lang="en-US" altLang="zh-CN" sz="2400" dirty="0">
                <a:latin typeface="+mn-ea"/>
                <a:cs typeface="Times New Roman" panose="02020603050405020304" pitchFamily="18" charset="0"/>
              </a:rPr>
              <a:t>10</a:t>
            </a:r>
            <a:r>
              <a:rPr lang="zh-CN" altLang="en-US" sz="2400" dirty="0">
                <a:latin typeface="+mn-ea"/>
                <a:cs typeface="Times New Roman" panose="02020603050405020304" pitchFamily="18" charset="0"/>
              </a:rPr>
              <a:t>年之后，这场“吃螃蟹”的试验并未获得预期的效果；近年来，该政府又开始逐步在政府办公计算机上重新安装</a:t>
            </a:r>
            <a:r>
              <a:rPr lang="en-US" altLang="zh-CN" sz="2400" dirty="0">
                <a:latin typeface="+mn-ea"/>
                <a:cs typeface="Times New Roman" panose="02020603050405020304" pitchFamily="18" charset="0"/>
              </a:rPr>
              <a:t>Windows</a:t>
            </a:r>
            <a:r>
              <a:rPr lang="zh-CN" altLang="en-US" sz="2400" dirty="0">
                <a:latin typeface="+mn-ea"/>
                <a:cs typeface="Times New Roman" panose="02020603050405020304" pitchFamily="18" charset="0"/>
              </a:rPr>
              <a:t>系统。</a:t>
            </a:r>
            <a:endParaRPr lang="en-US" altLang="zh-CN" sz="2400" dirty="0">
              <a:latin typeface="+mn-ea"/>
              <a:cs typeface="Times New Roman" panose="02020603050405020304" pitchFamily="18" charset="0"/>
            </a:endParaRPr>
          </a:p>
          <a:p>
            <a:pPr marL="0" indent="457200" algn="just">
              <a:lnSpc>
                <a:spcPct val="125000"/>
              </a:lnSpc>
              <a:spcBef>
                <a:spcPts val="300"/>
              </a:spcBef>
              <a:spcAft>
                <a:spcPts val="300"/>
              </a:spcAft>
              <a:buNone/>
            </a:pPr>
            <a:r>
              <a:rPr lang="zh-CN" altLang="en-US" sz="2400" dirty="0">
                <a:latin typeface="+mn-ea"/>
                <a:cs typeface="Times New Roman" panose="02020603050405020304" pitchFamily="18" charset="0"/>
                <a:sym typeface="+mn-ea"/>
              </a:rPr>
              <a:t>从此类案例中可以看出，单纯地通过采用</a:t>
            </a:r>
            <a:r>
              <a:rPr lang="en-US" altLang="zh-CN" sz="2400" dirty="0">
                <a:latin typeface="+mn-ea"/>
                <a:cs typeface="Times New Roman" panose="02020603050405020304" pitchFamily="18" charset="0"/>
                <a:sym typeface="+mn-ea"/>
              </a:rPr>
              <a:t>Linux</a:t>
            </a:r>
            <a:r>
              <a:rPr lang="zh-CN" altLang="en-US" sz="2400" dirty="0">
                <a:latin typeface="+mn-ea"/>
                <a:cs typeface="Times New Roman" panose="02020603050405020304" pitchFamily="18" charset="0"/>
                <a:sym typeface="+mn-ea"/>
              </a:rPr>
              <a:t>系统</a:t>
            </a:r>
            <a:r>
              <a:rPr lang="en-US" altLang="zh-CN" sz="2400" dirty="0">
                <a:latin typeface="+mn-ea"/>
                <a:cs typeface="Times New Roman" panose="02020603050405020304" pitchFamily="18" charset="0"/>
                <a:sym typeface="+mn-ea"/>
              </a:rPr>
              <a:t>+</a:t>
            </a:r>
            <a:r>
              <a:rPr lang="zh-CN" altLang="en-US" sz="2400" dirty="0">
                <a:latin typeface="+mn-ea"/>
                <a:cs typeface="Times New Roman" panose="02020603050405020304" pitchFamily="18" charset="0"/>
                <a:sym typeface="+mn-ea"/>
              </a:rPr>
              <a:t>开源软件的模式来降低运维信息化成本，效果并不理想，大都会陷入所须开发的专业软件多和后期维护工作量大等风险中。此外，由于</a:t>
            </a:r>
            <a:r>
              <a:rPr lang="en-US" altLang="zh-CN" sz="2400" dirty="0">
                <a:latin typeface="+mn-ea"/>
                <a:cs typeface="Times New Roman" panose="02020603050405020304" pitchFamily="18" charset="0"/>
                <a:sym typeface="+mn-ea"/>
              </a:rPr>
              <a:t>Linux</a:t>
            </a:r>
            <a:r>
              <a:rPr lang="zh-CN" altLang="en-US" sz="2400" dirty="0">
                <a:latin typeface="+mn-ea"/>
                <a:cs typeface="Times New Roman" panose="02020603050405020304" pitchFamily="18" charset="0"/>
                <a:sym typeface="+mn-ea"/>
              </a:rPr>
              <a:t>系统代码开源，其产品化始终不足，因此，采用</a:t>
            </a:r>
            <a:r>
              <a:rPr lang="en-US" altLang="zh-CN" sz="2400" dirty="0">
                <a:latin typeface="+mn-ea"/>
                <a:cs typeface="Times New Roman" panose="02020603050405020304" pitchFamily="18" charset="0"/>
                <a:sym typeface="+mn-ea"/>
              </a:rPr>
              <a:t>Linux</a:t>
            </a:r>
            <a:r>
              <a:rPr lang="zh-CN" altLang="en-US" sz="2400" dirty="0">
                <a:latin typeface="+mn-ea"/>
                <a:cs typeface="Times New Roman" panose="02020603050405020304" pitchFamily="18" charset="0"/>
                <a:sym typeface="+mn-ea"/>
              </a:rPr>
              <a:t>系统实现去微软公司化缺乏相应的产业基础。</a:t>
            </a:r>
            <a:endParaRPr lang="zh-CN" altLang="en-US" sz="2400" dirty="0">
              <a:latin typeface="+mn-ea"/>
              <a:cs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endParaRPr lang="zh-CN" sz="2400" dirty="0">
              <a:latin typeface="+mn-ea"/>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p>
        </p:txBody>
      </p:sp>
      <p:sp>
        <p:nvSpPr>
          <p:cNvPr id="52" name="内容占位符 3"/>
          <p:cNvSpPr txBox="1"/>
          <p:nvPr/>
        </p:nvSpPr>
        <p:spPr>
          <a:xfrm>
            <a:off x="831542" y="1349813"/>
            <a:ext cx="10230035" cy="32754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长期“冷战”之后</a:t>
            </a:r>
          </a:p>
          <a:p>
            <a:pPr marL="0" indent="0" algn="ctr">
              <a:lnSpc>
                <a:spcPct val="125000"/>
              </a:lnSpc>
              <a:spcBef>
                <a:spcPts val="300"/>
              </a:spcBef>
              <a:spcAft>
                <a:spcPts val="300"/>
              </a:spcAft>
              <a:buFont typeface="Arial" panose="020B0604020202020204" pitchFamily="34" charset="0"/>
              <a:buNone/>
            </a:pPr>
            <a:r>
              <a:rPr lang="en-US" altLang="zh-CN" sz="2400" dirty="0">
                <a:solidFill>
                  <a:srgbClr val="0000FF"/>
                </a:solidFill>
                <a:latin typeface="+mn-ea"/>
                <a:cs typeface="黑体" panose="02010609060101010101" charset="-122"/>
              </a:rPr>
              <a:t>Linux</a:t>
            </a:r>
            <a:r>
              <a:rPr lang="zh-CN" altLang="en-US" sz="2400" dirty="0">
                <a:solidFill>
                  <a:srgbClr val="0000FF"/>
                </a:solidFill>
                <a:latin typeface="+mn-ea"/>
                <a:cs typeface="黑体" panose="02010609060101010101" charset="-122"/>
              </a:rPr>
              <a:t>与</a:t>
            </a:r>
            <a:r>
              <a:rPr lang="en-US" altLang="zh-CN" sz="2400" dirty="0">
                <a:solidFill>
                  <a:srgbClr val="0000FF"/>
                </a:solidFill>
                <a:latin typeface="+mn-ea"/>
                <a:cs typeface="黑体" panose="02010609060101010101" charset="-122"/>
              </a:rPr>
              <a:t>Windows</a:t>
            </a:r>
            <a:r>
              <a:rPr lang="zh-CN" altLang="en-US" sz="2400" dirty="0">
                <a:solidFill>
                  <a:srgbClr val="0000FF"/>
                </a:solidFill>
                <a:latin typeface="+mn-ea"/>
                <a:cs typeface="黑体" panose="02010609060101010101" charset="-122"/>
              </a:rPr>
              <a:t>究竟谁会更胜一筹？</a:t>
            </a:r>
          </a:p>
          <a:p>
            <a:pPr marL="0" indent="45720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pitchFamily="18" charset="0"/>
                <a:sym typeface="+mn-ea"/>
              </a:rPr>
              <a:t>形势即便如此，我们也绝对不应放弃反垄断！在此情形下，我们知识分子与科技人才更应深度思考：究竟应当如何解决操作系统垄断问题，以及如何在解决该问题的过程中，通过发挥我们自身的价值，助力研发自主可控的国产操作系统？</a:t>
            </a:r>
            <a:endParaRPr lang="zh-CN" sz="2400" dirty="0">
              <a:latin typeface="+mn-ea"/>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hidden="1"/>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 name="标题 4"/>
          <p:cNvSpPr>
            <a:spLocks noGrp="1"/>
          </p:cNvSpPr>
          <p:nvPr>
            <p:ph type="ctrTitle"/>
          </p:nvPr>
        </p:nvSpPr>
        <p:spPr>
          <a:xfrm>
            <a:off x="4923066" y="2488196"/>
            <a:ext cx="6536871" cy="2390427"/>
          </a:xfrm>
        </p:spPr>
        <p:txBody>
          <a:bodyPr>
            <a:normAutofit/>
          </a:bodyPr>
          <a:lstStyle/>
          <a:p>
            <a:r>
              <a:rPr lang="zh-CN" altLang="en-US" sz="6600" dirty="0"/>
              <a:t>学 习 进 步 ！</a:t>
            </a:r>
            <a:endParaRPr lang="zh-CN" altLang="en-US" sz="4000" dirty="0"/>
          </a:p>
        </p:txBody>
      </p:sp>
      <p:sp>
        <p:nvSpPr>
          <p:cNvPr id="8" name="任意多边形: 形状 7"/>
          <p:cNvSpPr/>
          <p:nvPr/>
        </p:nvSpPr>
        <p:spPr>
          <a:xfrm>
            <a:off x="669925" y="2344255"/>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nvSpPr>
        <p:spPr>
          <a:xfrm>
            <a:off x="744076" y="6241020"/>
            <a:ext cx="4366476"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作者：汤小丹、王红玲、姜华、汤子瀛</a:t>
            </a:r>
          </a:p>
        </p:txBody>
      </p:sp>
      <p:sp>
        <p:nvSpPr>
          <p:cNvPr id="11" name="矩形 10"/>
          <p:cNvSpPr/>
          <p:nvPr/>
        </p:nvSpPr>
        <p:spPr>
          <a:xfrm>
            <a:off x="1243012" y="602297"/>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pic>
        <p:nvPicPr>
          <p:cNvPr id="12" name="图片 11"/>
          <p:cNvPicPr>
            <a:picLocks noChangeAspect="1"/>
          </p:cNvPicPr>
          <p:nvPr/>
        </p:nvPicPr>
        <p:blipFill>
          <a:blip r:embed="rId3"/>
          <a:stretch>
            <a:fillRect/>
          </a:stretch>
        </p:blipFill>
        <p:spPr>
          <a:xfrm>
            <a:off x="1673475" y="2592475"/>
            <a:ext cx="2508000" cy="3554241"/>
          </a:xfrm>
          <a:prstGeom prst="rect">
            <a:avLst/>
          </a:prstGeom>
        </p:spPr>
      </p:pic>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406400" y="522760"/>
            <a:ext cx="527050" cy="52705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OTNkY2NjODhmMjU1MTBmZjY5ZTA4NDAzNmJlZGNlMjMif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58a06314-7e72-4d48-85a8-7253ed818c17}"/>
</p:tagLst>
</file>

<file path=ppt/tags/tag4.xml><?xml version="1.0" encoding="utf-8"?>
<p:tagLst xmlns:a="http://schemas.openxmlformats.org/drawingml/2006/main" xmlns:r="http://schemas.openxmlformats.org/officeDocument/2006/relationships" xmlns:p="http://schemas.openxmlformats.org/presentationml/2006/main">
  <p:tag name="ISLIDE.DIAGRAM" val="217641"/>
</p:tagLst>
</file>

<file path=ppt/tags/tag5.xml><?xml version="1.0" encoding="utf-8"?>
<p:tagLst xmlns:a="http://schemas.openxmlformats.org/drawingml/2006/main" xmlns:r="http://schemas.openxmlformats.org/officeDocument/2006/relationships" xmlns:p="http://schemas.openxmlformats.org/presentationml/2006/main">
  <p:tag name="ISLIDE.DIAGRAM" val="210901"/>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bb816276-8f56-433c-b900-1000d0c0640b}"/>
</p:tagLst>
</file>

<file path=ppt/tags/tag7.xml><?xml version="1.0" encoding="utf-8"?>
<p:tagLst xmlns:a="http://schemas.openxmlformats.org/drawingml/2006/main" xmlns:r="http://schemas.openxmlformats.org/officeDocument/2006/relationships" xmlns:p="http://schemas.openxmlformats.org/presentationml/2006/main">
  <p:tag name="ISLIDE.DIAGRAM" val="217641"/>
  <p:tag name="KSO_WM_DIAGRAM_VIRTUALLY_FRAME" val="{&quot;height&quot;:217.71314960629917,&quot;left&quot;:63.14102362204725,&quot;top&quot;:245.2156692913386,&quot;width&quot;:854.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21.xml><?xml version="1.0" encoding="utf-8"?>
<p:tagLst xmlns:a="http://schemas.openxmlformats.org/drawingml/2006/main" xmlns:r="http://schemas.openxmlformats.org/officeDocument/2006/relationships" xmlns:p="http://schemas.openxmlformats.org/presentationml/2006/main">
  <p:tag name="ISLIDE.DIAGRAM" val="217641"/>
  <p:tag name="KSO_WM_DIAGRAM_VIRTUALLY_FRAME" val="{&quot;height&quot;:217.71314960629917,&quot;left&quot;:63.14102362204725,&quot;top&quot;:245.2156692913386,&quot;width&quot;:854.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35.xml><?xml version="1.0" encoding="utf-8"?>
<p:tagLst xmlns:a="http://schemas.openxmlformats.org/drawingml/2006/main" xmlns:r="http://schemas.openxmlformats.org/officeDocument/2006/relationships" xmlns:p="http://schemas.openxmlformats.org/presentationml/2006/main">
  <p:tag name="ISLIDE.DIAGRAM" val="217641"/>
  <p:tag name="KSO_WM_DIAGRAM_VIRTUALLY_FRAME" val="{&quot;height&quot;:217.71314960629917,&quot;left&quot;:63.14102362204725,&quot;top&quot;:245.2156692913386,&quot;width&quot;:854.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17.71314960629917,&quot;left&quot;:63.14102362204725,&quot;top&quot;:245.2156692913386,&quot;width&quot;:854.1}"/>
</p:tagLst>
</file>

<file path=ppt/tags/tag49.xml><?xml version="1.0" encoding="utf-8"?>
<p:tagLst xmlns:a="http://schemas.openxmlformats.org/drawingml/2006/main" xmlns:r="http://schemas.openxmlformats.org/officeDocument/2006/relationships" xmlns:p="http://schemas.openxmlformats.org/presentationml/2006/main">
  <p:tag name="ISLIDE.DIAGRAM" val="224405"/>
</p:tagLst>
</file>

<file path=ppt/tags/tag50.xml><?xml version="1.0" encoding="utf-8"?>
<p:tagLst xmlns:a="http://schemas.openxmlformats.org/drawingml/2006/main" xmlns:r="http://schemas.openxmlformats.org/officeDocument/2006/relationships" xmlns:p="http://schemas.openxmlformats.org/presentationml/2006/main">
  <p:tag name="ISLIDE.DIAGRAM" val="272399"/>
</p:tagLst>
</file>

<file path=ppt/tags/tag51.xml><?xml version="1.0" encoding="utf-8"?>
<p:tagLst xmlns:a="http://schemas.openxmlformats.org/drawingml/2006/main" xmlns:r="http://schemas.openxmlformats.org/officeDocument/2006/relationships" xmlns:p="http://schemas.openxmlformats.org/presentationml/2006/main">
  <p:tag name="ISLIDE.DIAGRAM" val="185926"/>
</p:tagLst>
</file>

<file path=ppt/tags/tag52.xml><?xml version="1.0" encoding="utf-8"?>
<p:tagLst xmlns:a="http://schemas.openxmlformats.org/drawingml/2006/main" xmlns:r="http://schemas.openxmlformats.org/officeDocument/2006/relationships" xmlns:p="http://schemas.openxmlformats.org/presentationml/2006/main">
  <p:tag name="KSO_WM_UNIT_TABLE_BEAUTIFY" val="smartTable{58a06314-7e72-4d48-85a8-7253ed818c17}"/>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5534</Words>
  <Application>Microsoft Office PowerPoint</Application>
  <PresentationFormat>宽屏</PresentationFormat>
  <Paragraphs>765</Paragraphs>
  <Slides>81</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81</vt:i4>
      </vt:variant>
    </vt:vector>
  </HeadingPairs>
  <TitlesOfParts>
    <vt:vector size="91" baseType="lpstr">
      <vt:lpstr>Monotype Sorts</vt:lpstr>
      <vt:lpstr>宋体</vt:lpstr>
      <vt:lpstr>Arial</vt:lpstr>
      <vt:lpstr>Calibri</vt:lpstr>
      <vt:lpstr>Tahoma</vt:lpstr>
      <vt:lpstr>Times New Roman</vt:lpstr>
      <vt:lpstr>Wingdings</vt:lpstr>
      <vt:lpstr>Wingdings 2</vt:lpstr>
      <vt:lpstr>主题5</vt:lpstr>
      <vt:lpstr>位图图像</vt:lpstr>
      <vt:lpstr>第2章 进程的描述与控制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进程描述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学 习 进 步 ！</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maikal jason</cp:lastModifiedBy>
  <cp:revision>134</cp:revision>
  <cp:lastPrinted>2019-04-18T16:00:00Z</cp:lastPrinted>
  <dcterms:created xsi:type="dcterms:W3CDTF">2019-04-18T16:00:00Z</dcterms:created>
  <dcterms:modified xsi:type="dcterms:W3CDTF">2026-01-14T14:13:13Z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66716C171DE94365A815BDE38ED26E16</vt:lpwstr>
  </property>
  <property fmtid="{D5CDD505-2E9C-101B-9397-08002B2CF9AE}" pid="4" name="KSOProductBuildVer">
    <vt:lpwstr>2052-12.1.0.20305</vt:lpwstr>
  </property>
</Properties>
</file>